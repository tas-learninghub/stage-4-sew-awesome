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8b24dff1bd4b3c" /><Relationship Type="http://schemas.openxmlformats.org/officeDocument/2006/relationships/extended-properties" Target="/docProps/app.xml" Id="R2fbc3244cce245ea" /><Relationship Type="http://schemas.openxmlformats.org/officeDocument/2006/relationships/officeDocument" Target="/ppt/presentation.xml" Id="R279a113cfba44f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3603438c0943d6"/>
  </p:sldMasterIdLst>
  <p:notesMasterIdLst>
    <p:notesMasterId xmlns:r="http://schemas.openxmlformats.org/officeDocument/2006/relationships" r:id="R17e1383907ff4af2"/>
  </p:notesMasterIdLst>
  <p:sldIdLst>
    <p:sldId xmlns:r="http://schemas.openxmlformats.org/officeDocument/2006/relationships" id="256" r:id="Re26c47a9d0bd4986"/>
    <p:sldId xmlns:r="http://schemas.openxmlformats.org/officeDocument/2006/relationships" id="257" r:id="R175ce57e1ee54e9a"/>
    <p:sldId xmlns:r="http://schemas.openxmlformats.org/officeDocument/2006/relationships" id="258" r:id="R50d36ed5d56a4880"/>
    <p:sldId xmlns:r="http://schemas.openxmlformats.org/officeDocument/2006/relationships" id="259" r:id="Rb9fbb946b7c84945"/>
    <p:sldId xmlns:r="http://schemas.openxmlformats.org/officeDocument/2006/relationships" id="260" r:id="R1c632126c2da4e50"/>
    <p:sldId xmlns:r="http://schemas.openxmlformats.org/officeDocument/2006/relationships" id="261" r:id="R2492b425028c4caa"/>
    <p:sldId xmlns:r="http://schemas.openxmlformats.org/officeDocument/2006/relationships" id="262" r:id="R1247af9686f44786"/>
    <p:sldId xmlns:r="http://schemas.openxmlformats.org/officeDocument/2006/relationships" id="263" r:id="R8958a97bf81348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91e7cc16f8463c" /><Relationship Type="http://schemas.openxmlformats.org/officeDocument/2006/relationships/slideMaster" Target="/ppt/slideMasters/slideMaster1.xml" Id="R2d3603438c0943d6" /><Relationship Type="http://schemas.openxmlformats.org/officeDocument/2006/relationships/notesMaster" Target="/ppt/notesMasters/notesMaster1.xml" Id="R17e1383907ff4af2" /><Relationship Type="http://schemas.openxmlformats.org/officeDocument/2006/relationships/presProps" Target="/ppt/presProps.xml" Id="R24816b4324e149c8" /><Relationship Type="http://schemas.openxmlformats.org/officeDocument/2006/relationships/tableStyles" Target="/ppt/tableStyles.xml" Id="R84c3f4d6724846a5" /><Relationship Type="http://schemas.openxmlformats.org/officeDocument/2006/relationships/slide" Target="/ppt/slides/slide1.xml" Id="Re26c47a9d0bd4986" /><Relationship Type="http://schemas.openxmlformats.org/officeDocument/2006/relationships/slide" Target="/ppt/slides/slide2.xml" Id="R175ce57e1ee54e9a" /><Relationship Type="http://schemas.openxmlformats.org/officeDocument/2006/relationships/slide" Target="/ppt/slides/slide3.xml" Id="R50d36ed5d56a4880" /><Relationship Type="http://schemas.openxmlformats.org/officeDocument/2006/relationships/slide" Target="/ppt/slides/slide4.xml" Id="Rb9fbb946b7c84945" /><Relationship Type="http://schemas.openxmlformats.org/officeDocument/2006/relationships/slide" Target="/ppt/slides/slide5.xml" Id="R1c632126c2da4e50" /><Relationship Type="http://schemas.openxmlformats.org/officeDocument/2006/relationships/slide" Target="/ppt/slides/slide6.xml" Id="R2492b425028c4caa" /><Relationship Type="http://schemas.openxmlformats.org/officeDocument/2006/relationships/slide" Target="/ppt/slides/slide7.xml" Id="R1247af9686f44786" /><Relationship Type="http://schemas.openxmlformats.org/officeDocument/2006/relationships/slide" Target="/ppt/slides/slide8.xml" Id="R8958a97bf81348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d86cc46eb647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d892ba3b0e466f" /><Relationship Type="http://schemas.openxmlformats.org/officeDocument/2006/relationships/notesMaster" Target="/ppt/notesMasters/notesMaster1.xml" Id="Rff9df211339843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d5ef17253a4e63" /><Relationship Type="http://schemas.openxmlformats.org/officeDocument/2006/relationships/notesMaster" Target="/ppt/notesMasters/notesMaster1.xml" Id="Rfbd366065aaa49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dd228716304cbe" /><Relationship Type="http://schemas.openxmlformats.org/officeDocument/2006/relationships/notesMaster" Target="/ppt/notesMasters/notesMaster1.xml" Id="Rd5573295c09e4c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8a72b93a41468c" /><Relationship Type="http://schemas.openxmlformats.org/officeDocument/2006/relationships/notesMaster" Target="/ppt/notesMasters/notesMaster1.xml" Id="R6bf74971fbdd4f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facf41918441af" /><Relationship Type="http://schemas.openxmlformats.org/officeDocument/2006/relationships/notesMaster" Target="/ppt/notesMasters/notesMaster1.xml" Id="Re4a2342c597241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04896728514d38" /><Relationship Type="http://schemas.openxmlformats.org/officeDocument/2006/relationships/notesMaster" Target="/ppt/notesMasters/notesMaster1.xml" Id="Ra3de46081dfb47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07f392ddeb47af" /><Relationship Type="http://schemas.openxmlformats.org/officeDocument/2006/relationships/notesMaster" Target="/ppt/notesMasters/notesMaster1.xml" Id="Rb4208ceda55845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2e47142c644a6c" /><Relationship Type="http://schemas.openxmlformats.org/officeDocument/2006/relationships/notesMaster" Target="/ppt/notesMasters/notesMaster1.xml" Id="R01f390ffe6cb4c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module outcome: Compare fabric-decoration methods, plan an appliqué sample and use fair testing to improve stencilled or printed results before decorating the bag.</a:t>
            </a:r>
          </a:p>
          <a:p xmlns:a="http://schemas.openxmlformats.org/drawingml/2006/main">
            <a:r>
              <a:t>Invite one student example or prediction before showing the learning map.</a:t>
            </a:r>
          </a:p>
          <a:p xmlns:a="http://schemas.openxmlformats.org/drawingml/2006/main">
            <a:r>
              <a:t>Transition: the module has three connected ideas, and each will end in a decision or evidence action.</a:t>
            </a:r>
          </a:p>
          <a:p xmlns:a="http://schemas.openxmlformats.org/drawingml/2006/main">
            <a:r>
              <a:t>Likely misconceptions: The most colourful or detailed decoration is automatically the best design choice. | A first trial is evidence that a technique will work perfectly on the final product.</a:t>
            </a:r>
          </a:p>
          <a:p xmlns:a="http://schemas.openxmlformats.org/drawingml/2006/main">
            <a:r>
              <a:t>Teacher to confirm: approved decoration techniques, colour media and attachment products; technique-specific practical safety controls and drying or curing instructions; required sample evidence and the decoration method permitted for the final bag.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core-design-brief.</a:t>
            </a:r>
          </a:p>
          <a:p xmlns:a="http://schemas.openxmlformats.org/drawingml/2006/main">
            <a:r>
              <a:t>- Matched teaching visual: sew-awesome-hero.png; purpose-built, privacy-safe local asset.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three ideas as one learning pathway, not three disconnected topics.</a:t>
            </a:r>
          </a:p>
          <a:p xmlns:a="http://schemas.openxmlformats.org/drawingml/2006/main">
            <a:r>
              <a:t>Warm-up prompt: Students have practised safe textile-room routines and tested basic stitches and seams.</a:t>
            </a:r>
          </a:p>
          <a:p xmlns:a="http://schemas.openxmlformats.org/drawingml/2006/main">
            <a:r>
              <a:t>Ask one student to connect prior knowledge to the first section, then signpost the later evidence response.</a:t>
            </a:r>
          </a:p>
          <a:p xmlns:a="http://schemas.openxmlformats.org/drawingml/2006/main">
            <a:r>
              <a:t>Likely misconceptions: The most colourful or detailed decoration is automatically the best design choice. | A first trial is evidence that a technique will work perfectly on the final product.</a:t>
            </a:r>
          </a:p>
          <a:p xmlns:a="http://schemas.openxmlformats.org/drawingml/2006/main">
            <a:r>
              <a:t>Teacher to confirm: approved decoration techniques, colour media and attachment products; technique-specific practical safety controls and drying or curing instructions; required sample evidence and the decoration method permitted for the final bag.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core-design-brief.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Help students compare surface-decoration processes by purpose, appearance, material behaviour, durability and production demands before choosing a method.</a:t>
            </a:r>
          </a:p>
          <a:p xmlns:a="http://schemas.openxmlformats.org/drawingml/2006/main">
            <a:r>
              <a:t>Visual purpose: Support comparison of visible edge, surface and flexibility evidence across textile swatches and a plain control.</a:t>
            </a:r>
          </a:p>
          <a:p xmlns:a="http://schemas.openxmlformats.org/drawingml/2006/main">
            <a:r>
              <a:t>Explain only what is shown: A photo-style arrangement shows four textile swatches, including a plain control and three visibly different decorated or treated surfaces without asserting an unverified technique.</a:t>
            </a:r>
          </a:p>
          <a:p xmlns:a="http://schemas.openxmlformats.org/drawingml/2006/main">
            <a:r>
              <a:t>Student observation prompt: Compare the plain control with one other swatch. What changed at the edge, surface or flexibility?</a:t>
            </a:r>
          </a:p>
          <a:p xmlns:a="http://schemas.openxmlformats.org/drawingml/2006/main">
            <a:r>
              <a:t>Applied activity: Compare the plain control with one other swatch. Record edge, surface and flexibility evidence before deciding which visible result best suits repeated handling.</a:t>
            </a:r>
          </a:p>
          <a:p xmlns:a="http://schemas.openxmlformats.org/drawingml/2006/main">
            <a:r>
              <a:t>Transition: Students will turn a chosen decorative idea into a planned appliqué sample.</a:t>
            </a:r>
          </a:p>
          <a:p xmlns:a="http://schemas.openxmlformats.org/drawingml/2006/main">
            <a:r>
              <a:t>Likely misconceptions: The most colourful or detailed decoration is automatically the best design choice. | A first trial is evidence that a technique will work perfectly on the final product.</a:t>
            </a:r>
          </a:p>
          <a:p xmlns:a="http://schemas.openxmlformats.org/drawingml/2006/main">
            <a:r>
              <a:t>Teacher to confirm: approved decoration techniques, colour media and attachment products; technique-specific practical safety controls and drying or curing instructions; required sample evidence and the decoration method permitted for the final bag.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core-design-brief.</a:t>
            </a:r>
          </a:p>
          <a:p xmlns:a="http://schemas.openxmlformats.org/drawingml/2006/main">
            <a:r>
              <a:t>- Matched teaching visual: visual-m05-s1.png; purpose-built, privacy-safe local asset.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Guide students to plan an original appliqué sample through purpose, template, placement, compatible materials, approved attachment and evidence-based checking.</a:t>
            </a:r>
          </a:p>
          <a:p xmlns:a="http://schemas.openxmlformats.org/drawingml/2006/main">
            <a:r>
              <a:t>Visual purpose: Sequence the planning, preparation, securing, stitching and inspection of an appliqué sample.</a:t>
            </a:r>
          </a:p>
          <a:p xmlns:a="http://schemas.openxmlformats.org/drawingml/2006/main">
            <a:r>
              <a:t>Explain only what is shown: Hands build a simple appliqué sample from layered fabric shapes, temporary securing and controlled edge stitching.</a:t>
            </a:r>
          </a:p>
          <a:p xmlns:a="http://schemas.openxmlformats.org/drawingml/2006/main">
            <a:r>
              <a:t>Student observation prompt: Which decisions must be tested before the shape is attached to the final bag panel?</a:t>
            </a:r>
          </a:p>
          <a:p xmlns:a="http://schemas.openxmlformats.org/drawingml/2006/main">
            <a:r>
              <a:t>Applied activity: Use paper shapes to test an appliqué idea before any project material is cut.</a:t>
            </a:r>
          </a:p>
          <a:p xmlns:a="http://schemas.openxmlformats.org/drawingml/2006/main">
            <a:r>
              <a:t>Transition: Students will apply the same sample-test-improve habit to stencilling and printing.</a:t>
            </a:r>
          </a:p>
          <a:p xmlns:a="http://schemas.openxmlformats.org/drawingml/2006/main">
            <a:r>
              <a:t>Likely misconceptions: The most colourful or detailed decoration is automatically the best design choice. | A first trial is evidence that a technique will work perfectly on the final product.</a:t>
            </a:r>
          </a:p>
          <a:p xmlns:a="http://schemas.openxmlformats.org/drawingml/2006/main">
            <a:r>
              <a:t>Teacher to confirm: approved decoration techniques, colour media and attachment products; technique-specific practical safety controls and drying or curing instructions; required sample evidence and the decoration method permitted for the final bag.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core-design-brief.</a:t>
            </a:r>
          </a:p>
          <a:p xmlns:a="http://schemas.openxmlformats.org/drawingml/2006/main">
            <a:r>
              <a:t>- Matched teaching visual: visual-m05-s2.png; purpose-built, privacy-safe local asset.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Build students' ability to control variables, evaluate stencilled or printed fabric samples and record a precise improvement before final production.</a:t>
            </a:r>
          </a:p>
          <a:p xmlns:a="http://schemas.openxmlformats.org/drawingml/2006/main">
            <a:r>
              <a:t>Visual purpose: Connect observable sample evidence to a keep, change or retest decision.</a:t>
            </a:r>
          </a:p>
          <a:p xmlns:a="http://schemas.openxmlformats.org/drawingml/2006/main">
            <a:r>
              <a:t>Explain only what is shown: Several decoration samples are compared beside a blank evaluation grid and one selected sample.</a:t>
            </a:r>
          </a:p>
          <a:p xmlns:a="http://schemas.openxmlformats.org/drawingml/2006/main">
            <a:r>
              <a:t>Student observation prompt: Choose one observable feature. What decision does that evidence support, and what would you retest?</a:t>
            </a:r>
          </a:p>
          <a:p xmlns:a="http://schemas.openxmlformats.org/drawingml/2006/main">
            <a:r>
              <a:t>Applied activity: Evaluate two simulated fabric samples as if you had to decide what to retest before decorating the project piece.</a:t>
            </a:r>
          </a:p>
          <a:p xmlns:a="http://schemas.openxmlformats.org/drawingml/2006/main">
            <a:r>
              <a:t>Transition: Students will carry sample-based decision making into environmental and responsible-design choices.</a:t>
            </a:r>
          </a:p>
          <a:p xmlns:a="http://schemas.openxmlformats.org/drawingml/2006/main">
            <a:r>
              <a:t>Likely misconceptions: The most colourful or detailed decoration is automatically the best design choice. | A first trial is evidence that a technique will work perfectly on the final product.</a:t>
            </a:r>
          </a:p>
          <a:p xmlns:a="http://schemas.openxmlformats.org/drawingml/2006/main">
            <a:r>
              <a:t>Teacher to confirm: approved decoration techniques, colour media and attachment products; technique-specific practical safety controls and drying or curing instructions; required sample evidence and the decoration method permitted for the final bag.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core-design-brief.</a:t>
            </a:r>
          </a:p>
          <a:p xmlns:a="http://schemas.openxmlformats.org/drawingml/2006/main">
            <a:r>
              <a:t>- Matched teaching visual: visual-m05-s3.png; purpose-built, privacy-safe local asset.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 silent thinking before pair talk so every student retrieves independently.</a:t>
            </a:r>
          </a:p>
          <a:p xmlns:a="http://schemas.openxmlformats.org/drawingml/2006/main">
            <a:r>
              <a:t>Ask students to justify, not merely name, one response.</a:t>
            </a:r>
          </a:p>
          <a:p xmlns:a="http://schemas.openxmlformats.org/drawingml/2006/main">
            <a:r>
              <a:t>Listen for whether students connect each answer to its module idea and evidence.</a:t>
            </a:r>
          </a:p>
          <a:p xmlns:a="http://schemas.openxmlformats.org/drawingml/2006/main">
            <a:r>
              <a:t>Likely misconceptions: The most colourful or detailed decoration is automatically the best design choice. | A first trial is evidence that a technique will work perfectly on the final product.</a:t>
            </a:r>
          </a:p>
          <a:p xmlns:a="http://schemas.openxmlformats.org/drawingml/2006/main">
            <a:r>
              <a:t>Teacher to confirm: approved decoration techniques, colour media and attachment products; technique-specific practical safety controls and drying or curing instructions; required sample evidence and the decoration method permitted for the final bag.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core-design-brief.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response prompt aloud: Evaluate two stencilled or printed fabric samples and design a fair next trial for the stronger direction.</a:t>
            </a:r>
          </a:p>
          <a:p xmlns:a="http://schemas.openxmlformats.org/drawingml/2006/main">
            <a:r>
              <a:t>Model one sentence that selects evidence and explains its significance.</a:t>
            </a:r>
          </a:p>
          <a:p xmlns:a="http://schemas.openxmlformats.org/drawingml/2006/main">
            <a:r>
              <a:t>Success criteria: Builds the judgement from observable, traceable evidence rather than preference alone. | Proposes a focused and fair retest that responds to a named issue.</a:t>
            </a:r>
          </a:p>
          <a:p xmlns:a="http://schemas.openxmlformats.org/drawingml/2006/main">
            <a:r>
              <a:t>Likely misconceptions: The most colourful or detailed decoration is automatically the best design choice. | A first trial is evidence that a technique will work perfectly on the final product.</a:t>
            </a:r>
          </a:p>
          <a:p xmlns:a="http://schemas.openxmlformats.org/drawingml/2006/main">
            <a:r>
              <a:t>Teacher to confirm: approved decoration techniques, colour media and attachment products; technique-specific practical safety controls and drying or curing instructions; required sample evidence and the decoration method permitted for the final bag.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core-design-brief.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time to write all three exit statements before discussion.</a:t>
            </a:r>
          </a:p>
          <a:p xmlns:a="http://schemas.openxmlformats.org/drawingml/2006/main">
            <a:r>
              <a:t>Evidence destination: My folio, Module 5; this is formative browser-local evidence, not proof of formal submission.</a:t>
            </a:r>
          </a:p>
          <a:p xmlns:a="http://schemas.openxmlformats.org/drawingml/2006/main">
            <a:r>
              <a:t>Next learning link: Students will carry sample-based decision making into environmental and responsible-design choices.</a:t>
            </a:r>
          </a:p>
          <a:p xmlns:a="http://schemas.openxmlformats.org/drawingml/2006/main">
            <a:r>
              <a:t>Likely misconceptions: The most colourful or detailed decoration is automatically the best design choice. | A first trial is evidence that a technique will work perfectly on the final product.</a:t>
            </a:r>
          </a:p>
          <a:p xmlns:a="http://schemas.openxmlformats.org/drawingml/2006/main">
            <a:r>
              <a:t>Teacher to confirm: approved decoration techniques, colour media and attachment products; technique-specific practical safety controls and drying or curing instructions; required sample evidence and the decoration method permitted for the final bag.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core-design-brief.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03636b1a3741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0e1fd010b04400" /><Relationship Type="http://schemas.openxmlformats.org/officeDocument/2006/relationships/slideLayout" Target="/ppt/slideLayouts/slideLayout1.xml" Id="Rc5f16f68cef048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f16f68cef048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5f6201bf84652" /><Relationship Type="http://schemas.openxmlformats.org/officeDocument/2006/relationships/image" Target="/ppt/media/image.png" Id="Rb7bb3464e4704bc2" /><Relationship Type="http://schemas.openxmlformats.org/officeDocument/2006/relationships/notesSlide" Target="/ppt/notesSlides/notesSlide1.xml" Id="Re89cb5d93ab148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0d0c4a0fb4b4d" /><Relationship Type="http://schemas.openxmlformats.org/officeDocument/2006/relationships/notesSlide" Target="/ppt/notesSlides/notesSlide2.xml" Id="Rdc9ba20d3d9443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8916fe76e4cc6" /><Relationship Type="http://schemas.openxmlformats.org/officeDocument/2006/relationships/image" Target="/ppt/media/image2.png" Id="Racdf523053bc470e" /><Relationship Type="http://schemas.openxmlformats.org/officeDocument/2006/relationships/notesSlide" Target="/ppt/notesSlides/notesSlide3.xml" Id="R4f50e5b3c01d4a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403d149af4128" /><Relationship Type="http://schemas.openxmlformats.org/officeDocument/2006/relationships/image" Target="/ppt/media/image3.png" Id="R16cdae68c13d4338" /><Relationship Type="http://schemas.openxmlformats.org/officeDocument/2006/relationships/notesSlide" Target="/ppt/notesSlides/notesSlide4.xml" Id="Ree8930ff61534d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5f455f0f04e71" /><Relationship Type="http://schemas.openxmlformats.org/officeDocument/2006/relationships/image" Target="/ppt/media/image4.png" Id="R3e25383f14914287" /><Relationship Type="http://schemas.openxmlformats.org/officeDocument/2006/relationships/notesSlide" Target="/ppt/notesSlides/notesSlide5.xml" Id="R2a83c7354bd24c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7c2fcad2d45eb" /><Relationship Type="http://schemas.openxmlformats.org/officeDocument/2006/relationships/notesSlide" Target="/ppt/notesSlides/notesSlide6.xml" Id="R53cd116162ca4f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745bac4f644fb" /><Relationship Type="http://schemas.openxmlformats.org/officeDocument/2006/relationships/notesSlide" Target="/ppt/notesSlides/notesSlide7.xml" Id="Rf032c2d0e18948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e6109f8b44eae" /><Relationship Type="http://schemas.openxmlformats.org/officeDocument/2006/relationships/notesSlide" Target="/ppt/notesSlides/notesSlide8.xml" Id="R14bec94a966047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4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Teaching visual - Sew Awesome course identity: reusable textile carry items and sewing material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b3464e4704bc2"/>
          <a:srcRect xmlns:a="http://schemas.openxmlformats.org/drawingml/2006/main" l="26389" t="0" r="26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image-wash">
            <a:extLst xmlns:a="http://schemas.openxmlformats.org/drawingml/2006/main">
              <a:ext uri="{FF2B5EF4-FFF2-40B4-BE49-F238E27FC236}">
                <a16:creationId xmlns:a16="http://schemas.microsoft.com/office/drawing/2014/main" id="{24229A3D-AA81-4DFC-AC04-F43A8D72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8572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C4E4A"/>
              </a:gs>
              <a:gs pos="100000">
                <a:srgbClr val="0C4E4A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3624D76A-D394-4E34-94EB-206E40BC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6858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E797279B-B311-46D9-905F-E100C855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SEW AWESOME  •  MODULE 05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FC93168-1F55-42EE-BC6E-568B87B1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Fabric decoration</a:t>
            </a:r>
          </a:p>
        </p:txBody>
      </p:sp>
      <p:sp>
        <p:nvSpPr>
          <p:cNvPr id="6" name="outcome">
            <a:extLst xmlns:a="http://schemas.openxmlformats.org/drawingml/2006/main">
              <a:ext uri="{FF2B5EF4-FFF2-40B4-BE49-F238E27FC236}">
                <a16:creationId xmlns:a16="http://schemas.microsoft.com/office/drawing/2014/main" id="{A003FE35-2115-4D45-86FC-B75ACD59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590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EEF6F3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EEF6F3"/>
                </a:solidFill>
                <a:latin typeface="Aptos"/>
                <a:ea typeface="Aptos"/>
                <a:cs typeface="Aptos"/>
              </a:rPr>
              <a:t>Compare fabric-decoration methods, plan an appliqué sample and use fair testing to improve stencilled or printed results before decorating the bag.</a:t>
            </a:r>
          </a:p>
        </p:txBody>
      </p:sp>
      <p:sp>
        <p:nvSpPr>
          <p:cNvPr id="7" name="student-copy">
            <a:extLst xmlns:a="http://schemas.openxmlformats.org/drawingml/2006/main">
              <a:ext uri="{FF2B5EF4-FFF2-40B4-BE49-F238E27FC236}">
                <a16:creationId xmlns:a16="http://schemas.microsoft.com/office/drawing/2014/main" id="{F7B324D7-F175-48D9-899A-570A5433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388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8D6D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8D6D2"/>
                </a:solidFill>
                <a:latin typeface="Aptos"/>
                <a:ea typeface="Aptos"/>
                <a:cs typeface="Aptos"/>
              </a:rPr>
              <a:t>Classroom presentation  •  student copy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B5F4912A-3B5A-4FD3-BCC9-E6F9ACC3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057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8D6D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D6D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251497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ule">
            <a:extLst xmlns:a="http://schemas.openxmlformats.org/drawingml/2006/main">
              <a:ext uri="{FF2B5EF4-FFF2-40B4-BE49-F238E27FC236}">
                <a16:creationId xmlns:a16="http://schemas.microsoft.com/office/drawing/2014/main" id="{6B1797AA-1D41-4465-BE8F-3B1B8A43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83C92A30-0B44-480D-B4A6-50E6EEE6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49A3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49A34"/>
                </a:solidFill>
                <a:latin typeface="Aptos"/>
                <a:ea typeface="Aptos"/>
                <a:cs typeface="Aptos"/>
              </a:rPr>
              <a:t>TODAY’S LEARNING PATH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3A4CD4-9063-4E7C-84D5-428657C4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Three ideas build one stronger decision</a:t>
            </a:r>
          </a:p>
        </p:txBody>
      </p:sp>
      <p:sp>
        <p:nvSpPr>
          <p:cNvPr id="4" name="idea-number-1">
            <a:extLst xmlns:a="http://schemas.openxmlformats.org/drawingml/2006/main">
              <a:ext uri="{FF2B5EF4-FFF2-40B4-BE49-F238E27FC236}">
                <a16:creationId xmlns:a16="http://schemas.microsoft.com/office/drawing/2014/main" id="{905DE7AA-40B0-468A-8BD8-290DF7EE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6B6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6B6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idea-line-1">
            <a:extLst xmlns:a="http://schemas.openxmlformats.org/drawingml/2006/main">
              <a:ext uri="{FF2B5EF4-FFF2-40B4-BE49-F238E27FC236}">
                <a16:creationId xmlns:a16="http://schemas.microsoft.com/office/drawing/2014/main" id="{DA85C492-4906-474D-B5F1-4FA126D7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146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6B66"/>
            </a:solidFill>
            <a:prstDash val="solid"/>
          </a:ln>
        </p:spPr>
      </p:sp>
      <p:sp>
        <p:nvSpPr>
          <p:cNvPr id="6" name="idea-title-1">
            <a:extLst xmlns:a="http://schemas.openxmlformats.org/drawingml/2006/main">
              <a:ext uri="{FF2B5EF4-FFF2-40B4-BE49-F238E27FC236}">
                <a16:creationId xmlns:a16="http://schemas.microsoft.com/office/drawing/2014/main" id="{1E61E152-5C1A-404F-93AC-782C59A5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097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9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Comparing Fabric Decoration Techniques</a:t>
            </a:r>
          </a:p>
        </p:txBody>
      </p:sp>
      <p:sp>
        <p:nvSpPr>
          <p:cNvPr id="7" name="idea-number-2">
            <a:extLst xmlns:a="http://schemas.openxmlformats.org/drawingml/2006/main">
              <a:ext uri="{FF2B5EF4-FFF2-40B4-BE49-F238E27FC236}">
                <a16:creationId xmlns:a16="http://schemas.microsoft.com/office/drawing/2014/main" id="{0302DCD1-7715-4598-B453-6BBE2837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idea-line-2">
            <a:extLst xmlns:a="http://schemas.openxmlformats.org/drawingml/2006/main">
              <a:ext uri="{FF2B5EF4-FFF2-40B4-BE49-F238E27FC236}">
                <a16:creationId xmlns:a16="http://schemas.microsoft.com/office/drawing/2014/main" id="{D9A14767-2BB5-47D9-9BA1-3977F46C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814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F4C5A"/>
            </a:solidFill>
            <a:prstDash val="solid"/>
          </a:ln>
        </p:spPr>
      </p:sp>
      <p:sp>
        <p:nvSpPr>
          <p:cNvPr id="9" name="idea-title-2">
            <a:extLst xmlns:a="http://schemas.openxmlformats.org/drawingml/2006/main">
              <a:ext uri="{FF2B5EF4-FFF2-40B4-BE49-F238E27FC236}">
                <a16:creationId xmlns:a16="http://schemas.microsoft.com/office/drawing/2014/main" id="{1CAE31E1-82F1-4C41-8FDE-E7429A2D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765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9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Planning and Producing Appliqué</a:t>
            </a:r>
          </a:p>
        </p:txBody>
      </p:sp>
      <p:sp>
        <p:nvSpPr>
          <p:cNvPr id="10" name="idea-number-3">
            <a:extLst xmlns:a="http://schemas.openxmlformats.org/drawingml/2006/main">
              <a:ext uri="{FF2B5EF4-FFF2-40B4-BE49-F238E27FC236}">
                <a16:creationId xmlns:a16="http://schemas.microsoft.com/office/drawing/2014/main" id="{8D54E918-85B1-4600-B9FC-9E3F5D36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95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6B6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6B6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1" name="idea-line-3">
            <a:extLst xmlns:a="http://schemas.openxmlformats.org/drawingml/2006/main">
              <a:ext uri="{FF2B5EF4-FFF2-40B4-BE49-F238E27FC236}">
                <a16:creationId xmlns:a16="http://schemas.microsoft.com/office/drawing/2014/main" id="{E3923D03-1B46-4DA2-8B4A-A79A2FFD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6B66"/>
            </a:solidFill>
            <a:prstDash val="solid"/>
          </a:ln>
        </p:spPr>
      </p:sp>
      <p:sp>
        <p:nvSpPr>
          <p:cNvPr id="12" name="idea-title-3">
            <a:extLst xmlns:a="http://schemas.openxmlformats.org/drawingml/2006/main">
              <a:ext uri="{FF2B5EF4-FFF2-40B4-BE49-F238E27FC236}">
                <a16:creationId xmlns:a16="http://schemas.microsoft.com/office/drawing/2014/main" id="{D35F2797-CC72-48CC-9B7C-FAD262EF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433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9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Stencilling, Printing and Sample Evaluation</a:t>
            </a:r>
          </a:p>
        </p:txBody>
      </p:sp>
      <p:sp>
        <p:nvSpPr>
          <p:cNvPr id="13" name="warm-up">
            <a:extLst xmlns:a="http://schemas.openxmlformats.org/drawingml/2006/main">
              <a:ext uri="{FF2B5EF4-FFF2-40B4-BE49-F238E27FC236}">
                <a16:creationId xmlns:a16="http://schemas.microsoft.com/office/drawing/2014/main" id="{D1A9E39C-3C29-4DFC-80C5-B0F797AF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33550"/>
            <a:ext cx="4591050" cy="337185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0C4E4A"/>
          </a:solidFill>
          <a:ln xmlns:a="http://schemas.openxmlformats.org/drawingml/2006/main" w="9525">
            <a:solidFill>
              <a:srgbClr val="0C4E4A"/>
            </a:solidFill>
            <a:prstDash val="solid"/>
          </a:ln>
        </p:spPr>
      </p:sp>
      <p:sp>
        <p:nvSpPr>
          <p:cNvPr id="14" name="warm-up-label">
            <a:extLst xmlns:a="http://schemas.openxmlformats.org/drawingml/2006/main">
              <a:ext uri="{FF2B5EF4-FFF2-40B4-BE49-F238E27FC236}">
                <a16:creationId xmlns:a16="http://schemas.microsoft.com/office/drawing/2014/main" id="{2AE3869A-DB50-4D52-B8A2-103A1711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717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RETRIEVAL WARM-UP</a:t>
            </a:r>
          </a:p>
        </p:txBody>
      </p:sp>
      <p:sp>
        <p:nvSpPr>
          <p:cNvPr id="15" name="warm-up-question">
            <a:extLst xmlns:a="http://schemas.openxmlformats.org/drawingml/2006/main">
              <a:ext uri="{FF2B5EF4-FFF2-40B4-BE49-F238E27FC236}">
                <a16:creationId xmlns:a16="http://schemas.microsoft.com/office/drawing/2014/main" id="{2583D4B6-8868-4105-BB06-4D5C3ACF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4795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Students have practised safe textile-room routines and tested basic stitches and seams.</a:t>
            </a:r>
          </a:p>
        </p:txBody>
      </p:sp>
      <p:sp>
        <p:nvSpPr>
          <p:cNvPr id="16" name="warm-up-instruction">
            <a:extLst xmlns:a="http://schemas.openxmlformats.org/drawingml/2006/main">
              <a:ext uri="{FF2B5EF4-FFF2-40B4-BE49-F238E27FC236}">
                <a16:creationId xmlns:a16="http://schemas.microsoft.com/office/drawing/2014/main" id="{482E61AB-EF9C-404E-BA3B-C90D8EED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4340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EF6F3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EEF6F3"/>
                </a:solidFill>
                <a:latin typeface="Aptos"/>
                <a:ea typeface="Aptos"/>
                <a:cs typeface="Aptos"/>
              </a:rPr>
              <a:t>Think silently. Name one useful idea. Be ready to explain why it matters.</a:t>
            </a:r>
          </a:p>
        </p:txBody>
      </p:sp>
      <p:sp>
        <p:nvSpPr>
          <p:cNvPr id="17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CE6D2612-1E53-403B-89F1-654F8DD5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SEW AWESOME  •  MODULE 05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C3D8B2B-EBA1-4E9D-9D62-42F10F9C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057386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ule">
            <a:extLst xmlns:a="http://schemas.openxmlformats.org/drawingml/2006/main">
              <a:ext uri="{FF2B5EF4-FFF2-40B4-BE49-F238E27FC236}">
                <a16:creationId xmlns:a16="http://schemas.microsoft.com/office/drawing/2014/main" id="{FCA860D9-206E-42C7-AEA2-E8305A6F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D3F6D51C-FA7A-4C02-AFD5-F25CA86D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6B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6B66"/>
                </a:solidFill>
                <a:latin typeface="Aptos"/>
                <a:ea typeface="Aptos"/>
                <a:cs typeface="Aptos"/>
              </a:rPr>
              <a:t>1. COMPARING FABRIC DECORATION TECHNIQUES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9993F3-6969-4803-BC16-04682554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Sample first, decorate while flat</a:t>
            </a:r>
          </a:p>
        </p:txBody>
      </p:sp>
      <p:pic>
        <p:nvPicPr>
          <p:cNvPr id="17" name="Teaching visual - Four textile swatches, including one plain control, show different visible edge, surface and flexibility clue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f523053bc470e"/>
          <a:stretch xmlns:a="http://schemas.openxmlformats.org/drawingml/2006/main"/>
        </p:blipFill>
        <p:spPr>
          <a:xfrm xmlns:a="http://schemas.openxmlformats.org/drawingml/2006/main">
            <a:off x="6657975" y="1524000"/>
            <a:ext cx="4953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5" name="theory">
            <a:extLst xmlns:a="http://schemas.openxmlformats.org/drawingml/2006/main">
              <a:ext uri="{FF2B5EF4-FFF2-40B4-BE49-F238E27FC236}">
                <a16:creationId xmlns:a16="http://schemas.microsoft.com/office/drawing/2014/main" id="{A198DE0D-8AD3-49C4-A3E8-DCE87F2C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638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50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0302E"/>
                </a:solidFill>
                <a:latin typeface="Aptos"/>
                <a:ea typeface="Aptos"/>
                <a:cs typeface="Aptos"/>
              </a:rPr>
              <a:t>Fabric decoration should do more than fill an empty space. A well-chosen technique communicates an idea while allowing the carry item to keep doing its job. Surface decoration changes the appearance of a fabric without changing the main shape of the product. A designer compares techniques against the intended user and use.</a:t>
            </a:r>
          </a:p>
        </p:txBody>
      </p:sp>
      <p:sp>
        <p:nvSpPr>
          <p:cNvPr id="6" name="notice">
            <a:extLst xmlns:a="http://schemas.openxmlformats.org/drawingml/2006/main">
              <a:ext uri="{FF2B5EF4-FFF2-40B4-BE49-F238E27FC236}">
                <a16:creationId xmlns:a16="http://schemas.microsoft.com/office/drawing/2014/main" id="{635AC87E-1861-47E0-9458-D80CC879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56388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5F1"/>
          </a:solidFill>
          <a:ln xmlns:a="http://schemas.openxmlformats.org/drawingml/2006/main" w="9525">
            <a:solidFill>
              <a:srgbClr val="B9CEC7"/>
            </a:solidFill>
            <a:prstDash val="solid"/>
          </a:ln>
        </p:spPr>
      </p:sp>
      <p:sp>
        <p:nvSpPr>
          <p:cNvPr id="7" name="notice-label">
            <a:extLst xmlns:a="http://schemas.openxmlformats.org/drawingml/2006/main">
              <a:ext uri="{FF2B5EF4-FFF2-40B4-BE49-F238E27FC236}">
                <a16:creationId xmlns:a16="http://schemas.microsoft.com/office/drawing/2014/main" id="{70395A30-398B-4C26-A035-BD18C82F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LOOK AT THE VISUAL</a:t>
            </a:r>
          </a:p>
        </p:txBody>
      </p:sp>
      <p:sp>
        <p:nvSpPr>
          <p:cNvPr id="8" name="notice-text">
            <a:extLst xmlns:a="http://schemas.openxmlformats.org/drawingml/2006/main">
              <a:ext uri="{FF2B5EF4-FFF2-40B4-BE49-F238E27FC236}">
                <a16:creationId xmlns:a16="http://schemas.microsoft.com/office/drawing/2014/main" id="{35E57068-ADDA-4A30-89AB-A7DB3991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525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Compare the plain control with one other swatch. What changed at the edge, surface or flexibility?</a:t>
            </a:r>
          </a:p>
        </p:txBody>
      </p:sp>
      <p:sp>
        <p:nvSpPr>
          <p:cNvPr id="9" name="prompt-band">
            <a:extLst xmlns:a="http://schemas.openxmlformats.org/drawingml/2006/main">
              <a:ext uri="{FF2B5EF4-FFF2-40B4-BE49-F238E27FC236}">
                <a16:creationId xmlns:a16="http://schemas.microsoft.com/office/drawing/2014/main" id="{85FD226A-C405-4452-951C-147ECF8B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1125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E2E6"/>
          </a:solidFill>
          <a:ln xmlns:a="http://schemas.openxmlformats.org/drawingml/2006/main" w="9525">
            <a:solidFill>
              <a:srgbClr val="EBC2C9"/>
            </a:solidFill>
            <a:prstDash val="solid"/>
          </a:ln>
        </p:spPr>
      </p:sp>
      <p:sp>
        <p:nvSpPr>
          <p:cNvPr id="10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74C225F3-16C2-43A8-843D-B3E6AE71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APPLY</a:t>
            </a:r>
          </a:p>
        </p:txBody>
      </p:sp>
      <p:sp>
        <p:nvSpPr>
          <p:cNvPr id="11" name="prompt-text">
            <a:extLst xmlns:a="http://schemas.openxmlformats.org/drawingml/2006/main">
              <a:ext uri="{FF2B5EF4-FFF2-40B4-BE49-F238E27FC236}">
                <a16:creationId xmlns:a16="http://schemas.microsoft.com/office/drawing/2014/main" id="{5FF51766-9E4C-49D3-AE4F-743CDA02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816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Compare the plain control with one other swatch. Record edge, surface and flexibility evidence before deciding which visible result best suits repeated handling.</a:t>
            </a:r>
          </a:p>
        </p:txBody>
      </p:sp>
      <p:sp>
        <p:nvSpPr>
          <p:cNvPr id="12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FF09BBCD-6C3C-4091-86F7-528B9B0B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SEW AWESOME  •  MODULE 05</a:t>
            </a:r>
          </a:p>
        </p:txBody>
      </p:sp>
      <p:sp>
        <p:nvSpPr>
          <p:cNvPr id="1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9011FAA-27B6-4698-B9D9-AA946C87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580648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ule">
            <a:extLst xmlns:a="http://schemas.openxmlformats.org/drawingml/2006/main">
              <a:ext uri="{FF2B5EF4-FFF2-40B4-BE49-F238E27FC236}">
                <a16:creationId xmlns:a16="http://schemas.microsoft.com/office/drawing/2014/main" id="{C584CA39-9C63-41CC-94D4-F2FE6C24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92BE6DA6-B75C-4AC5-A877-634DDA5F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2. PLANNING AND PRODUCING APPLIQUÉ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AD327E-83E1-450E-93F5-CC912662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Do not guess the attachment process</a:t>
            </a:r>
          </a:p>
        </p:txBody>
      </p:sp>
      <p:pic>
        <p:nvPicPr>
          <p:cNvPr id="17" name="Teaching visual - Hands build a simple appliqué sample from layered fabric shapes, temporary securing and controlled edge stitching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cdae68c13d4338"/>
          <a:stretch xmlns:a="http://schemas.openxmlformats.org/drawingml/2006/main"/>
        </p:blipFill>
        <p:spPr>
          <a:xfrm xmlns:a="http://schemas.openxmlformats.org/drawingml/2006/main">
            <a:off x="533400" y="1698625"/>
            <a:ext cx="5048250" cy="336550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5" name="theory">
            <a:extLst xmlns:a="http://schemas.openxmlformats.org/drawingml/2006/main">
              <a:ext uri="{FF2B5EF4-FFF2-40B4-BE49-F238E27FC236}">
                <a16:creationId xmlns:a16="http://schemas.microsoft.com/office/drawing/2014/main" id="{2047F777-B566-4BB5-B18A-7EB1F011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62100"/>
            <a:ext cx="5638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50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0302E"/>
                </a:solidFill>
                <a:latin typeface="Aptos"/>
                <a:ea typeface="Aptos"/>
                <a:cs typeface="Aptos"/>
              </a:rPr>
              <a:t>Appliqué turns a drawn shape into a fabric layer. Planning the shape, scale and placement before attachment helps the finished decoration remain clear, secure and useful. Begin with a communication purpose, not a random shape. Placement affects both appearance and production.</a:t>
            </a:r>
          </a:p>
        </p:txBody>
      </p:sp>
      <p:sp>
        <p:nvSpPr>
          <p:cNvPr id="6" name="notice">
            <a:extLst xmlns:a="http://schemas.openxmlformats.org/drawingml/2006/main">
              <a:ext uri="{FF2B5EF4-FFF2-40B4-BE49-F238E27FC236}">
                <a16:creationId xmlns:a16="http://schemas.microsoft.com/office/drawing/2014/main" id="{2A10656C-3AD4-454E-87C1-38968975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56388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5F1"/>
          </a:solidFill>
          <a:ln xmlns:a="http://schemas.openxmlformats.org/drawingml/2006/main" w="9525">
            <a:solidFill>
              <a:srgbClr val="B9CEC7"/>
            </a:solidFill>
            <a:prstDash val="solid"/>
          </a:ln>
        </p:spPr>
      </p:sp>
      <p:sp>
        <p:nvSpPr>
          <p:cNvPr id="7" name="notice-label">
            <a:extLst xmlns:a="http://schemas.openxmlformats.org/drawingml/2006/main">
              <a:ext uri="{FF2B5EF4-FFF2-40B4-BE49-F238E27FC236}">
                <a16:creationId xmlns:a16="http://schemas.microsoft.com/office/drawing/2014/main" id="{C9D511F7-3D33-46A6-999E-23E7CDC7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LOOK AT THE VISUAL</a:t>
            </a:r>
          </a:p>
        </p:txBody>
      </p:sp>
      <p:sp>
        <p:nvSpPr>
          <p:cNvPr id="8" name="notice-text">
            <a:extLst xmlns:a="http://schemas.openxmlformats.org/drawingml/2006/main">
              <a:ext uri="{FF2B5EF4-FFF2-40B4-BE49-F238E27FC236}">
                <a16:creationId xmlns:a16="http://schemas.microsoft.com/office/drawing/2014/main" id="{BF9677A9-27A6-4A34-9A98-4AB6D0E2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76750"/>
            <a:ext cx="525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Which decisions must be tested before the shape is attached to the final bag panel?</a:t>
            </a:r>
          </a:p>
        </p:txBody>
      </p:sp>
      <p:sp>
        <p:nvSpPr>
          <p:cNvPr id="9" name="prompt-band">
            <a:extLst xmlns:a="http://schemas.openxmlformats.org/drawingml/2006/main">
              <a:ext uri="{FF2B5EF4-FFF2-40B4-BE49-F238E27FC236}">
                <a16:creationId xmlns:a16="http://schemas.microsoft.com/office/drawing/2014/main" id="{86D3CE18-188F-4B8C-B7A1-04626921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1125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E2E6"/>
          </a:solidFill>
          <a:ln xmlns:a="http://schemas.openxmlformats.org/drawingml/2006/main" w="9525">
            <a:solidFill>
              <a:srgbClr val="EBC2C9"/>
            </a:solidFill>
            <a:prstDash val="solid"/>
          </a:ln>
        </p:spPr>
      </p:sp>
      <p:sp>
        <p:nvSpPr>
          <p:cNvPr id="10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9AAF43E9-7E76-4579-856A-1527085D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APPLY</a:t>
            </a:r>
          </a:p>
        </p:txBody>
      </p:sp>
      <p:sp>
        <p:nvSpPr>
          <p:cNvPr id="11" name="prompt-text">
            <a:extLst xmlns:a="http://schemas.openxmlformats.org/drawingml/2006/main">
              <a:ext uri="{FF2B5EF4-FFF2-40B4-BE49-F238E27FC236}">
                <a16:creationId xmlns:a16="http://schemas.microsoft.com/office/drawing/2014/main" id="{D75D7DC9-C4CB-4ACF-BF70-5EAFA0F7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816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Use paper shapes to test an appliqué idea before any project material is cut.</a:t>
            </a:r>
          </a:p>
        </p:txBody>
      </p:sp>
      <p:sp>
        <p:nvSpPr>
          <p:cNvPr id="12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5095A3DE-7FA4-46A8-929B-0D64EDE3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SEW AWESOME  •  MODULE 05</a:t>
            </a:r>
          </a:p>
        </p:txBody>
      </p:sp>
      <p:sp>
        <p:nvSpPr>
          <p:cNvPr id="1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A6CD15F-1A27-4EE6-9478-123DA229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47821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ule">
            <a:extLst xmlns:a="http://schemas.openxmlformats.org/drawingml/2006/main">
              <a:ext uri="{FF2B5EF4-FFF2-40B4-BE49-F238E27FC236}">
                <a16:creationId xmlns:a16="http://schemas.microsoft.com/office/drawing/2014/main" id="{204B9D62-9A3A-416F-8F92-FBC385D6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CB9D0605-DE91-4560-B01D-08FBF5CB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6B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6B66"/>
                </a:solidFill>
                <a:latin typeface="Aptos"/>
                <a:ea typeface="Aptos"/>
                <a:cs typeface="Aptos"/>
              </a:rPr>
              <a:t>3. STENCILLING, PRINTING AND SAMPLE EVALUATION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1C938A-0EBA-41A6-8B3A-506AE057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Approved media only</a:t>
            </a:r>
          </a:p>
        </p:txBody>
      </p:sp>
      <p:pic>
        <p:nvPicPr>
          <p:cNvPr id="17" name="Teaching visual - Several decoration samples are compared beside a blank evaluation grid and one selected sampl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25383f14914287"/>
          <a:stretch xmlns:a="http://schemas.openxmlformats.org/drawingml/2006/main"/>
        </p:blipFill>
        <p:spPr>
          <a:xfrm xmlns:a="http://schemas.openxmlformats.org/drawingml/2006/main">
            <a:off x="6610350" y="1698625"/>
            <a:ext cx="5048250" cy="336550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5" name="theory">
            <a:extLst xmlns:a="http://schemas.openxmlformats.org/drawingml/2006/main">
              <a:ext uri="{FF2B5EF4-FFF2-40B4-BE49-F238E27FC236}">
                <a16:creationId xmlns:a16="http://schemas.microsoft.com/office/drawing/2014/main" id="{66B257DB-F6AE-4E8C-B39E-D4DDFD47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638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50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0302E"/>
                </a:solidFill>
                <a:latin typeface="Aptos"/>
                <a:ea typeface="Aptos"/>
                <a:cs typeface="Aptos"/>
              </a:rPr>
              <a:t>Stencilling and printing can create clear colour, repeated forms and original messages, but a successful-looking first impression is not enough. Designers test how the process behaves on the intended type of fabric and evaluate the evidence. A stencil controls an image with cut openings and blocked areas. Control comes from managing variables.</a:t>
            </a:r>
          </a:p>
        </p:txBody>
      </p:sp>
      <p:sp>
        <p:nvSpPr>
          <p:cNvPr id="6" name="notice">
            <a:extLst xmlns:a="http://schemas.openxmlformats.org/drawingml/2006/main">
              <a:ext uri="{FF2B5EF4-FFF2-40B4-BE49-F238E27FC236}">
                <a16:creationId xmlns:a16="http://schemas.microsoft.com/office/drawing/2014/main" id="{5FA70975-9880-40E3-B257-105B8526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56388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5F1"/>
          </a:solidFill>
          <a:ln xmlns:a="http://schemas.openxmlformats.org/drawingml/2006/main" w="9525">
            <a:solidFill>
              <a:srgbClr val="B9CEC7"/>
            </a:solidFill>
            <a:prstDash val="solid"/>
          </a:ln>
        </p:spPr>
      </p:sp>
      <p:sp>
        <p:nvSpPr>
          <p:cNvPr id="7" name="notice-label">
            <a:extLst xmlns:a="http://schemas.openxmlformats.org/drawingml/2006/main">
              <a:ext uri="{FF2B5EF4-FFF2-40B4-BE49-F238E27FC236}">
                <a16:creationId xmlns:a16="http://schemas.microsoft.com/office/drawing/2014/main" id="{66844B6C-E6B7-4BCD-9545-74BD840B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LOOK AT THE VISUAL</a:t>
            </a:r>
          </a:p>
        </p:txBody>
      </p:sp>
      <p:sp>
        <p:nvSpPr>
          <p:cNvPr id="8" name="notice-text">
            <a:extLst xmlns:a="http://schemas.openxmlformats.org/drawingml/2006/main">
              <a:ext uri="{FF2B5EF4-FFF2-40B4-BE49-F238E27FC236}">
                <a16:creationId xmlns:a16="http://schemas.microsoft.com/office/drawing/2014/main" id="{89F83E29-CFEA-4946-A8DF-71BC7BBB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525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Choose one observable feature. What decision does that evidence support, and what would you retest?</a:t>
            </a:r>
          </a:p>
        </p:txBody>
      </p:sp>
      <p:sp>
        <p:nvSpPr>
          <p:cNvPr id="9" name="prompt-band">
            <a:extLst xmlns:a="http://schemas.openxmlformats.org/drawingml/2006/main">
              <a:ext uri="{FF2B5EF4-FFF2-40B4-BE49-F238E27FC236}">
                <a16:creationId xmlns:a16="http://schemas.microsoft.com/office/drawing/2014/main" id="{C2FF30F0-0660-4CDC-ACF7-62FC1939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1125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E2E6"/>
          </a:solidFill>
          <a:ln xmlns:a="http://schemas.openxmlformats.org/drawingml/2006/main" w="9525">
            <a:solidFill>
              <a:srgbClr val="EBC2C9"/>
            </a:solidFill>
            <a:prstDash val="solid"/>
          </a:ln>
        </p:spPr>
      </p:sp>
      <p:sp>
        <p:nvSpPr>
          <p:cNvPr id="10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7C2BC522-2283-42D9-8360-BCBAA13F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APPLY</a:t>
            </a:r>
          </a:p>
        </p:txBody>
      </p:sp>
      <p:sp>
        <p:nvSpPr>
          <p:cNvPr id="11" name="prompt-text">
            <a:extLst xmlns:a="http://schemas.openxmlformats.org/drawingml/2006/main">
              <a:ext uri="{FF2B5EF4-FFF2-40B4-BE49-F238E27FC236}">
                <a16:creationId xmlns:a16="http://schemas.microsoft.com/office/drawing/2014/main" id="{19C7E8B7-D3FF-45AA-B840-DB002526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816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Evaluate two simulated fabric samples as if you had to decide what to retest before decorating the project piece.</a:t>
            </a:r>
          </a:p>
        </p:txBody>
      </p:sp>
      <p:sp>
        <p:nvSpPr>
          <p:cNvPr id="12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9B651451-2320-463C-A88C-1BA6DD6E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SEW AWESOME  •  MODULE 05</a:t>
            </a:r>
          </a:p>
        </p:txBody>
      </p:sp>
      <p:sp>
        <p:nvSpPr>
          <p:cNvPr id="1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B714AE2-2947-472E-885D-36E36BFD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213572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4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ule">
            <a:extLst xmlns:a="http://schemas.openxmlformats.org/drawingml/2006/main">
              <a:ext uri="{FF2B5EF4-FFF2-40B4-BE49-F238E27FC236}">
                <a16:creationId xmlns:a16="http://schemas.microsoft.com/office/drawing/2014/main" id="{406484C9-5B18-4A16-816E-38D6819E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2934238A-5C6E-49E2-A1D4-479022F0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CHECK YOUR UNDERSTANDING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6EC59C-C3EB-44E4-9ACA-C306E98C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Stop. Think. Explain.</a:t>
            </a:r>
          </a:p>
        </p:txBody>
      </p:sp>
      <p:sp>
        <p:nvSpPr>
          <p:cNvPr id="4" name="instruction">
            <a:extLst xmlns:a="http://schemas.openxmlformats.org/drawingml/2006/main">
              <a:ext uri="{FF2B5EF4-FFF2-40B4-BE49-F238E27FC236}">
                <a16:creationId xmlns:a16="http://schemas.microsoft.com/office/drawing/2014/main" id="{8D3421FC-1275-470F-BDB0-42ED2AF1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C8D6D2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C8D6D2"/>
                </a:solidFill>
                <a:latin typeface="Aptos"/>
                <a:ea typeface="Aptos"/>
                <a:cs typeface="Aptos"/>
              </a:rPr>
              <a:t>Answer silently first. Then justify one answer with a partner.</a:t>
            </a:r>
          </a:p>
        </p:txBody>
      </p:sp>
      <p:sp>
        <p:nvSpPr>
          <p:cNvPr id="5" name="check-number-1">
            <a:extLst xmlns:a="http://schemas.openxmlformats.org/drawingml/2006/main">
              <a:ext uri="{FF2B5EF4-FFF2-40B4-BE49-F238E27FC236}">
                <a16:creationId xmlns:a16="http://schemas.microsoft.com/office/drawing/2014/main" id="{8953CA90-C218-4A62-9151-F4629F56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check-line-1">
            <a:extLst xmlns:a="http://schemas.openxmlformats.org/drawingml/2006/main">
              <a:ext uri="{FF2B5EF4-FFF2-40B4-BE49-F238E27FC236}">
                <a16:creationId xmlns:a16="http://schemas.microsoft.com/office/drawing/2014/main" id="{A6BD7FC6-296A-4B9E-9650-FD0A301B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38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807A"/>
            </a:solidFill>
            <a:prstDash val="solid"/>
          </a:ln>
        </p:spPr>
      </p:sp>
      <p:sp>
        <p:nvSpPr>
          <p:cNvPr id="7" name="check-1">
            <a:extLst xmlns:a="http://schemas.openxmlformats.org/drawingml/2006/main">
              <a:ext uri="{FF2B5EF4-FFF2-40B4-BE49-F238E27FC236}">
                <a16:creationId xmlns:a16="http://schemas.microsoft.com/office/drawing/2014/main" id="{18881810-EDEC-4F3B-9777-FA329145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4312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Which description best explains surface decoration?</a:t>
            </a:r>
          </a:p>
        </p:txBody>
      </p:sp>
      <p:sp>
        <p:nvSpPr>
          <p:cNvPr id="8" name="check-number-2">
            <a:extLst xmlns:a="http://schemas.openxmlformats.org/drawingml/2006/main">
              <a:ext uri="{FF2B5EF4-FFF2-40B4-BE49-F238E27FC236}">
                <a16:creationId xmlns:a16="http://schemas.microsoft.com/office/drawing/2014/main" id="{1AB9E7F8-DA86-45D3-9727-B2D92015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check-line-2">
            <a:extLst xmlns:a="http://schemas.openxmlformats.org/drawingml/2006/main">
              <a:ext uri="{FF2B5EF4-FFF2-40B4-BE49-F238E27FC236}">
                <a16:creationId xmlns:a16="http://schemas.microsoft.com/office/drawing/2014/main" id="{2315C447-EBAC-48FB-9FC9-4C484CC9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099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807A"/>
            </a:solidFill>
            <a:prstDash val="solid"/>
          </a:ln>
        </p:spPr>
      </p:sp>
      <p:sp>
        <p:nvSpPr>
          <p:cNvPr id="10" name="check-2">
            <a:extLst xmlns:a="http://schemas.openxmlformats.org/drawingml/2006/main">
              <a:ext uri="{FF2B5EF4-FFF2-40B4-BE49-F238E27FC236}">
                <a16:creationId xmlns:a16="http://schemas.microsoft.com/office/drawing/2014/main" id="{7425AC3D-C4FB-45D7-8EC0-466CDF83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1467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should guide the first decision in an appliqué plan?</a:t>
            </a:r>
          </a:p>
        </p:txBody>
      </p:sp>
      <p:sp>
        <p:nvSpPr>
          <p:cNvPr id="11" name="check-number-3">
            <a:extLst xmlns:a="http://schemas.openxmlformats.org/drawingml/2006/main">
              <a:ext uri="{FF2B5EF4-FFF2-40B4-BE49-F238E27FC236}">
                <a16:creationId xmlns:a16="http://schemas.microsoft.com/office/drawing/2014/main" id="{277EECFA-2782-4E4F-9DF5-80C630C2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check-line-3">
            <a:extLst xmlns:a="http://schemas.openxmlformats.org/drawingml/2006/main">
              <a:ext uri="{FF2B5EF4-FFF2-40B4-BE49-F238E27FC236}">
                <a16:creationId xmlns:a16="http://schemas.microsoft.com/office/drawing/2014/main" id="{F3247863-366C-41E0-AE3A-204955B1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807A"/>
            </a:solidFill>
            <a:prstDash val="solid"/>
          </a:ln>
        </p:spPr>
      </p:sp>
      <p:sp>
        <p:nvSpPr>
          <p:cNvPr id="13" name="check-3">
            <a:extLst xmlns:a="http://schemas.openxmlformats.org/drawingml/2006/main">
              <a:ext uri="{FF2B5EF4-FFF2-40B4-BE49-F238E27FC236}">
                <a16:creationId xmlns:a16="http://schemas.microsoft.com/office/drawing/2014/main" id="{92305977-3EEE-4E6B-AE70-28AEBEBA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8622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Which statement correctly compares stencilling and printing?</a:t>
            </a:r>
          </a:p>
        </p:txBody>
      </p:sp>
      <p:sp>
        <p:nvSpPr>
          <p:cNvPr id="14" name="check-number-4">
            <a:extLst xmlns:a="http://schemas.openxmlformats.org/drawingml/2006/main">
              <a:ext uri="{FF2B5EF4-FFF2-40B4-BE49-F238E27FC236}">
                <a16:creationId xmlns:a16="http://schemas.microsoft.com/office/drawing/2014/main" id="{3075A1C8-C4EB-4E6D-9E03-B248EA63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check-line-4">
            <a:extLst xmlns:a="http://schemas.openxmlformats.org/drawingml/2006/main">
              <a:ext uri="{FF2B5EF4-FFF2-40B4-BE49-F238E27FC236}">
                <a16:creationId xmlns:a16="http://schemas.microsoft.com/office/drawing/2014/main" id="{D5E16A0C-A559-41A4-ADE4-ECC26EC6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530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807A"/>
            </a:solidFill>
            <a:prstDash val="solid"/>
          </a:ln>
        </p:spPr>
      </p:sp>
      <p:sp>
        <p:nvSpPr>
          <p:cNvPr id="16" name="check-4">
            <a:extLst xmlns:a="http://schemas.openxmlformats.org/drawingml/2006/main">
              <a:ext uri="{FF2B5EF4-FFF2-40B4-BE49-F238E27FC236}">
                <a16:creationId xmlns:a16="http://schemas.microsoft.com/office/drawing/2014/main" id="{6E019843-6606-4CA9-B027-A89DF672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5777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Which idea from this module most changes your next design or production decision?</a:t>
            </a:r>
          </a:p>
        </p:txBody>
      </p:sp>
      <p:sp>
        <p:nvSpPr>
          <p:cNvPr id="17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A83201CE-E82F-4A20-9B69-82A8AA9B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8D6D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D6D2"/>
                </a:solidFill>
                <a:latin typeface="Aptos"/>
                <a:ea typeface="Aptos"/>
                <a:cs typeface="Aptos"/>
              </a:rPr>
              <a:t>SEW AWESOME  •  MODULE 05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E513539-4DF2-4B6F-9E6C-47DAB4AF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D6D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D6D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810073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ule">
            <a:extLst xmlns:a="http://schemas.openxmlformats.org/drawingml/2006/main">
              <a:ext uri="{FF2B5EF4-FFF2-40B4-BE49-F238E27FC236}">
                <a16:creationId xmlns:a16="http://schemas.microsoft.com/office/drawing/2014/main" id="{DBC2058E-ED92-49B8-A594-986E9AB2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AF326450-3F9F-47EC-AAB1-B983BC25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MODEL A LONGER RESPONSE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63C652-F72B-446E-9FFA-9851921B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Read → Select → Explain → Check</a:t>
            </a:r>
          </a:p>
        </p:txBody>
      </p:sp>
      <p:sp>
        <p:nvSpPr>
          <p:cNvPr id="4" name="question-surface">
            <a:extLst xmlns:a="http://schemas.openxmlformats.org/drawingml/2006/main">
              <a:ext uri="{FF2B5EF4-FFF2-40B4-BE49-F238E27FC236}">
                <a16:creationId xmlns:a16="http://schemas.microsoft.com/office/drawing/2014/main" id="{4112C622-F456-4F83-ACBF-80C06FBB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11252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C"/>
            </a:solidFill>
            <a:prstDash val="solid"/>
          </a:ln>
        </p:spPr>
      </p:sp>
      <p:sp>
        <p:nvSpPr>
          <p:cNvPr id="5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5A786D88-C66F-4A5B-A5C8-7C7B98B5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THE QUESTION</a:t>
            </a:r>
          </a:p>
        </p:txBody>
      </p:sp>
      <p:sp>
        <p:nvSpPr>
          <p:cNvPr id="6" name="question">
            <a:extLst xmlns:a="http://schemas.openxmlformats.org/drawingml/2006/main">
              <a:ext uri="{FF2B5EF4-FFF2-40B4-BE49-F238E27FC236}">
                <a16:creationId xmlns:a16="http://schemas.microsoft.com/office/drawing/2014/main" id="{C9A3D925-D6A3-4C19-A6AB-A5DC106D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062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Evaluate two stencilled or printed fabric samples and design a fair next trial for the stronger direction.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006DF626-66DE-49C8-8748-7E00C208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38600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6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5039C8E0-A88A-4533-BC69-7DEBFF9D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B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6B66"/>
                </a:solidFill>
                <a:latin typeface="Aptos"/>
                <a:ea typeface="Aptos"/>
                <a:cs typeface="Aptos"/>
              </a:rPr>
              <a:t>1  READ</a:t>
            </a:r>
          </a:p>
        </p:txBody>
      </p:sp>
      <p:sp>
        <p:nvSpPr>
          <p:cNvPr id="9" name="step-text-1">
            <a:extLst xmlns:a="http://schemas.openxmlformats.org/drawingml/2006/main">
              <a:ext uri="{FF2B5EF4-FFF2-40B4-BE49-F238E27FC236}">
                <a16:creationId xmlns:a16="http://schemas.microsoft.com/office/drawing/2014/main" id="{7BBC14F2-28B2-4C91-8137-82D83C02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2343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0302E"/>
                </a:solidFill>
                <a:latin typeface="Aptos"/>
                <a:ea typeface="Aptos"/>
                <a:cs typeface="Aptos"/>
              </a:rPr>
              <a:t>Identify the conditions that were kept similar and any missing information needed for traceability.</a:t>
            </a:r>
          </a:p>
        </p:txBody>
      </p:sp>
      <p:sp>
        <p:nvSpPr>
          <p:cNvPr id="10" name="arrow-2">
            <a:extLst xmlns:a="http://schemas.openxmlformats.org/drawingml/2006/main">
              <a:ext uri="{FF2B5EF4-FFF2-40B4-BE49-F238E27FC236}">
                <a16:creationId xmlns:a16="http://schemas.microsoft.com/office/drawing/2014/main" id="{BE9FF220-FFEE-4881-8AB9-63F6752F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38600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415CCFBB-7F82-4B90-A546-D3212865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43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2  SELECT</a:t>
            </a:r>
          </a:p>
        </p:txBody>
      </p:sp>
      <p:sp>
        <p:nvSpPr>
          <p:cNvPr id="12" name="step-text-2">
            <a:extLst xmlns:a="http://schemas.openxmlformats.org/drawingml/2006/main">
              <a:ext uri="{FF2B5EF4-FFF2-40B4-BE49-F238E27FC236}">
                <a16:creationId xmlns:a16="http://schemas.microsoft.com/office/drawing/2014/main" id="{C3B7D00F-3DAD-47BC-8DEA-58F96842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81450"/>
            <a:ext cx="2343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0302E"/>
                </a:solidFill>
                <a:latin typeface="Aptos"/>
                <a:ea typeface="Aptos"/>
                <a:cs typeface="Aptos"/>
              </a:rPr>
              <a:t>Describe evidence about clarity, coverage, bleeding, alignment, fabric feel or approved handling performance.</a:t>
            </a:r>
          </a:p>
        </p:txBody>
      </p:sp>
      <p:sp>
        <p:nvSpPr>
          <p:cNvPr id="13" name="arrow-3">
            <a:extLst xmlns:a="http://schemas.openxmlformats.org/drawingml/2006/main">
              <a:ext uri="{FF2B5EF4-FFF2-40B4-BE49-F238E27FC236}">
                <a16:creationId xmlns:a16="http://schemas.microsoft.com/office/drawing/2014/main" id="{F364920D-33BF-46A1-BA50-0B16C983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38600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49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30E92C51-BFCB-4119-876D-7E87329F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43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49A3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49A34"/>
                </a:solidFill>
                <a:latin typeface="Aptos"/>
                <a:ea typeface="Aptos"/>
                <a:cs typeface="Aptos"/>
              </a:rPr>
              <a:t>3  EXPLAIN</a:t>
            </a:r>
          </a:p>
        </p:txBody>
      </p:sp>
      <p:sp>
        <p:nvSpPr>
          <p:cNvPr id="15" name="step-text-3">
            <a:extLst xmlns:a="http://schemas.openxmlformats.org/drawingml/2006/main">
              <a:ext uri="{FF2B5EF4-FFF2-40B4-BE49-F238E27FC236}">
                <a16:creationId xmlns:a16="http://schemas.microsoft.com/office/drawing/2014/main" id="{6858A486-86C0-422E-9C76-828907E4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81450"/>
            <a:ext cx="2343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0302E"/>
                </a:solidFill>
                <a:latin typeface="Aptos"/>
                <a:ea typeface="Aptos"/>
                <a:cs typeface="Aptos"/>
              </a:rPr>
              <a:t>Explain which observations matter most for the intended message and use.</a:t>
            </a:r>
          </a:p>
        </p:txBody>
      </p:sp>
      <p:sp>
        <p:nvSpPr>
          <p:cNvPr id="16" name="step-label-4">
            <a:extLst xmlns:a="http://schemas.openxmlformats.org/drawingml/2006/main">
              <a:ext uri="{FF2B5EF4-FFF2-40B4-BE49-F238E27FC236}">
                <a16:creationId xmlns:a16="http://schemas.microsoft.com/office/drawing/2014/main" id="{A526C3B1-30FB-4539-91A3-3814E4B1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43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C4E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C4E4A"/>
                </a:solidFill>
                <a:latin typeface="Aptos"/>
                <a:ea typeface="Aptos"/>
                <a:cs typeface="Aptos"/>
              </a:rPr>
              <a:t>4  CHECK</a:t>
            </a:r>
          </a:p>
        </p:txBody>
      </p:sp>
      <p:sp>
        <p:nvSpPr>
          <p:cNvPr id="17" name="step-text-4">
            <a:extLst xmlns:a="http://schemas.openxmlformats.org/drawingml/2006/main">
              <a:ext uri="{FF2B5EF4-FFF2-40B4-BE49-F238E27FC236}">
                <a16:creationId xmlns:a16="http://schemas.microsoft.com/office/drawing/2014/main" id="{0366CCD0-6295-49D7-ABA0-76D45BB9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81450"/>
            <a:ext cx="2343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0302E"/>
                </a:solidFill>
                <a:latin typeface="Aptos"/>
                <a:ea typeface="Aptos"/>
                <a:cs typeface="Aptos"/>
              </a:rPr>
              <a:t>Select the stronger direction and propose one main variable to change while naming what will remain controlled.</a:t>
            </a:r>
          </a:p>
        </p:txBody>
      </p:sp>
      <p:sp>
        <p:nvSpPr>
          <p:cNvPr id="18" name="starter">
            <a:extLst xmlns:a="http://schemas.openxmlformats.org/drawingml/2006/main">
              <a:ext uri="{FF2B5EF4-FFF2-40B4-BE49-F238E27FC236}">
                <a16:creationId xmlns:a16="http://schemas.microsoft.com/office/drawing/2014/main" id="{511B3856-B50C-4D16-AFFF-C050BE10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1125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4D5"/>
          </a:solidFill>
          <a:ln xmlns:a="http://schemas.openxmlformats.org/drawingml/2006/main" w="9525">
            <a:solidFill>
              <a:srgbClr val="E7C87E"/>
            </a:solidFill>
            <a:prstDash val="solid"/>
          </a:ln>
        </p:spPr>
      </p:sp>
      <p:sp>
        <p:nvSpPr>
          <p:cNvPr id="19" name="starter-label">
            <a:extLst xmlns:a="http://schemas.openxmlformats.org/drawingml/2006/main">
              <a:ext uri="{FF2B5EF4-FFF2-40B4-BE49-F238E27FC236}">
                <a16:creationId xmlns:a16="http://schemas.microsoft.com/office/drawing/2014/main" id="{CD482697-40B3-4B68-8BF4-CBD4D79C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SENTENCE STARTER</a:t>
            </a:r>
          </a:p>
        </p:txBody>
      </p:sp>
      <p:sp>
        <p:nvSpPr>
          <p:cNvPr id="20" name="starter-text">
            <a:extLst xmlns:a="http://schemas.openxmlformats.org/drawingml/2006/main">
              <a:ext uri="{FF2B5EF4-FFF2-40B4-BE49-F238E27FC236}">
                <a16:creationId xmlns:a16="http://schemas.microsoft.com/office/drawing/2014/main" id="{433ABC0D-2396-4BEB-BB5B-88812C71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53075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The strongest evidence is … because it shows … This changes my decision by …</a:t>
            </a:r>
          </a:p>
        </p:txBody>
      </p:sp>
      <p:sp>
        <p:nvSpPr>
          <p:cNvPr id="21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5441587D-2746-4407-A575-B135E568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SEW AWESOME  •  MODULE 05</a:t>
            </a:r>
          </a:p>
        </p:txBody>
      </p:sp>
      <p:sp>
        <p:nvSpPr>
          <p:cNvPr id="2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D26DE47-BACD-4D8D-A406-8F7A5CBD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420147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BF4C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ule">
            <a:extLst xmlns:a="http://schemas.openxmlformats.org/drawingml/2006/main">
              <a:ext uri="{FF2B5EF4-FFF2-40B4-BE49-F238E27FC236}">
                <a16:creationId xmlns:a16="http://schemas.microsoft.com/office/drawing/2014/main" id="{EEA0F887-6FED-4E9C-9EC7-FB7006F2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93A3D361-0BCD-4A77-8564-A5C8546F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0B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0BF"/>
                </a:solidFill>
                <a:latin typeface="Aptos"/>
                <a:ea typeface="Aptos"/>
                <a:cs typeface="Aptos"/>
              </a:rPr>
              <a:t>CLOSE THE LOOP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01C72B-C067-4528-809D-45CE5837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Before you pack up…</a:t>
            </a:r>
          </a:p>
        </p:txBody>
      </p:sp>
      <p:sp>
        <p:nvSpPr>
          <p:cNvPr id="4" name="exit-1">
            <a:extLst xmlns:a="http://schemas.openxmlformats.org/drawingml/2006/main">
              <a:ext uri="{FF2B5EF4-FFF2-40B4-BE49-F238E27FC236}">
                <a16:creationId xmlns:a16="http://schemas.microsoft.com/office/drawing/2014/main" id="{AFED7B38-7A48-4C09-89C7-35C4801A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8096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C2C8"/>
            </a:solidFill>
            <a:prstDash val="solid"/>
          </a:ln>
        </p:spPr>
      </p:sp>
      <p:sp>
        <p:nvSpPr>
          <p:cNvPr id="5" name="exit-text-1">
            <a:extLst xmlns:a="http://schemas.openxmlformats.org/drawingml/2006/main">
              <a:ext uri="{FF2B5EF4-FFF2-40B4-BE49-F238E27FC236}">
                <a16:creationId xmlns:a16="http://schemas.microsoft.com/office/drawing/2014/main" id="{64C50C31-5763-4FB9-8973-635EEB2B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335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1. One idea I can now explain is…</a:t>
            </a:r>
          </a:p>
        </p:txBody>
      </p:sp>
      <p:sp>
        <p:nvSpPr>
          <p:cNvPr id="6" name="exit-2">
            <a:extLst xmlns:a="http://schemas.openxmlformats.org/drawingml/2006/main">
              <a:ext uri="{FF2B5EF4-FFF2-40B4-BE49-F238E27FC236}">
                <a16:creationId xmlns:a16="http://schemas.microsoft.com/office/drawing/2014/main" id="{251A95A6-184B-4BC9-9C13-FCE81134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8096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C2C8"/>
            </a:solidFill>
            <a:prstDash val="solid"/>
          </a:ln>
        </p:spPr>
      </p:sp>
      <p:sp>
        <p:nvSpPr>
          <p:cNvPr id="7" name="exit-text-2">
            <a:extLst xmlns:a="http://schemas.openxmlformats.org/drawingml/2006/main">
              <a:ext uri="{FF2B5EF4-FFF2-40B4-BE49-F238E27FC236}">
                <a16:creationId xmlns:a16="http://schemas.microsoft.com/office/drawing/2014/main" id="{8A1E60CD-4B0A-4F27-A434-BED6FB46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717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2. One decision or practical action this changes is…</a:t>
            </a:r>
          </a:p>
        </p:txBody>
      </p:sp>
      <p:sp>
        <p:nvSpPr>
          <p:cNvPr id="8" name="exit-3">
            <a:extLst xmlns:a="http://schemas.openxmlformats.org/drawingml/2006/main">
              <a:ext uri="{FF2B5EF4-FFF2-40B4-BE49-F238E27FC236}">
                <a16:creationId xmlns:a16="http://schemas.microsoft.com/office/drawing/2014/main" id="{EDBCE96F-1A99-41C1-B533-E4DA5278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67100"/>
            <a:ext cx="8096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C2C8"/>
            </a:solidFill>
            <a:prstDash val="solid"/>
          </a:ln>
        </p:spPr>
      </p:sp>
      <p:sp>
        <p:nvSpPr>
          <p:cNvPr id="9" name="exit-text-3">
            <a:extLst xmlns:a="http://schemas.openxmlformats.org/drawingml/2006/main">
              <a:ext uri="{FF2B5EF4-FFF2-40B4-BE49-F238E27FC236}">
                <a16:creationId xmlns:a16="http://schemas.microsoft.com/office/drawing/2014/main" id="{FDDA120F-10A2-4ECA-BE4A-D7F0B0F8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99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3. One question I still need answered is…</a:t>
            </a:r>
          </a:p>
        </p:txBody>
      </p:sp>
      <p:sp>
        <p:nvSpPr>
          <p:cNvPr id="10" name="evidence-circle">
            <a:extLst xmlns:a="http://schemas.openxmlformats.org/drawingml/2006/main">
              <a:ext uri="{FF2B5EF4-FFF2-40B4-BE49-F238E27FC236}">
                <a16:creationId xmlns:a16="http://schemas.microsoft.com/office/drawing/2014/main" id="{FA1CB2F6-E998-44D7-8582-B03B00D1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193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9A34"/>
          </a:solidFill>
          <a:ln xmlns:a="http://schemas.openxmlformats.org/drawingml/2006/main" w="9525">
            <a:solidFill>
              <a:srgbClr val="D49A34"/>
            </a:solidFill>
            <a:prstDash val="solid"/>
          </a:ln>
        </p:spPr>
      </p:sp>
      <p:sp>
        <p:nvSpPr>
          <p:cNvPr id="11" name="evidence-destination">
            <a:extLst xmlns:a="http://schemas.openxmlformats.org/drawingml/2006/main">
              <a:ext uri="{FF2B5EF4-FFF2-40B4-BE49-F238E27FC236}">
                <a16:creationId xmlns:a16="http://schemas.microsoft.com/office/drawing/2014/main" id="{50AB2A8F-0BA6-4A32-A2CA-4F41D749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362200"/>
            <a:ext cx="1238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C4E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4E4A"/>
                </a:solidFill>
                <a:latin typeface="Aptos"/>
                <a:ea typeface="Aptos"/>
                <a:cs typeface="Aptos"/>
              </a:rPr>
              <a:t>SAVE</a:t>
            </a:r>
          </a:p>
          <a:p xmlns:a="http://schemas.openxmlformats.org/drawingml/2006/main">
            <a:pPr algn="ctr">
              <a:defRPr sz="1500" b="1">
                <a:solidFill>
                  <a:srgbClr val="0C4E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4E4A"/>
                </a:solidFill>
                <a:latin typeface="Aptos"/>
                <a:ea typeface="Aptos"/>
                <a:cs typeface="Aptos"/>
              </a:rPr>
              <a:t>MY FOLIO</a:t>
            </a:r>
          </a:p>
          <a:p xmlns:a="http://schemas.openxmlformats.org/drawingml/2006/main">
            <a:pPr algn="ctr">
              <a:defRPr sz="1500" b="1">
                <a:solidFill>
                  <a:srgbClr val="0C4E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4E4A"/>
                </a:solidFill>
                <a:latin typeface="Aptos"/>
                <a:ea typeface="Aptos"/>
                <a:cs typeface="Aptos"/>
              </a:rPr>
              <a:t>MODULE 5</a:t>
            </a:r>
          </a:p>
        </p:txBody>
      </p:sp>
      <p:sp>
        <p:nvSpPr>
          <p:cNvPr id="12" name="teacher-confirm">
            <a:extLst xmlns:a="http://schemas.openxmlformats.org/drawingml/2006/main">
              <a:ext uri="{FF2B5EF4-FFF2-40B4-BE49-F238E27FC236}">
                <a16:creationId xmlns:a16="http://schemas.microsoft.com/office/drawing/2014/main" id="{0681AA06-4E55-4BED-B0D3-60910F02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111252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8F3340"/>
          </a:solidFill>
          <a:ln xmlns:a="http://schemas.openxmlformats.org/drawingml/2006/main" w="9525">
            <a:solidFill>
              <a:srgbClr val="D9828E"/>
            </a:solidFill>
            <a:prstDash val="solid"/>
          </a:ln>
        </p:spPr>
      </p:sp>
      <p:sp>
        <p:nvSpPr>
          <p:cNvPr id="13" name="teacher-confirm-text">
            <a:extLst xmlns:a="http://schemas.openxmlformats.org/drawingml/2006/main">
              <a:ext uri="{FF2B5EF4-FFF2-40B4-BE49-F238E27FC236}">
                <a16:creationId xmlns:a16="http://schemas.microsoft.com/office/drawing/2014/main" id="{3719A3AD-0620-4A87-AD8E-2979AB87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1070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TEACHER TO CONFIRM  •  approved decoration techniques, colour media and attachment products; technique-specific practical safety controls and drying or curing instructions</a:t>
            </a:r>
          </a:p>
        </p:txBody>
      </p:sp>
      <p:sp>
        <p:nvSpPr>
          <p:cNvPr id="14" name="next-step-label">
            <a:extLst xmlns:a="http://schemas.openxmlformats.org/drawingml/2006/main">
              <a:ext uri="{FF2B5EF4-FFF2-40B4-BE49-F238E27FC236}">
                <a16:creationId xmlns:a16="http://schemas.microsoft.com/office/drawing/2014/main" id="{ECC5AC17-C309-41EF-9D10-3DC316AB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0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0BF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15" name="next-step">
            <a:extLst xmlns:a="http://schemas.openxmlformats.org/drawingml/2006/main">
              <a:ext uri="{FF2B5EF4-FFF2-40B4-BE49-F238E27FC236}">
                <a16:creationId xmlns:a16="http://schemas.microsoft.com/office/drawing/2014/main" id="{0C037D70-1F70-4894-B1AD-542E5092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86400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Students will carry sample-based decision making into environmental and responsible-design choices.</a:t>
            </a:r>
          </a:p>
        </p:txBody>
      </p:sp>
      <p:sp>
        <p:nvSpPr>
          <p:cNvPr id="16" name="status-boundary">
            <a:extLst xmlns:a="http://schemas.openxmlformats.org/drawingml/2006/main">
              <a:ext uri="{FF2B5EF4-FFF2-40B4-BE49-F238E27FC236}">
                <a16:creationId xmlns:a16="http://schemas.microsoft.com/office/drawing/2014/main" id="{B5744A56-98E4-4D29-AEB0-AA36092C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BE5E8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FBE5E8"/>
                </a:solidFill>
                <a:latin typeface="Aptos"/>
                <a:ea typeface="Aptos"/>
                <a:cs typeface="Aptos"/>
              </a:rPr>
              <a:t>Formative classroom evidence only — follow your teacher’s current submission process.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81EDD6A1-0F84-4FCF-87C4-852F9C04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191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BE5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BE5E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468860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2026-08-27T08:40:40.6060000Z</dcterms:created>
  <dcterms:modified xsi:type="dcterms:W3CDTF">2026-08-27T08:40:40.6060000Z</dcterms:modified>
</coreProperties>
</file>