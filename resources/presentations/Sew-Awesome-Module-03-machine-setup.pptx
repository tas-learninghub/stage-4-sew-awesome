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23dd7bbf8514d1c" /><Relationship Type="http://schemas.openxmlformats.org/officeDocument/2006/relationships/extended-properties" Target="/docProps/app.xml" Id="Rd5ae4005a8be46f1" /><Relationship Type="http://schemas.openxmlformats.org/officeDocument/2006/relationships/officeDocument" Target="/ppt/presentation.xml" Id="R01618fcc9a944fb8" /></Relationships>
</file>

<file path=ppt/presentation.xml><?xml version="1.0" encoding="utf-8"?>
<p:presentation xmlns:p="http://schemas.openxmlformats.org/presentationml/2006/main">
  <p:sldMasterIdLst>
    <p:sldMasterId xmlns:r="http://schemas.openxmlformats.org/officeDocument/2006/relationships" id="2147483648" r:id="R0144e3c7fb1b4844"/>
  </p:sldMasterIdLst>
  <p:notesMasterIdLst>
    <p:notesMasterId xmlns:r="http://schemas.openxmlformats.org/officeDocument/2006/relationships" r:id="R31dc2efc9394498f"/>
  </p:notesMasterIdLst>
  <p:sldIdLst>
    <p:sldId xmlns:r="http://schemas.openxmlformats.org/officeDocument/2006/relationships" id="256" r:id="R32cb939ea13b4637"/>
    <p:sldId xmlns:r="http://schemas.openxmlformats.org/officeDocument/2006/relationships" id="257" r:id="Ra5192d9774e246ef"/>
    <p:sldId xmlns:r="http://schemas.openxmlformats.org/officeDocument/2006/relationships" id="258" r:id="Rf1db718b80eb483b"/>
    <p:sldId xmlns:r="http://schemas.openxmlformats.org/officeDocument/2006/relationships" id="259" r:id="R1a85f354c2b8414d"/>
    <p:sldId xmlns:r="http://schemas.openxmlformats.org/officeDocument/2006/relationships" id="260" r:id="R43aa88adc9d04db4"/>
    <p:sldId xmlns:r="http://schemas.openxmlformats.org/officeDocument/2006/relationships" id="261" r:id="R34da114c8c0540d3"/>
    <p:sldId xmlns:r="http://schemas.openxmlformats.org/officeDocument/2006/relationships" id="262" r:id="R496d79a352b74d2e"/>
    <p:sldId xmlns:r="http://schemas.openxmlformats.org/officeDocument/2006/relationships" id="263" r:id="R20f0b6eb296e49a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efcf70e7c6740e0" /><Relationship Type="http://schemas.openxmlformats.org/officeDocument/2006/relationships/slideMaster" Target="/ppt/slideMasters/slideMaster1.xml" Id="R0144e3c7fb1b4844" /><Relationship Type="http://schemas.openxmlformats.org/officeDocument/2006/relationships/notesMaster" Target="/ppt/notesMasters/notesMaster1.xml" Id="R31dc2efc9394498f" /><Relationship Type="http://schemas.openxmlformats.org/officeDocument/2006/relationships/presProps" Target="/ppt/presProps.xml" Id="R6f941f8cc7b14b0f" /><Relationship Type="http://schemas.openxmlformats.org/officeDocument/2006/relationships/tableStyles" Target="/ppt/tableStyles.xml" Id="Rdd018aa5df814327" /><Relationship Type="http://schemas.openxmlformats.org/officeDocument/2006/relationships/slide" Target="/ppt/slides/slide1.xml" Id="R32cb939ea13b4637" /><Relationship Type="http://schemas.openxmlformats.org/officeDocument/2006/relationships/slide" Target="/ppt/slides/slide2.xml" Id="Ra5192d9774e246ef" /><Relationship Type="http://schemas.openxmlformats.org/officeDocument/2006/relationships/slide" Target="/ppt/slides/slide3.xml" Id="Rf1db718b80eb483b" /><Relationship Type="http://schemas.openxmlformats.org/officeDocument/2006/relationships/slide" Target="/ppt/slides/slide4.xml" Id="R1a85f354c2b8414d" /><Relationship Type="http://schemas.openxmlformats.org/officeDocument/2006/relationships/slide" Target="/ppt/slides/slide5.xml" Id="R43aa88adc9d04db4" /><Relationship Type="http://schemas.openxmlformats.org/officeDocument/2006/relationships/slide" Target="/ppt/slides/slide6.xml" Id="R34da114c8c0540d3" /><Relationship Type="http://schemas.openxmlformats.org/officeDocument/2006/relationships/slide" Target="/ppt/slides/slide7.xml" Id="R496d79a352b74d2e" /><Relationship Type="http://schemas.openxmlformats.org/officeDocument/2006/relationships/slide" Target="/ppt/slides/slide8.xml" Id="R20f0b6eb296e49a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6c5d0cd4f642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f49e72567d4f60" /><Relationship Type="http://schemas.openxmlformats.org/officeDocument/2006/relationships/notesMaster" Target="/ppt/notesMasters/notesMaster1.xml" Id="Rbcb10e9f799d40b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ed9d5a310d4234" /><Relationship Type="http://schemas.openxmlformats.org/officeDocument/2006/relationships/notesMaster" Target="/ppt/notesMasters/notesMaster1.xml" Id="R63026ec8ef2244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efc98e7f98432a" /><Relationship Type="http://schemas.openxmlformats.org/officeDocument/2006/relationships/notesMaster" Target="/ppt/notesMasters/notesMaster1.xml" Id="Raaffb89dd17040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d674dcc82a45d0" /><Relationship Type="http://schemas.openxmlformats.org/officeDocument/2006/relationships/notesMaster" Target="/ppt/notesMasters/notesMaster1.xml" Id="R7b808d31ec3943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ed95b1435441f9" /><Relationship Type="http://schemas.openxmlformats.org/officeDocument/2006/relationships/notesMaster" Target="/ppt/notesMasters/notesMaster1.xml" Id="R1d7cf6282b9b41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10d093d3024a1a" /><Relationship Type="http://schemas.openxmlformats.org/officeDocument/2006/relationships/notesMaster" Target="/ppt/notesMasters/notesMaster1.xml" Id="R88ce5ef94edb48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f6434e476646c1" /><Relationship Type="http://schemas.openxmlformats.org/officeDocument/2006/relationships/notesMaster" Target="/ppt/notesMasters/notesMaster1.xml" Id="R155194427a234b7d"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c2ef4f30a34323" /><Relationship Type="http://schemas.openxmlformats.org/officeDocument/2006/relationships/notesMaster" Target="/ppt/notesMasters/notesMaster1.xml" Id="R65df1dff08dd40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module outcome: Students connect common sewing-machine parts to functions, understand the purpose of top-thread and bobbin setup, and rehearse controlled, safe operation without assuming one machine model.</a:t>
            </a:r>
          </a:p>
          <a:p xmlns:a="http://schemas.openxmlformats.org/drawingml/2006/main">
            <a:r>
              <a:t>Invite one student example or prediction before showing the learning map.</a:t>
            </a:r>
          </a:p>
          <a:p xmlns:a="http://schemas.openxmlformats.org/drawingml/2006/main">
            <a:r>
              <a:t>Transition: the module has three connected ideas, and each will end in a decision or evidence action.</a:t>
            </a:r>
          </a:p>
          <a:p xmlns:a="http://schemas.openxmlformats.org/drawingml/2006/main">
            <a:r>
              <a:t>Likely misconceptions: The operator should pull fabric because feed dogs do not move it. | All sewing-machine models place and operate controls identically.</a:t>
            </a:r>
          </a:p>
          <a:p xmlns:a="http://schemas.openxmlformats.org/drawingml/2006/main">
            <a:r>
              <a:t>Teacher to confirm: Machine model and labelled part names; Exact threading and bobbin sequence; Approved controls, settings and local shutdown procedure.</a:t>
            </a:r>
          </a:p>
          <a:p xmlns:a="http://schemas.openxmlformats.org/drawingml/2006/main">
            <a:r>
              <a:t>[Sources]</a:t>
            </a:r>
          </a:p>
          <a:p xmlns:a="http://schemas.openxmlformats.org/drawingml/2006/main">
            <a:r>
              <a:t>- Authoritative course records: core-program, core-machine-safety-set.</a:t>
            </a:r>
          </a:p>
          <a:p xmlns:a="http://schemas.openxmlformats.org/drawingml/2006/main">
            <a:r>
              <a:t>- Matched teaching visual: sew-awesome-hero.png; purpose-built, privacy-safe local asset.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three ideas as one learning pathway, not three disconnected topics.</a:t>
            </a:r>
          </a:p>
          <a:p xmlns:a="http://schemas.openxmlformats.org/drawingml/2006/main">
            <a:r>
              <a:t>Warm-up prompt: Students can choose approved textiles tools by task, material, quality and safe control.</a:t>
            </a:r>
          </a:p>
          <a:p xmlns:a="http://schemas.openxmlformats.org/drawingml/2006/main">
            <a:r>
              <a:t>Ask one student to connect prior knowledge to the first section, then signpost the later evidence response.</a:t>
            </a:r>
          </a:p>
          <a:p xmlns:a="http://schemas.openxmlformats.org/drawingml/2006/main">
            <a:r>
              <a:t>Likely misconceptions: The operator should pull fabric because feed dogs do not move it. | All sewing-machine models place and operate controls identically.</a:t>
            </a:r>
          </a:p>
          <a:p xmlns:a="http://schemas.openxmlformats.org/drawingml/2006/main">
            <a:r>
              <a:t>Teacher to confirm: Machine model and labelled part names; Exact threading and bobbin sequence; Approved controls, settings and local shutdown procedure.</a:t>
            </a:r>
          </a:p>
          <a:p xmlns:a="http://schemas.openxmlformats.org/drawingml/2006/main">
            <a:r>
              <a:t>[Sources]</a:t>
            </a:r>
          </a:p>
          <a:p xmlns:a="http://schemas.openxmlformats.org/drawingml/2006/main">
            <a:r>
              <a:t>- Authoritative course records: core-program, core-machine-safety-set.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Build a functional map of common machine parts so students can communicate clearly and understand how fabric, thread and controls interact.</a:t>
            </a:r>
          </a:p>
          <a:p xmlns:a="http://schemas.openxmlformats.org/drawingml/2006/main">
            <a:r>
              <a:t>Visual purpose: Group generic sewing-machine parts by thread handling, stitch forming, fabric feed and user control functions.</a:t>
            </a:r>
          </a:p>
          <a:p xmlns:a="http://schemas.openxmlformats.org/drawingml/2006/main">
            <a:r>
              <a:t>Explain only what is shown: A translucent sewing-machine cutaway reveals the thread path, needle and bobbin area, feed system and handwheel mechanism.</a:t>
            </a:r>
          </a:p>
          <a:p xmlns:a="http://schemas.openxmlformats.org/drawingml/2006/main">
            <a:r>
              <a:t>Student observation prompt: Study the thread path and mechanisms. Which functions must be matched to the teacher-labelled class machine rather than assumed from this generic cutaway?</a:t>
            </a:r>
          </a:p>
          <a:p xmlns:a="http://schemas.openxmlformats.org/drawingml/2006/main">
            <a:r>
              <a:t>Applied activity: With the machine unpowered and teacher permission, locate the demonstrated part that performs each function.</a:t>
            </a:r>
          </a:p>
          <a:p xmlns:a="http://schemas.openxmlformats.org/drawingml/2006/main">
            <a:r>
              <a:t>Transition: Students will use the functional map to understand threading, bobbins and pre-use setup.</a:t>
            </a:r>
          </a:p>
          <a:p xmlns:a="http://schemas.openxmlformats.org/drawingml/2006/main">
            <a:r>
              <a:t>Likely misconceptions: The operator should pull fabric because feed dogs do not move it. | All sewing-machine models place and operate controls identically.</a:t>
            </a:r>
          </a:p>
          <a:p xmlns:a="http://schemas.openxmlformats.org/drawingml/2006/main">
            <a:r>
              <a:t>Teacher to confirm: Machine model and labelled part names; Exact threading and bobbin sequence; Approved controls, settings and local shutdown procedure.</a:t>
            </a:r>
          </a:p>
          <a:p xmlns:a="http://schemas.openxmlformats.org/drawingml/2006/main">
            <a:r>
              <a:t>[Sources]</a:t>
            </a:r>
          </a:p>
          <a:p xmlns:a="http://schemas.openxmlformats.org/drawingml/2006/main">
            <a:r>
              <a:t>- Authoritative course records: core-program, core-machine-safety-set.</a:t>
            </a:r>
          </a:p>
          <a:p xmlns:a="http://schemas.openxmlformats.org/drawingml/2006/main">
            <a:r>
              <a:t>- Matched teaching visual: visual-m03-s1.png; purpose-built, privacy-safe local asset.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Explain why a machine-specific, power-off setup sequence and complete pre-use check are necessary for reliable stitch formation.</a:t>
            </a:r>
          </a:p>
          <a:p xmlns:a="http://schemas.openxmlformats.org/drawingml/2006/main">
            <a:r>
              <a:t>Visual purpose: Show the four-step authority and safety sequence for model-specific machine setup.</a:t>
            </a:r>
          </a:p>
          <a:p xmlns:a="http://schemas.openxmlformats.org/drawingml/2006/main">
            <a:r>
              <a:t>Explain only what is shown: An unpowered sewing machine is prepared beside thread, bobbin, fabric sample and a blank setup check sheet.</a:t>
            </a:r>
          </a:p>
          <a:p xmlns:a="http://schemas.openxmlformats.org/drawingml/2006/main">
            <a:r>
              <a:t>Student observation prompt: Before power is connected, which steps depend on the actual class machine and teacher check?</a:t>
            </a:r>
          </a:p>
          <a:p xmlns:a="http://schemas.openxmlformats.org/drawingml/2006/main">
            <a:r>
              <a:t>Applied activity: Using the teacher's labelled machine guide, narrate each setup checkpoint before any power is connected.</a:t>
            </a:r>
          </a:p>
          <a:p xmlns:a="http://schemas.openxmlformats.org/drawingml/2006/main">
            <a:r>
              <a:t>Transition: Students will control speed and direction while maintaining a safe operating zone.</a:t>
            </a:r>
          </a:p>
          <a:p xmlns:a="http://schemas.openxmlformats.org/drawingml/2006/main">
            <a:r>
              <a:t>Likely misconceptions: The operator should pull fabric because feed dogs do not move it. | All sewing-machine models place and operate controls identically.</a:t>
            </a:r>
          </a:p>
          <a:p xmlns:a="http://schemas.openxmlformats.org/drawingml/2006/main">
            <a:r>
              <a:t>Teacher to confirm: Machine model and labelled part names; Exact threading and bobbin sequence; Approved controls, settings and local shutdown procedure.</a:t>
            </a:r>
          </a:p>
          <a:p xmlns:a="http://schemas.openxmlformats.org/drawingml/2006/main">
            <a:r>
              <a:t>[Sources]</a:t>
            </a:r>
          </a:p>
          <a:p xmlns:a="http://schemas.openxmlformats.org/drawingml/2006/main">
            <a:r>
              <a:t>- Authoritative course records: core-program, core-machine-safety-set.</a:t>
            </a:r>
          </a:p>
          <a:p xmlns:a="http://schemas.openxmlformats.org/drawingml/2006/main">
            <a:r>
              <a:t>- Matched teaching visual: visual-m03-s2.png; purpose-built, privacy-safe local asset.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Develop coordinated speed, visual focus and fabric guidance while preserving a safe hand and clothing zone.</a:t>
            </a:r>
          </a:p>
          <a:p xmlns:a="http://schemas.openxmlformats.org/drawingml/2006/main">
            <a:r>
              <a:t>Visual purpose: Make safe machine control visible through posture, hand position, fabric guidance, stopping and checking.</a:t>
            </a:r>
          </a:p>
          <a:p xmlns:a="http://schemas.openxmlformats.org/drawingml/2006/main">
            <a:r>
              <a:t>Explain only what is shown: A learner guides fabric through a sewing machine with balanced posture and safe hand placement beside a checked stitch sample.</a:t>
            </a:r>
          </a:p>
          <a:p xmlns:a="http://schemas.openxmlformats.org/drawingml/2006/main">
            <a:r>
              <a:t>Student observation prompt: Notice posture, hand position, fabric guidance and the nearby stitch sample. Where should the operator stop and check before adjusting one thing?</a:t>
            </a:r>
          </a:p>
          <a:p xmlns:a="http://schemas.openxmlformats.org/drawingml/2006/main">
            <a:r>
              <a:t>Applied activity: Rehearse sight line, hand zone and stop language on a paper path before machine operation.</a:t>
            </a:r>
          </a:p>
          <a:p xmlns:a="http://schemas.openxmlformats.org/drawingml/2006/main">
            <a:r>
              <a:t>Transition: Students will choose and test straight and zigzag stitch functions.</a:t>
            </a:r>
          </a:p>
          <a:p xmlns:a="http://schemas.openxmlformats.org/drawingml/2006/main">
            <a:r>
              <a:t>Likely misconceptions: The operator should pull fabric because feed dogs do not move it. | All sewing-machine models place and operate controls identically.</a:t>
            </a:r>
          </a:p>
          <a:p xmlns:a="http://schemas.openxmlformats.org/drawingml/2006/main">
            <a:r>
              <a:t>Teacher to confirm: Machine model and labelled part names; Exact threading and bobbin sequence; Approved controls, settings and local shutdown procedure.</a:t>
            </a:r>
          </a:p>
          <a:p xmlns:a="http://schemas.openxmlformats.org/drawingml/2006/main">
            <a:r>
              <a:t>[Sources]</a:t>
            </a:r>
          </a:p>
          <a:p xmlns:a="http://schemas.openxmlformats.org/drawingml/2006/main">
            <a:r>
              <a:t>- Authoritative course records: core-program, core-machine-safety-set.</a:t>
            </a:r>
          </a:p>
          <a:p xmlns:a="http://schemas.openxmlformats.org/drawingml/2006/main">
            <a:r>
              <a:t>- Matched teaching visual: visual-m03-s3.png; purpose-built, privacy-safe local asset.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silent thinking before pair talk so every student retrieves independently.</a:t>
            </a:r>
          </a:p>
          <a:p xmlns:a="http://schemas.openxmlformats.org/drawingml/2006/main">
            <a:r>
              <a:t>Ask students to justify, not merely name, one response.</a:t>
            </a:r>
          </a:p>
          <a:p xmlns:a="http://schemas.openxmlformats.org/drawingml/2006/main">
            <a:r>
              <a:t>Listen for whether students connect each answer to its module idea and evidence.</a:t>
            </a:r>
          </a:p>
          <a:p xmlns:a="http://schemas.openxmlformats.org/drawingml/2006/main">
            <a:r>
              <a:t>Likely misconceptions: The operator should pull fabric because feed dogs do not move it. | All sewing-machine models place and operate controls identically.</a:t>
            </a:r>
          </a:p>
          <a:p xmlns:a="http://schemas.openxmlformats.org/drawingml/2006/main">
            <a:r>
              <a:t>Teacher to confirm: Machine model and labelled part names; Exact threading and bobbin sequence; Approved controls, settings and local shutdown procedure.</a:t>
            </a:r>
          </a:p>
          <a:p xmlns:a="http://schemas.openxmlformats.org/drawingml/2006/main">
            <a:r>
              <a:t>[Sources]</a:t>
            </a:r>
          </a:p>
          <a:p xmlns:a="http://schemas.openxmlformats.org/drawingml/2006/main">
            <a:r>
              <a:t>- Authoritative course records: core-program, core-machine-safety-set.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response prompt aloud: Evaluate the machine-control habits of an operator who starts quickly, watches only the needle, pulls fabric from behind and continues after an unusual sound. Propose and justify a safer, more accurate method.</a:t>
            </a:r>
          </a:p>
          <a:p xmlns:a="http://schemas.openxmlformats.org/drawingml/2006/main">
            <a:r>
              <a:t>Model one sentence that selects evidence and explains its significance.</a:t>
            </a:r>
          </a:p>
          <a:p xmlns:a="http://schemas.openxmlformats.org/drawingml/2006/main">
            <a:r>
              <a:t>Success criteria: Evaluates each habit using cause-and-effect reasoning. | Proposes a controlled method that combines accuracy, safe zones and stop decisions.</a:t>
            </a:r>
          </a:p>
          <a:p xmlns:a="http://schemas.openxmlformats.org/drawingml/2006/main">
            <a:r>
              <a:t>Likely misconceptions: The operator should pull fabric because feed dogs do not move it. | All sewing-machine models place and operate controls identically.</a:t>
            </a:r>
          </a:p>
          <a:p xmlns:a="http://schemas.openxmlformats.org/drawingml/2006/main">
            <a:r>
              <a:t>Teacher to confirm: Machine model and labelled part names; Exact threading and bobbin sequence; Approved controls, settings and local shutdown procedure.</a:t>
            </a:r>
          </a:p>
          <a:p xmlns:a="http://schemas.openxmlformats.org/drawingml/2006/main">
            <a:r>
              <a:t>[Sources]</a:t>
            </a:r>
          </a:p>
          <a:p xmlns:a="http://schemas.openxmlformats.org/drawingml/2006/main">
            <a:r>
              <a:t>- Authoritative course records: core-program, core-machine-safety-set.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time to write all three exit statements before discussion.</a:t>
            </a:r>
          </a:p>
          <a:p xmlns:a="http://schemas.openxmlformats.org/drawingml/2006/main">
            <a:r>
              <a:t>Evidence destination: My folio, Module 3; this is formative browser-local evidence, not proof of formal submission.</a:t>
            </a:r>
          </a:p>
          <a:p xmlns:a="http://schemas.openxmlformats.org/drawingml/2006/main">
            <a:r>
              <a:t>Next learning link: Students will choose and test straight and zigzag stitch functions.</a:t>
            </a:r>
          </a:p>
          <a:p xmlns:a="http://schemas.openxmlformats.org/drawingml/2006/main">
            <a:r>
              <a:t>Likely misconceptions: The operator should pull fabric because feed dogs do not move it. | All sewing-machine models place and operate controls identically.</a:t>
            </a:r>
          </a:p>
          <a:p xmlns:a="http://schemas.openxmlformats.org/drawingml/2006/main">
            <a:r>
              <a:t>Teacher to confirm: Machine model and labelled part names; Exact threading and bobbin sequence; Approved controls, settings and local shutdown procedure.</a:t>
            </a:r>
          </a:p>
          <a:p xmlns:a="http://schemas.openxmlformats.org/drawingml/2006/main">
            <a:r>
              <a:t>[Sources]</a:t>
            </a:r>
          </a:p>
          <a:p xmlns:a="http://schemas.openxmlformats.org/drawingml/2006/main">
            <a:r>
              <a:t>- Authoritative course records: core-program, core-machine-safety-set.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8ddedb926c47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41975cde234da8" /><Relationship Type="http://schemas.openxmlformats.org/officeDocument/2006/relationships/slideLayout" Target="/ppt/slideLayouts/slideLayout1.xml" Id="R8017016521aa48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17016521aa48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c4b0c3ab5574c3b" /><Relationship Type="http://schemas.openxmlformats.org/officeDocument/2006/relationships/image" Target="/ppt/media/image.png" Id="R1a084d1b76334270" /><Relationship Type="http://schemas.openxmlformats.org/officeDocument/2006/relationships/notesSlide" Target="/ppt/notesSlides/notesSlide1.xml" Id="R1af6d20bd0e542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0784a9a4c974ef0" /><Relationship Type="http://schemas.openxmlformats.org/officeDocument/2006/relationships/notesSlide" Target="/ppt/notesSlides/notesSlide2.xml" Id="R50a4c769684648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ba5257aed6143ed" /><Relationship Type="http://schemas.openxmlformats.org/officeDocument/2006/relationships/image" Target="/ppt/media/image2.png" Id="Rad348c1ba13341c7" /><Relationship Type="http://schemas.openxmlformats.org/officeDocument/2006/relationships/notesSlide" Target="/ppt/notesSlides/notesSlide3.xml" Id="R4e28464768ae4f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372db0028ee4a16" /><Relationship Type="http://schemas.openxmlformats.org/officeDocument/2006/relationships/image" Target="/ppt/media/image3.png" Id="R498f949da4244ed1" /><Relationship Type="http://schemas.openxmlformats.org/officeDocument/2006/relationships/notesSlide" Target="/ppt/notesSlides/notesSlide4.xml" Id="R20c3fc98a2dd43f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62fe8178fb64d0b" /><Relationship Type="http://schemas.openxmlformats.org/officeDocument/2006/relationships/image" Target="/ppt/media/image4.png" Id="R7b64e22b3dd14568" /><Relationship Type="http://schemas.openxmlformats.org/officeDocument/2006/relationships/notesSlide" Target="/ppt/notesSlides/notesSlide5.xml" Id="R66c82532bd894a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e82ec0439784fb0" /><Relationship Type="http://schemas.openxmlformats.org/officeDocument/2006/relationships/notesSlide" Target="/ppt/notesSlides/notesSlide6.xml" Id="R62c63c3864bf4f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7c3c9bdd5f246df" /><Relationship Type="http://schemas.openxmlformats.org/officeDocument/2006/relationships/notesSlide" Target="/ppt/notesSlides/notesSlide7.xml" Id="R27f4e5a4ff114e0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8419f30324c4776" /><Relationship Type="http://schemas.openxmlformats.org/officeDocument/2006/relationships/notesSlide" Target="/ppt/notesSlides/notesSlide8.xml" Id="Rebeca753544c4dbc" /></Relationships>
</file>

<file path=ppt/slides/slide1.xml><?xml version="1.0" encoding="utf-8"?>
<p:sld xmlns:p="http://schemas.openxmlformats.org/presentationml/2006/main">
  <p:cSld>
    <p:bg>
      <p:bgPr>
        <a:solidFill xmlns:a="http://schemas.openxmlformats.org/drawingml/2006/main">
          <a:srgbClr val="0C4E4A"/>
        </a:solidFill>
      </p:bgPr>
    </p:bg>
    <p:spTree>
      <p:nvGrpSpPr>
        <p:cNvPr id="1" name=""/>
        <p:cNvGrpSpPr/>
        <p:nvPr/>
      </p:nvGrpSpPr>
      <p:grpSpPr>
        <a:xfrm xmlns:a="http://schemas.openxmlformats.org/drawingml/2006/main"/>
      </p:grpSpPr>
      <p:pic>
        <p:nvPicPr>
          <p:cNvPr id="9" name="Teaching visual - Sew Awesome course identity: reusable textile carry items and sewing materials"/>
          <p:cNvPicPr>
            <a:picLocks xmlns:a="http://schemas.openxmlformats.org/drawingml/2006/main" noChangeAspect="1"/>
          </p:cNvPicPr>
          <p:nvPr/>
        </p:nvPicPr>
        <p:blipFill>
          <a:blip xmlns:r="http://schemas.openxmlformats.org/officeDocument/2006/relationships" xmlns:a="http://schemas.openxmlformats.org/drawingml/2006/main" r:embed="R1a084d1b76334270"/>
          <a:srcRect xmlns:a="http://schemas.openxmlformats.org/drawingml/2006/main" l="26389" t="0" r="26389" b="0"/>
          <a:stretch xmlns:a="http://schemas.openxmlformats.org/drawingml/2006/main">
            <a:fillRect l="0" t="0" r="0" b="0"/>
          </a:stretch>
        </p:blipFill>
        <p:spPr>
          <a:xfrm xmlns:a="http://schemas.openxmlformats.org/drawingml/2006/main">
            <a:off x="7334250" y="0"/>
            <a:ext cx="4857750" cy="6858000"/>
          </a:xfrm>
          <a:prstGeom xmlns:a="http://schemas.openxmlformats.org/drawingml/2006/main" prst="rect">
            <a:avLst/>
          </a:prstGeom>
        </p:spPr>
      </p:pic>
      <p:sp>
        <p:nvSpPr>
          <p:cNvPr id="2" name="image-wash">
            <a:extLst xmlns:a="http://schemas.openxmlformats.org/drawingml/2006/main">
              <a:ext uri="{FF2B5EF4-FFF2-40B4-BE49-F238E27FC236}">
                <a16:creationId xmlns:a16="http://schemas.microsoft.com/office/drawing/2014/main" id="{B2BAE7F5-A7DE-4DB9-8F20-A6E469D1DA5C}"/>
              </a:ext>
            </a:extLst>
          </p:cNvPr>
          <p:cNvSpPr>
            <a:spLocks xmlns:a="http://schemas.openxmlformats.org/drawingml/2006/main" noGrp="1"/>
          </p:cNvSpPr>
          <p:nvPr/>
        </p:nvSpPr>
        <p:spPr>
          <a:xfrm xmlns:a="http://schemas.openxmlformats.org/drawingml/2006/main">
            <a:off x="7067550" y="0"/>
            <a:ext cx="857250" cy="6858000"/>
          </a:xfrm>
          <a:prstGeom xmlns:a="http://schemas.openxmlformats.org/drawingml/2006/main" prst="rect">
            <a:avLst/>
          </a:prstGeom>
          <a:gradFill xmlns:a="http://schemas.openxmlformats.org/drawingml/2006/main">
            <a:gsLst>
              <a:gs pos="0">
                <a:srgbClr val="0C4E4A"/>
              </a:gs>
              <a:gs pos="100000">
                <a:srgbClr val="0C4E4A">
                  <a:alpha val="0"/>
                </a:srgbClr>
              </a:gs>
            </a:gsLst>
            <a:lin ang="0"/>
          </a:gradFill>
          <a:ln xmlns:a="http://schemas.openxmlformats.org/drawingml/2006/main" w="0">
            <a:noFill/>
            <a:prstDash val="solid"/>
          </a:ln>
        </p:spPr>
      </p:sp>
      <p:sp>
        <p:nvSpPr>
          <p:cNvPr id="3" name="accent-rule">
            <a:extLst xmlns:a="http://schemas.openxmlformats.org/drawingml/2006/main">
              <a:ext uri="{FF2B5EF4-FFF2-40B4-BE49-F238E27FC236}">
                <a16:creationId xmlns:a16="http://schemas.microsoft.com/office/drawing/2014/main" id="{11359B88-C179-4AC1-AEE6-B13AE7A4960F}"/>
              </a:ext>
            </a:extLst>
          </p:cNvPr>
          <p:cNvSpPr>
            <a:spLocks xmlns:a="http://schemas.openxmlformats.org/drawingml/2006/main" noGrp="1"/>
          </p:cNvSpPr>
          <p:nvPr/>
        </p:nvSpPr>
        <p:spPr>
          <a:xfrm xmlns:a="http://schemas.openxmlformats.org/drawingml/2006/main">
            <a:off x="533400" y="628650"/>
            <a:ext cx="685800" cy="85725"/>
          </a:xfrm>
          <a:prstGeom xmlns:a="http://schemas.openxmlformats.org/drawingml/2006/main" prst="rect">
            <a:avLst/>
          </a:prstGeom>
          <a:solidFill xmlns:a="http://schemas.openxmlformats.org/drawingml/2006/main">
            <a:srgbClr val="D49A34"/>
          </a:solidFill>
          <a:ln xmlns:a="http://schemas.openxmlformats.org/drawingml/2006/main" w="0">
            <a:noFill/>
            <a:prstDash val="solid"/>
          </a:ln>
        </p:spPr>
      </p:sp>
      <p:sp>
        <p:nvSpPr>
          <p:cNvPr id="4" name="course-label">
            <a:extLst xmlns:a="http://schemas.openxmlformats.org/drawingml/2006/main">
              <a:ext uri="{FF2B5EF4-FFF2-40B4-BE49-F238E27FC236}">
                <a16:creationId xmlns:a16="http://schemas.microsoft.com/office/drawing/2014/main" id="{B047B14D-4094-4E14-8487-6DAD8D1340E5}"/>
              </a:ext>
            </a:extLst>
          </p:cNvPr>
          <p:cNvSpPr>
            <a:spLocks xmlns:a="http://schemas.openxmlformats.org/drawingml/2006/main" noGrp="1"/>
          </p:cNvSpPr>
          <p:nvPr/>
        </p:nvSpPr>
        <p:spPr>
          <a:xfrm xmlns:a="http://schemas.openxmlformats.org/drawingml/2006/main">
            <a:off x="533400" y="9906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FFE4A4"/>
                </a:solidFill>
                <a:latin typeface="Aptos"/>
                <a:ea typeface="Aptos"/>
                <a:cs typeface="Aptos"/>
              </a:defRPr>
            </a:pPr>
            <a:r>
              <a:rPr sz="1200" b="1">
                <a:solidFill>
                  <a:srgbClr val="FFE4A4"/>
                </a:solidFill>
                <a:latin typeface="Aptos"/>
                <a:ea typeface="Aptos"/>
                <a:cs typeface="Aptos"/>
              </a:rPr>
              <a:t>SEW AWESOME  •  MODULE 03</a:t>
            </a:r>
          </a:p>
        </p:txBody>
      </p:sp>
      <p:sp>
        <p:nvSpPr>
          <p:cNvPr id="5" name="title">
            <a:extLst xmlns:a="http://schemas.openxmlformats.org/drawingml/2006/main">
              <a:ext uri="{FF2B5EF4-FFF2-40B4-BE49-F238E27FC236}">
                <a16:creationId xmlns:a16="http://schemas.microsoft.com/office/drawing/2014/main" id="{F34A1E6E-29E2-4BE5-87C3-E1F0CF950E9D}"/>
              </a:ext>
            </a:extLst>
          </p:cNvPr>
          <p:cNvSpPr>
            <a:spLocks xmlns:a="http://schemas.openxmlformats.org/drawingml/2006/main" noGrp="1"/>
          </p:cNvSpPr>
          <p:nvPr/>
        </p:nvSpPr>
        <p:spPr>
          <a:xfrm xmlns:a="http://schemas.openxmlformats.org/drawingml/2006/main">
            <a:off x="533400" y="2057400"/>
            <a:ext cx="590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4350" b="1">
                <a:solidFill>
                  <a:srgbClr val="FFFFFF"/>
                </a:solidFill>
                <a:latin typeface="Aptos Display"/>
                <a:ea typeface="Aptos Display"/>
                <a:cs typeface="Aptos Display"/>
              </a:defRPr>
            </a:pPr>
            <a:r>
              <a:rPr sz="4350" b="1">
                <a:solidFill>
                  <a:srgbClr val="FFFFFF"/>
                </a:solidFill>
                <a:latin typeface="Aptos Display"/>
                <a:ea typeface="Aptos Display"/>
                <a:cs typeface="Aptos Display"/>
              </a:rPr>
              <a:t>Sewing-machine foundations</a:t>
            </a:r>
          </a:p>
        </p:txBody>
      </p:sp>
      <p:sp>
        <p:nvSpPr>
          <p:cNvPr id="6" name="outcome">
            <a:extLst xmlns:a="http://schemas.openxmlformats.org/drawingml/2006/main">
              <a:ext uri="{FF2B5EF4-FFF2-40B4-BE49-F238E27FC236}">
                <a16:creationId xmlns:a16="http://schemas.microsoft.com/office/drawing/2014/main" id="{73665695-4D9E-4D5A-8410-B68277935043}"/>
              </a:ext>
            </a:extLst>
          </p:cNvPr>
          <p:cNvSpPr>
            <a:spLocks xmlns:a="http://schemas.openxmlformats.org/drawingml/2006/main" noGrp="1"/>
          </p:cNvSpPr>
          <p:nvPr/>
        </p:nvSpPr>
        <p:spPr>
          <a:xfrm xmlns:a="http://schemas.openxmlformats.org/drawingml/2006/main">
            <a:off x="533400" y="3733800"/>
            <a:ext cx="5905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899"/>
          </a:bodyPr>
          <a:lstStyle xmlns:a="http://schemas.openxmlformats.org/drawingml/2006/main"/>
          <a:p xmlns:a="http://schemas.openxmlformats.org/drawingml/2006/main">
            <a:pPr>
              <a:lnSpc>
                <a:spcPct val="105000"/>
              </a:lnSpc>
              <a:buNone/>
              <a:defRPr sz="1800">
                <a:solidFill>
                  <a:srgbClr val="EEF6F3"/>
                </a:solidFill>
                <a:latin typeface="Aptos"/>
                <a:ea typeface="Aptos"/>
                <a:cs typeface="Aptos"/>
              </a:defRPr>
            </a:pPr>
            <a:r>
              <a:rPr sz="1800">
                <a:solidFill>
                  <a:srgbClr val="EEF6F3"/>
                </a:solidFill>
                <a:latin typeface="Aptos"/>
                <a:ea typeface="Aptos"/>
                <a:cs typeface="Aptos"/>
              </a:rPr>
              <a:t>Students connect common sewing-machine parts to functions, understand the purpose of top-thread and bobbin setup, and rehearse controlled, safe operation without assuming one machine model.</a:t>
            </a:r>
          </a:p>
        </p:txBody>
      </p:sp>
      <p:sp>
        <p:nvSpPr>
          <p:cNvPr id="7" name="student-copy">
            <a:extLst xmlns:a="http://schemas.openxmlformats.org/drawingml/2006/main">
              <a:ext uri="{FF2B5EF4-FFF2-40B4-BE49-F238E27FC236}">
                <a16:creationId xmlns:a16="http://schemas.microsoft.com/office/drawing/2014/main" id="{2EBD5151-7B23-4DD9-A4B3-15F5AA84A1F9}"/>
              </a:ext>
            </a:extLst>
          </p:cNvPr>
          <p:cNvSpPr>
            <a:spLocks xmlns:a="http://schemas.openxmlformats.org/drawingml/2006/main" noGrp="1"/>
          </p:cNvSpPr>
          <p:nvPr/>
        </p:nvSpPr>
        <p:spPr>
          <a:xfrm xmlns:a="http://schemas.openxmlformats.org/drawingml/2006/main">
            <a:off x="533400" y="60388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C8D6D2"/>
                </a:solidFill>
                <a:latin typeface="Aptos"/>
                <a:ea typeface="Aptos"/>
                <a:cs typeface="Aptos"/>
              </a:defRPr>
            </a:pPr>
            <a:r>
              <a:rPr sz="1200">
                <a:solidFill>
                  <a:srgbClr val="C8D6D2"/>
                </a:solidFill>
                <a:latin typeface="Aptos"/>
                <a:ea typeface="Aptos"/>
                <a:cs typeface="Aptos"/>
              </a:rPr>
              <a:t>Classroom presentation  •  student copy</a:t>
            </a:r>
          </a:p>
        </p:txBody>
      </p:sp>
      <p:sp>
        <p:nvSpPr>
          <p:cNvPr id="8" name="page">
            <a:extLst xmlns:a="http://schemas.openxmlformats.org/drawingml/2006/main">
              <a:ext uri="{FF2B5EF4-FFF2-40B4-BE49-F238E27FC236}">
                <a16:creationId xmlns:a16="http://schemas.microsoft.com/office/drawing/2014/main" id="{5B4F7573-FC08-47D2-AC86-92496B958110}"/>
              </a:ext>
            </a:extLst>
          </p:cNvPr>
          <p:cNvSpPr>
            <a:spLocks xmlns:a="http://schemas.openxmlformats.org/drawingml/2006/main" noGrp="1"/>
          </p:cNvSpPr>
          <p:nvPr/>
        </p:nvSpPr>
        <p:spPr>
          <a:xfrm xmlns:a="http://schemas.openxmlformats.org/drawingml/2006/main">
            <a:off x="6553200" y="6057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1050" b="1">
                <a:solidFill>
                  <a:srgbClr val="C8D6D2"/>
                </a:solidFill>
                <a:latin typeface="Aptos"/>
                <a:ea typeface="Aptos"/>
                <a:cs typeface="Aptos"/>
              </a:defRPr>
            </a:pPr>
            <a:r>
              <a:rPr sz="1050" b="1">
                <a:solidFill>
                  <a:srgbClr val="C8D6D2"/>
                </a:solidFill>
                <a:latin typeface="Aptos"/>
                <a:ea typeface="Aptos"/>
                <a:cs typeface="Aptos"/>
              </a:rPr>
              <a:t>01</a:t>
            </a:r>
          </a:p>
        </p:txBody>
      </p:sp>
    </p:spTree>
    <p:extLst>
      <p:ext uri="{BB962C8B-B14F-4D97-AF65-F5344CB8AC3E}">
        <p14:creationId xmlns:p14="http://schemas.microsoft.com/office/powerpoint/2010/main" val="1131701973"/>
      </p:ext>
    </p:extLst>
  </p:cSld>
</p:sld>
</file>

<file path=ppt/slides/slide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9" name="top-rule">
            <a:extLst xmlns:a="http://schemas.openxmlformats.org/drawingml/2006/main">
              <a:ext uri="{FF2B5EF4-FFF2-40B4-BE49-F238E27FC236}">
                <a16:creationId xmlns:a16="http://schemas.microsoft.com/office/drawing/2014/main" id="{FDB34F3A-1A9F-4BB4-8471-65AF6754377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49A34"/>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483E84F4-52B0-4E2C-9E6C-5419995635A3}"/>
              </a:ext>
            </a:extLst>
          </p:cNvPr>
          <p:cNvSpPr>
            <a:spLocks xmlns:a="http://schemas.openxmlformats.org/drawingml/2006/main" noGrp="1"/>
          </p:cNvSpPr>
          <p:nvPr/>
        </p:nvSpPr>
        <p:spPr>
          <a:xfrm xmlns:a="http://schemas.openxmlformats.org/drawingml/2006/main">
            <a:off x="533400" y="2857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D49A34"/>
                </a:solidFill>
                <a:latin typeface="Aptos"/>
                <a:ea typeface="Aptos"/>
                <a:cs typeface="Aptos"/>
              </a:defRPr>
            </a:pPr>
            <a:r>
              <a:rPr sz="1050" b="1">
                <a:solidFill>
                  <a:srgbClr val="D49A34"/>
                </a:solidFill>
                <a:latin typeface="Aptos"/>
                <a:ea typeface="Aptos"/>
                <a:cs typeface="Aptos"/>
              </a:rPr>
              <a:t>TODAY’S LEARNING PATH</a:t>
            </a:r>
          </a:p>
        </p:txBody>
      </p:sp>
      <p:sp>
        <p:nvSpPr>
          <p:cNvPr id="3" name="title">
            <a:extLst xmlns:a="http://schemas.openxmlformats.org/drawingml/2006/main">
              <a:ext uri="{FF2B5EF4-FFF2-40B4-BE49-F238E27FC236}">
                <a16:creationId xmlns:a16="http://schemas.microsoft.com/office/drawing/2014/main" id="{37F18029-FC1E-495B-8B38-9FEB63D82AC0}"/>
              </a:ext>
            </a:extLst>
          </p:cNvPr>
          <p:cNvSpPr>
            <a:spLocks xmlns:a="http://schemas.openxmlformats.org/drawingml/2006/main" noGrp="1"/>
          </p:cNvSpPr>
          <p:nvPr/>
        </p:nvSpPr>
        <p:spPr>
          <a:xfrm xmlns:a="http://schemas.openxmlformats.org/drawingml/2006/main">
            <a:off x="533400" y="742950"/>
            <a:ext cx="828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850" b="1">
                <a:solidFill>
                  <a:srgbClr val="20302E"/>
                </a:solidFill>
                <a:latin typeface="Aptos Display"/>
                <a:ea typeface="Aptos Display"/>
                <a:cs typeface="Aptos Display"/>
              </a:defRPr>
            </a:pPr>
            <a:r>
              <a:rPr sz="2850" b="1">
                <a:solidFill>
                  <a:srgbClr val="20302E"/>
                </a:solidFill>
                <a:latin typeface="Aptos Display"/>
                <a:ea typeface="Aptos Display"/>
                <a:cs typeface="Aptos Display"/>
              </a:rPr>
              <a:t>Three ideas build one stronger decision</a:t>
            </a:r>
          </a:p>
        </p:txBody>
      </p:sp>
      <p:sp>
        <p:nvSpPr>
          <p:cNvPr id="4" name="idea-number-1">
            <a:extLst xmlns:a="http://schemas.openxmlformats.org/drawingml/2006/main">
              <a:ext uri="{FF2B5EF4-FFF2-40B4-BE49-F238E27FC236}">
                <a16:creationId xmlns:a16="http://schemas.microsoft.com/office/drawing/2014/main" id="{BFCACA2B-FEAA-4C78-AB48-FC77DA9C3E4B}"/>
              </a:ext>
            </a:extLst>
          </p:cNvPr>
          <p:cNvSpPr>
            <a:spLocks xmlns:a="http://schemas.openxmlformats.org/drawingml/2006/main" noGrp="1"/>
          </p:cNvSpPr>
          <p:nvPr/>
        </p:nvSpPr>
        <p:spPr>
          <a:xfrm xmlns:a="http://schemas.openxmlformats.org/drawingml/2006/main">
            <a:off x="590550" y="18859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250" b="1">
                <a:solidFill>
                  <a:srgbClr val="146B66"/>
                </a:solidFill>
                <a:latin typeface="Aptos"/>
                <a:ea typeface="Aptos"/>
                <a:cs typeface="Aptos"/>
              </a:defRPr>
            </a:pPr>
            <a:r>
              <a:rPr sz="2250" b="1">
                <a:solidFill>
                  <a:srgbClr val="146B66"/>
                </a:solidFill>
                <a:latin typeface="Aptos"/>
                <a:ea typeface="Aptos"/>
                <a:cs typeface="Aptos"/>
              </a:rPr>
              <a:t>1</a:t>
            </a:r>
          </a:p>
        </p:txBody>
      </p:sp>
      <p:sp>
        <p:nvSpPr>
          <p:cNvPr id="5" name="idea-line-1">
            <a:extLst xmlns:a="http://schemas.openxmlformats.org/drawingml/2006/main">
              <a:ext uri="{FF2B5EF4-FFF2-40B4-BE49-F238E27FC236}">
                <a16:creationId xmlns:a16="http://schemas.microsoft.com/office/drawing/2014/main" id="{41FD0914-2AC4-499A-A00B-FECC3E991A8C}"/>
              </a:ext>
            </a:extLst>
          </p:cNvPr>
          <p:cNvSpPr>
            <a:spLocks xmlns:a="http://schemas.openxmlformats.org/drawingml/2006/main" noGrp="1"/>
          </p:cNvSpPr>
          <p:nvPr/>
        </p:nvSpPr>
        <p:spPr>
          <a:xfrm xmlns:a="http://schemas.openxmlformats.org/drawingml/2006/main">
            <a:off x="1257300" y="2514600"/>
            <a:ext cx="4953000" cy="0"/>
          </a:xfrm>
          <a:prstGeom xmlns:a="http://schemas.openxmlformats.org/drawingml/2006/main" prst="line">
            <a:avLst/>
          </a:prstGeom>
          <a:noFill xmlns:a="http://schemas.openxmlformats.org/drawingml/2006/main"/>
          <a:ln xmlns:a="http://schemas.openxmlformats.org/drawingml/2006/main" w="28575">
            <a:solidFill>
              <a:srgbClr val="146B66"/>
            </a:solidFill>
            <a:prstDash val="solid"/>
          </a:ln>
        </p:spPr>
      </p:sp>
      <p:sp>
        <p:nvSpPr>
          <p:cNvPr id="6" name="idea-title-1">
            <a:extLst xmlns:a="http://schemas.openxmlformats.org/drawingml/2006/main">
              <a:ext uri="{FF2B5EF4-FFF2-40B4-BE49-F238E27FC236}">
                <a16:creationId xmlns:a16="http://schemas.microsoft.com/office/drawing/2014/main" id="{760E2B39-2995-4276-A9A1-F7B9B5C058DB}"/>
              </a:ext>
            </a:extLst>
          </p:cNvPr>
          <p:cNvSpPr>
            <a:spLocks xmlns:a="http://schemas.openxmlformats.org/drawingml/2006/main" noGrp="1"/>
          </p:cNvSpPr>
          <p:nvPr/>
        </p:nvSpPr>
        <p:spPr>
          <a:xfrm xmlns:a="http://schemas.openxmlformats.org/drawingml/2006/main">
            <a:off x="1466850" y="18097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1950" b="1">
                <a:solidFill>
                  <a:srgbClr val="20302E"/>
                </a:solidFill>
                <a:latin typeface="Aptos Display"/>
                <a:ea typeface="Aptos Display"/>
                <a:cs typeface="Aptos Display"/>
              </a:defRPr>
            </a:pPr>
            <a:r>
              <a:rPr sz="1950" b="1">
                <a:solidFill>
                  <a:srgbClr val="20302E"/>
                </a:solidFill>
                <a:latin typeface="Aptos Display"/>
                <a:ea typeface="Aptos Display"/>
                <a:cs typeface="Aptos Display"/>
              </a:rPr>
              <a:t>Machine Parts and Their Functions</a:t>
            </a:r>
          </a:p>
        </p:txBody>
      </p:sp>
      <p:sp>
        <p:nvSpPr>
          <p:cNvPr id="7" name="idea-number-2">
            <a:extLst xmlns:a="http://schemas.openxmlformats.org/drawingml/2006/main">
              <a:ext uri="{FF2B5EF4-FFF2-40B4-BE49-F238E27FC236}">
                <a16:creationId xmlns:a16="http://schemas.microsoft.com/office/drawing/2014/main" id="{D8E64776-609C-4CDA-8370-EF724089829E}"/>
              </a:ext>
            </a:extLst>
          </p:cNvPr>
          <p:cNvSpPr>
            <a:spLocks xmlns:a="http://schemas.openxmlformats.org/drawingml/2006/main" noGrp="1"/>
          </p:cNvSpPr>
          <p:nvPr/>
        </p:nvSpPr>
        <p:spPr>
          <a:xfrm xmlns:a="http://schemas.openxmlformats.org/drawingml/2006/main">
            <a:off x="590550" y="29527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250" b="1">
                <a:solidFill>
                  <a:srgbClr val="BF4C5A"/>
                </a:solidFill>
                <a:latin typeface="Aptos"/>
                <a:ea typeface="Aptos"/>
                <a:cs typeface="Aptos"/>
              </a:defRPr>
            </a:pPr>
            <a:r>
              <a:rPr sz="2250" b="1">
                <a:solidFill>
                  <a:srgbClr val="BF4C5A"/>
                </a:solidFill>
                <a:latin typeface="Aptos"/>
                <a:ea typeface="Aptos"/>
                <a:cs typeface="Aptos"/>
              </a:rPr>
              <a:t>2</a:t>
            </a:r>
          </a:p>
        </p:txBody>
      </p:sp>
      <p:sp>
        <p:nvSpPr>
          <p:cNvPr id="8" name="idea-line-2">
            <a:extLst xmlns:a="http://schemas.openxmlformats.org/drawingml/2006/main">
              <a:ext uri="{FF2B5EF4-FFF2-40B4-BE49-F238E27FC236}">
                <a16:creationId xmlns:a16="http://schemas.microsoft.com/office/drawing/2014/main" id="{2AF5131A-3428-4691-9BED-4A60681DF3D6}"/>
              </a:ext>
            </a:extLst>
          </p:cNvPr>
          <p:cNvSpPr>
            <a:spLocks xmlns:a="http://schemas.openxmlformats.org/drawingml/2006/main" noGrp="1"/>
          </p:cNvSpPr>
          <p:nvPr/>
        </p:nvSpPr>
        <p:spPr>
          <a:xfrm xmlns:a="http://schemas.openxmlformats.org/drawingml/2006/main">
            <a:off x="1257300" y="3581400"/>
            <a:ext cx="4953000" cy="0"/>
          </a:xfrm>
          <a:prstGeom xmlns:a="http://schemas.openxmlformats.org/drawingml/2006/main" prst="line">
            <a:avLst/>
          </a:prstGeom>
          <a:noFill xmlns:a="http://schemas.openxmlformats.org/drawingml/2006/main"/>
          <a:ln xmlns:a="http://schemas.openxmlformats.org/drawingml/2006/main" w="28575">
            <a:solidFill>
              <a:srgbClr val="BF4C5A"/>
            </a:solidFill>
            <a:prstDash val="solid"/>
          </a:ln>
        </p:spPr>
      </p:sp>
      <p:sp>
        <p:nvSpPr>
          <p:cNvPr id="9" name="idea-title-2">
            <a:extLst xmlns:a="http://schemas.openxmlformats.org/drawingml/2006/main">
              <a:ext uri="{FF2B5EF4-FFF2-40B4-BE49-F238E27FC236}">
                <a16:creationId xmlns:a16="http://schemas.microsoft.com/office/drawing/2014/main" id="{F6F77966-A285-4F8C-A7A7-AA81BB23056B}"/>
              </a:ext>
            </a:extLst>
          </p:cNvPr>
          <p:cNvSpPr>
            <a:spLocks xmlns:a="http://schemas.openxmlformats.org/drawingml/2006/main" noGrp="1"/>
          </p:cNvSpPr>
          <p:nvPr/>
        </p:nvSpPr>
        <p:spPr>
          <a:xfrm xmlns:a="http://schemas.openxmlformats.org/drawingml/2006/main">
            <a:off x="1466850" y="28765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1950" b="1">
                <a:solidFill>
                  <a:srgbClr val="20302E"/>
                </a:solidFill>
                <a:latin typeface="Aptos Display"/>
                <a:ea typeface="Aptos Display"/>
                <a:cs typeface="Aptos Display"/>
              </a:defRPr>
            </a:pPr>
            <a:r>
              <a:rPr sz="1950" b="1">
                <a:solidFill>
                  <a:srgbClr val="20302E"/>
                </a:solidFill>
                <a:latin typeface="Aptos Display"/>
                <a:ea typeface="Aptos Display"/>
                <a:cs typeface="Aptos Display"/>
              </a:rPr>
              <a:t>Threading, Bobbins and Setup</a:t>
            </a:r>
          </a:p>
        </p:txBody>
      </p:sp>
      <p:sp>
        <p:nvSpPr>
          <p:cNvPr id="10" name="idea-number-3">
            <a:extLst xmlns:a="http://schemas.openxmlformats.org/drawingml/2006/main">
              <a:ext uri="{FF2B5EF4-FFF2-40B4-BE49-F238E27FC236}">
                <a16:creationId xmlns:a16="http://schemas.microsoft.com/office/drawing/2014/main" id="{41F400B9-60EF-4113-89FB-CA84F3E8E0F7}"/>
              </a:ext>
            </a:extLst>
          </p:cNvPr>
          <p:cNvSpPr>
            <a:spLocks xmlns:a="http://schemas.openxmlformats.org/drawingml/2006/main" noGrp="1"/>
          </p:cNvSpPr>
          <p:nvPr/>
        </p:nvSpPr>
        <p:spPr>
          <a:xfrm xmlns:a="http://schemas.openxmlformats.org/drawingml/2006/main">
            <a:off x="590550" y="40195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250" b="1">
                <a:solidFill>
                  <a:srgbClr val="146B66"/>
                </a:solidFill>
                <a:latin typeface="Aptos"/>
                <a:ea typeface="Aptos"/>
                <a:cs typeface="Aptos"/>
              </a:defRPr>
            </a:pPr>
            <a:r>
              <a:rPr sz="2250" b="1">
                <a:solidFill>
                  <a:srgbClr val="146B66"/>
                </a:solidFill>
                <a:latin typeface="Aptos"/>
                <a:ea typeface="Aptos"/>
                <a:cs typeface="Aptos"/>
              </a:rPr>
              <a:t>3</a:t>
            </a:r>
          </a:p>
        </p:txBody>
      </p:sp>
      <p:sp>
        <p:nvSpPr>
          <p:cNvPr id="11" name="idea-line-3">
            <a:extLst xmlns:a="http://schemas.openxmlformats.org/drawingml/2006/main">
              <a:ext uri="{FF2B5EF4-FFF2-40B4-BE49-F238E27FC236}">
                <a16:creationId xmlns:a16="http://schemas.microsoft.com/office/drawing/2014/main" id="{12124528-39AC-462E-AD8C-65ABDC92FD33}"/>
              </a:ext>
            </a:extLst>
          </p:cNvPr>
          <p:cNvSpPr>
            <a:spLocks xmlns:a="http://schemas.openxmlformats.org/drawingml/2006/main" noGrp="1"/>
          </p:cNvSpPr>
          <p:nvPr/>
        </p:nvSpPr>
        <p:spPr>
          <a:xfrm xmlns:a="http://schemas.openxmlformats.org/drawingml/2006/main">
            <a:off x="1257300" y="4648200"/>
            <a:ext cx="4953000" cy="0"/>
          </a:xfrm>
          <a:prstGeom xmlns:a="http://schemas.openxmlformats.org/drawingml/2006/main" prst="line">
            <a:avLst/>
          </a:prstGeom>
          <a:noFill xmlns:a="http://schemas.openxmlformats.org/drawingml/2006/main"/>
          <a:ln xmlns:a="http://schemas.openxmlformats.org/drawingml/2006/main" w="28575">
            <a:solidFill>
              <a:srgbClr val="146B66"/>
            </a:solidFill>
            <a:prstDash val="solid"/>
          </a:ln>
        </p:spPr>
      </p:sp>
      <p:sp>
        <p:nvSpPr>
          <p:cNvPr id="12" name="idea-title-3">
            <a:extLst xmlns:a="http://schemas.openxmlformats.org/drawingml/2006/main">
              <a:ext uri="{FF2B5EF4-FFF2-40B4-BE49-F238E27FC236}">
                <a16:creationId xmlns:a16="http://schemas.microsoft.com/office/drawing/2014/main" id="{FCB66621-1355-424A-86FC-E60DF5B22242}"/>
              </a:ext>
            </a:extLst>
          </p:cNvPr>
          <p:cNvSpPr>
            <a:spLocks xmlns:a="http://schemas.openxmlformats.org/drawingml/2006/main" noGrp="1"/>
          </p:cNvSpPr>
          <p:nvPr/>
        </p:nvSpPr>
        <p:spPr>
          <a:xfrm xmlns:a="http://schemas.openxmlformats.org/drawingml/2006/main">
            <a:off x="1466850" y="39433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1950" b="1">
                <a:solidFill>
                  <a:srgbClr val="20302E"/>
                </a:solidFill>
                <a:latin typeface="Aptos Display"/>
                <a:ea typeface="Aptos Display"/>
                <a:cs typeface="Aptos Display"/>
              </a:defRPr>
            </a:pPr>
            <a:r>
              <a:rPr sz="1950" b="1">
                <a:solidFill>
                  <a:srgbClr val="20302E"/>
                </a:solidFill>
                <a:latin typeface="Aptos Display"/>
                <a:ea typeface="Aptos Display"/>
                <a:cs typeface="Aptos Display"/>
              </a:rPr>
              <a:t>Controlling Speed, Direction and Safe Operation</a:t>
            </a:r>
          </a:p>
        </p:txBody>
      </p:sp>
      <p:sp>
        <p:nvSpPr>
          <p:cNvPr id="13" name="warm-up">
            <a:extLst xmlns:a="http://schemas.openxmlformats.org/drawingml/2006/main">
              <a:ext uri="{FF2B5EF4-FFF2-40B4-BE49-F238E27FC236}">
                <a16:creationId xmlns:a16="http://schemas.microsoft.com/office/drawing/2014/main" id="{ABA120DE-9226-46B0-A984-CEBE945775A9}"/>
              </a:ext>
            </a:extLst>
          </p:cNvPr>
          <p:cNvSpPr>
            <a:spLocks xmlns:a="http://schemas.openxmlformats.org/drawingml/2006/main" noGrp="1"/>
          </p:cNvSpPr>
          <p:nvPr/>
        </p:nvSpPr>
        <p:spPr>
          <a:xfrm xmlns:a="http://schemas.openxmlformats.org/drawingml/2006/main">
            <a:off x="7067550" y="1733550"/>
            <a:ext cx="4591050" cy="3371850"/>
          </a:xfrm>
          <a:prstGeom xmlns:a="http://schemas.openxmlformats.org/drawingml/2006/main" prst="roundRect">
            <a:avLst>
              <a:gd name="adj" fmla="val 4520"/>
            </a:avLst>
          </a:prstGeom>
          <a:solidFill xmlns:a="http://schemas.openxmlformats.org/drawingml/2006/main">
            <a:srgbClr val="0C4E4A"/>
          </a:solidFill>
          <a:ln xmlns:a="http://schemas.openxmlformats.org/drawingml/2006/main" w="9525">
            <a:solidFill>
              <a:srgbClr val="0C4E4A"/>
            </a:solidFill>
            <a:prstDash val="solid"/>
          </a:ln>
        </p:spPr>
      </p:sp>
      <p:sp>
        <p:nvSpPr>
          <p:cNvPr id="14" name="warm-up-label">
            <a:extLst xmlns:a="http://schemas.openxmlformats.org/drawingml/2006/main">
              <a:ext uri="{FF2B5EF4-FFF2-40B4-BE49-F238E27FC236}">
                <a16:creationId xmlns:a16="http://schemas.microsoft.com/office/drawing/2014/main" id="{408B1B94-22E8-4E7D-B6B7-D49875DFFC0D}"/>
              </a:ext>
            </a:extLst>
          </p:cNvPr>
          <p:cNvSpPr>
            <a:spLocks xmlns:a="http://schemas.openxmlformats.org/drawingml/2006/main" noGrp="1"/>
          </p:cNvSpPr>
          <p:nvPr/>
        </p:nvSpPr>
        <p:spPr>
          <a:xfrm xmlns:a="http://schemas.openxmlformats.org/drawingml/2006/main">
            <a:off x="7448550" y="2171700"/>
            <a:ext cx="361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FE4A4"/>
                </a:solidFill>
                <a:latin typeface="Aptos"/>
                <a:ea typeface="Aptos"/>
                <a:cs typeface="Aptos"/>
              </a:defRPr>
            </a:pPr>
            <a:r>
              <a:rPr sz="1050" b="1">
                <a:solidFill>
                  <a:srgbClr val="FFE4A4"/>
                </a:solidFill>
                <a:latin typeface="Aptos"/>
                <a:ea typeface="Aptos"/>
                <a:cs typeface="Aptos"/>
              </a:rPr>
              <a:t>RETRIEVAL WARM-UP</a:t>
            </a:r>
          </a:p>
        </p:txBody>
      </p:sp>
      <p:sp>
        <p:nvSpPr>
          <p:cNvPr id="15" name="warm-up-question">
            <a:extLst xmlns:a="http://schemas.openxmlformats.org/drawingml/2006/main">
              <a:ext uri="{FF2B5EF4-FFF2-40B4-BE49-F238E27FC236}">
                <a16:creationId xmlns:a16="http://schemas.microsoft.com/office/drawing/2014/main" id="{EEAB2CA8-7EF3-4656-9B0D-F193C84EAC75}"/>
              </a:ext>
            </a:extLst>
          </p:cNvPr>
          <p:cNvSpPr>
            <a:spLocks xmlns:a="http://schemas.openxmlformats.org/drawingml/2006/main" noGrp="1"/>
          </p:cNvSpPr>
          <p:nvPr/>
        </p:nvSpPr>
        <p:spPr>
          <a:xfrm xmlns:a="http://schemas.openxmlformats.org/drawingml/2006/main">
            <a:off x="7448550" y="2647950"/>
            <a:ext cx="3524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Students can choose approved textiles tools by task, material, quality and safe control.</a:t>
            </a:r>
          </a:p>
        </p:txBody>
      </p:sp>
      <p:sp>
        <p:nvSpPr>
          <p:cNvPr id="16" name="warm-up-instruction">
            <a:extLst xmlns:a="http://schemas.openxmlformats.org/drawingml/2006/main">
              <a:ext uri="{FF2B5EF4-FFF2-40B4-BE49-F238E27FC236}">
                <a16:creationId xmlns:a16="http://schemas.microsoft.com/office/drawing/2014/main" id="{29DF7D0B-BC40-4DC0-B4AB-AF546271FB6A}"/>
              </a:ext>
            </a:extLst>
          </p:cNvPr>
          <p:cNvSpPr>
            <a:spLocks xmlns:a="http://schemas.openxmlformats.org/drawingml/2006/main" noGrp="1"/>
          </p:cNvSpPr>
          <p:nvPr/>
        </p:nvSpPr>
        <p:spPr>
          <a:xfrm xmlns:a="http://schemas.openxmlformats.org/drawingml/2006/main">
            <a:off x="7448550" y="4343400"/>
            <a:ext cx="352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a:solidFill>
                  <a:srgbClr val="EEF6F3"/>
                </a:solidFill>
                <a:latin typeface="Aptos"/>
                <a:ea typeface="Aptos"/>
                <a:cs typeface="Aptos"/>
              </a:defRPr>
            </a:pPr>
            <a:r>
              <a:rPr sz="1350">
                <a:solidFill>
                  <a:srgbClr val="EEF6F3"/>
                </a:solidFill>
                <a:latin typeface="Aptos"/>
                <a:ea typeface="Aptos"/>
                <a:cs typeface="Aptos"/>
              </a:rPr>
              <a:t>Think silently. Name one useful idea. Be ready to explain why it matters.</a:t>
            </a:r>
          </a:p>
        </p:txBody>
      </p:sp>
      <p:sp>
        <p:nvSpPr>
          <p:cNvPr id="17" name="footer-module">
            <a:extLst xmlns:a="http://schemas.openxmlformats.org/drawingml/2006/main">
              <a:ext uri="{FF2B5EF4-FFF2-40B4-BE49-F238E27FC236}">
                <a16:creationId xmlns:a16="http://schemas.microsoft.com/office/drawing/2014/main" id="{36A1FA9E-E768-4D31-AA51-E68E92EA03A2}"/>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66662"/>
                </a:solidFill>
                <a:latin typeface="Aptos"/>
                <a:ea typeface="Aptos"/>
                <a:cs typeface="Aptos"/>
              </a:defRPr>
            </a:pPr>
            <a:r>
              <a:rPr sz="900" b="1">
                <a:solidFill>
                  <a:srgbClr val="566662"/>
                </a:solidFill>
                <a:latin typeface="Aptos"/>
                <a:ea typeface="Aptos"/>
                <a:cs typeface="Aptos"/>
              </a:rPr>
              <a:t>SEW AWESOME  •  MODULE 03</a:t>
            </a:r>
          </a:p>
        </p:txBody>
      </p:sp>
      <p:sp>
        <p:nvSpPr>
          <p:cNvPr id="18" name="footer-page">
            <a:extLst xmlns:a="http://schemas.openxmlformats.org/drawingml/2006/main">
              <a:ext uri="{FF2B5EF4-FFF2-40B4-BE49-F238E27FC236}">
                <a16:creationId xmlns:a16="http://schemas.microsoft.com/office/drawing/2014/main" id="{6BFEE861-151D-4DF5-9AC6-4A63EA9CB3F8}"/>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66662"/>
                </a:solidFill>
                <a:latin typeface="Aptos"/>
                <a:ea typeface="Aptos"/>
                <a:cs typeface="Aptos"/>
              </a:defRPr>
            </a:pPr>
            <a:r>
              <a:rPr sz="900" b="1">
                <a:solidFill>
                  <a:srgbClr val="566662"/>
                </a:solidFill>
                <a:latin typeface="Aptos"/>
                <a:ea typeface="Aptos"/>
                <a:cs typeface="Aptos"/>
              </a:rPr>
              <a:t>02</a:t>
            </a:r>
          </a:p>
        </p:txBody>
      </p:sp>
    </p:spTree>
    <p:extLst>
      <p:ext uri="{BB962C8B-B14F-4D97-AF65-F5344CB8AC3E}">
        <p14:creationId xmlns:p14="http://schemas.microsoft.com/office/powerpoint/2010/main" val="1332201352"/>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4" name="top-rule">
            <a:extLst xmlns:a="http://schemas.openxmlformats.org/drawingml/2006/main">
              <a:ext uri="{FF2B5EF4-FFF2-40B4-BE49-F238E27FC236}">
                <a16:creationId xmlns:a16="http://schemas.microsoft.com/office/drawing/2014/main" id="{95E6D201-78AD-4A41-9CC9-932D30015FC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46B66"/>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13A6A8DB-34EA-42F6-BA57-72BE238235CF}"/>
              </a:ext>
            </a:extLst>
          </p:cNvPr>
          <p:cNvSpPr>
            <a:spLocks xmlns:a="http://schemas.openxmlformats.org/drawingml/2006/main" noGrp="1"/>
          </p:cNvSpPr>
          <p:nvPr/>
        </p:nvSpPr>
        <p:spPr>
          <a:xfrm xmlns:a="http://schemas.openxmlformats.org/drawingml/2006/main">
            <a:off x="533400" y="2857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46B66"/>
                </a:solidFill>
                <a:latin typeface="Aptos"/>
                <a:ea typeface="Aptos"/>
                <a:cs typeface="Aptos"/>
              </a:defRPr>
            </a:pPr>
            <a:r>
              <a:rPr sz="1050" b="1">
                <a:solidFill>
                  <a:srgbClr val="146B66"/>
                </a:solidFill>
                <a:latin typeface="Aptos"/>
                <a:ea typeface="Aptos"/>
                <a:cs typeface="Aptos"/>
              </a:rPr>
              <a:t>1. MACHINE PARTS AND THEIR FUNCTIONS</a:t>
            </a:r>
          </a:p>
        </p:txBody>
      </p:sp>
      <p:sp>
        <p:nvSpPr>
          <p:cNvPr id="3" name="title">
            <a:extLst xmlns:a="http://schemas.openxmlformats.org/drawingml/2006/main">
              <a:ext uri="{FF2B5EF4-FFF2-40B4-BE49-F238E27FC236}">
                <a16:creationId xmlns:a16="http://schemas.microsoft.com/office/drawing/2014/main" id="{5267F945-B382-4FAA-90F6-A5C8F6C2FF30}"/>
              </a:ext>
            </a:extLst>
          </p:cNvPr>
          <p:cNvSpPr>
            <a:spLocks xmlns:a="http://schemas.openxmlformats.org/drawingml/2006/main" noGrp="1"/>
          </p:cNvSpPr>
          <p:nvPr/>
        </p:nvSpPr>
        <p:spPr>
          <a:xfrm xmlns:a="http://schemas.openxmlformats.org/drawingml/2006/main">
            <a:off x="533400" y="72390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850" b="1">
                <a:solidFill>
                  <a:srgbClr val="20302E"/>
                </a:solidFill>
                <a:latin typeface="Aptos Display"/>
                <a:ea typeface="Aptos Display"/>
                <a:cs typeface="Aptos Display"/>
              </a:defRPr>
            </a:pPr>
            <a:r>
              <a:rPr sz="2850" b="1">
                <a:solidFill>
                  <a:srgbClr val="20302E"/>
                </a:solidFill>
                <a:latin typeface="Aptos Display"/>
                <a:ea typeface="Aptos Display"/>
                <a:cs typeface="Aptos Display"/>
              </a:rPr>
              <a:t>Function before location</a:t>
            </a:r>
          </a:p>
        </p:txBody>
      </p:sp>
      <p:pic>
        <p:nvPicPr>
          <p:cNvPr id="17" name="Teaching visual - A translucent sewing-machine cutaway reveals the thread path, needle and bobbin area, feed system and handwheel mechanism."/>
          <p:cNvPicPr>
            <a:picLocks xmlns:a="http://schemas.openxmlformats.org/drawingml/2006/main" noChangeAspect="1"/>
          </p:cNvPicPr>
          <p:nvPr/>
        </p:nvPicPr>
        <p:blipFill>
          <a:blip xmlns:r="http://schemas.openxmlformats.org/officeDocument/2006/relationships" xmlns:a="http://schemas.openxmlformats.org/drawingml/2006/main" r:embed="Rad348c1ba13341c7"/>
          <a:stretch xmlns:a="http://schemas.openxmlformats.org/drawingml/2006/main"/>
        </p:blipFill>
        <p:spPr>
          <a:xfrm xmlns:a="http://schemas.openxmlformats.org/drawingml/2006/main">
            <a:off x="6610350" y="1698625"/>
            <a:ext cx="5048250" cy="3365500"/>
          </a:xfrm>
          <a:prstGeom xmlns:a="http://schemas.openxmlformats.org/drawingml/2006/main" prst="roundRect">
            <a:avLst>
              <a:gd name="adj" fmla="val 3077"/>
            </a:avLst>
          </a:prstGeom>
        </p:spPr>
      </p:pic>
      <p:sp>
        <p:nvSpPr>
          <p:cNvPr id="5" name="theory">
            <a:extLst xmlns:a="http://schemas.openxmlformats.org/drawingml/2006/main">
              <a:ext uri="{FF2B5EF4-FFF2-40B4-BE49-F238E27FC236}">
                <a16:creationId xmlns:a16="http://schemas.microsoft.com/office/drawing/2014/main" id="{94EA4823-0157-4578-91D6-7D3FBFB79BDA}"/>
              </a:ext>
            </a:extLst>
          </p:cNvPr>
          <p:cNvSpPr>
            <a:spLocks xmlns:a="http://schemas.openxmlformats.org/drawingml/2006/main" noGrp="1"/>
          </p:cNvSpPr>
          <p:nvPr/>
        </p:nvSpPr>
        <p:spPr>
          <a:xfrm xmlns:a="http://schemas.openxmlformats.org/drawingml/2006/main">
            <a:off x="533400" y="1562100"/>
            <a:ext cx="56388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6000"/>
              </a:lnSpc>
              <a:buNone/>
              <a:defRPr sz="1500">
                <a:solidFill>
                  <a:srgbClr val="20302E"/>
                </a:solidFill>
                <a:latin typeface="Aptos"/>
                <a:ea typeface="Aptos"/>
                <a:cs typeface="Aptos"/>
              </a:defRPr>
            </a:pPr>
            <a:r>
              <a:rPr sz="1500">
                <a:solidFill>
                  <a:srgbClr val="20302E"/>
                </a:solidFill>
                <a:latin typeface="Aptos"/>
                <a:ea typeface="Aptos"/>
                <a:cs typeface="Aptos"/>
              </a:rPr>
              <a:t>A sewing machine is a system: controls, thread-handling parts and fabric-handling parts work together to form consistent stitches. Models vary, so students learn functions first and then match those functions to the labelled machine demonstrated in class. The needle carries the upper thread through the fabric. The presser foot holds fabric against the feed dogs.</a:t>
            </a:r>
          </a:p>
        </p:txBody>
      </p:sp>
      <p:sp>
        <p:nvSpPr>
          <p:cNvPr id="6" name="notice">
            <a:extLst xmlns:a="http://schemas.openxmlformats.org/drawingml/2006/main">
              <a:ext uri="{FF2B5EF4-FFF2-40B4-BE49-F238E27FC236}">
                <a16:creationId xmlns:a16="http://schemas.microsoft.com/office/drawing/2014/main" id="{D4C82FCA-64F5-47ED-86EC-9689C9A73C0C}"/>
              </a:ext>
            </a:extLst>
          </p:cNvPr>
          <p:cNvSpPr>
            <a:spLocks xmlns:a="http://schemas.openxmlformats.org/drawingml/2006/main" noGrp="1"/>
          </p:cNvSpPr>
          <p:nvPr/>
        </p:nvSpPr>
        <p:spPr>
          <a:xfrm xmlns:a="http://schemas.openxmlformats.org/drawingml/2006/main">
            <a:off x="533400" y="4095750"/>
            <a:ext cx="5638800" cy="1085850"/>
          </a:xfrm>
          <a:prstGeom xmlns:a="http://schemas.openxmlformats.org/drawingml/2006/main" prst="roundRect">
            <a:avLst>
              <a:gd name="adj" fmla="val 10526"/>
            </a:avLst>
          </a:prstGeom>
          <a:solidFill xmlns:a="http://schemas.openxmlformats.org/drawingml/2006/main">
            <a:srgbClr val="EEF5F1"/>
          </a:solidFill>
          <a:ln xmlns:a="http://schemas.openxmlformats.org/drawingml/2006/main" w="9525">
            <a:solidFill>
              <a:srgbClr val="B9CEC7"/>
            </a:solidFill>
            <a:prstDash val="solid"/>
          </a:ln>
        </p:spPr>
      </p:sp>
      <p:sp>
        <p:nvSpPr>
          <p:cNvPr id="7" name="notice-label">
            <a:extLst xmlns:a="http://schemas.openxmlformats.org/drawingml/2006/main">
              <a:ext uri="{FF2B5EF4-FFF2-40B4-BE49-F238E27FC236}">
                <a16:creationId xmlns:a16="http://schemas.microsoft.com/office/drawing/2014/main" id="{4FF4C995-32E7-4FE1-B1AA-F7E27ADEB35D}"/>
              </a:ext>
            </a:extLst>
          </p:cNvPr>
          <p:cNvSpPr>
            <a:spLocks xmlns:a="http://schemas.openxmlformats.org/drawingml/2006/main" noGrp="1"/>
          </p:cNvSpPr>
          <p:nvPr/>
        </p:nvSpPr>
        <p:spPr>
          <a:xfrm xmlns:a="http://schemas.openxmlformats.org/drawingml/2006/main">
            <a:off x="723900" y="42481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BF4C5A"/>
                </a:solidFill>
                <a:latin typeface="Aptos"/>
                <a:ea typeface="Aptos"/>
                <a:cs typeface="Aptos"/>
              </a:defRPr>
            </a:pPr>
            <a:r>
              <a:rPr sz="900" b="1">
                <a:solidFill>
                  <a:srgbClr val="BF4C5A"/>
                </a:solidFill>
                <a:latin typeface="Aptos"/>
                <a:ea typeface="Aptos"/>
                <a:cs typeface="Aptos"/>
              </a:rPr>
              <a:t>LOOK AT THE VISUAL</a:t>
            </a:r>
          </a:p>
        </p:txBody>
      </p:sp>
      <p:sp>
        <p:nvSpPr>
          <p:cNvPr id="8" name="notice-text">
            <a:extLst xmlns:a="http://schemas.openxmlformats.org/drawingml/2006/main">
              <a:ext uri="{FF2B5EF4-FFF2-40B4-BE49-F238E27FC236}">
                <a16:creationId xmlns:a16="http://schemas.microsoft.com/office/drawing/2014/main" id="{6DD7E463-1211-46B8-AFDE-9A08522D7C41}"/>
              </a:ext>
            </a:extLst>
          </p:cNvPr>
          <p:cNvSpPr>
            <a:spLocks xmlns:a="http://schemas.openxmlformats.org/drawingml/2006/main" noGrp="1"/>
          </p:cNvSpPr>
          <p:nvPr/>
        </p:nvSpPr>
        <p:spPr>
          <a:xfrm xmlns:a="http://schemas.openxmlformats.org/drawingml/2006/main">
            <a:off x="723900" y="4476750"/>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20302E"/>
                </a:solidFill>
                <a:latin typeface="Aptos"/>
                <a:ea typeface="Aptos"/>
                <a:cs typeface="Aptos"/>
              </a:defRPr>
            </a:pPr>
            <a:r>
              <a:rPr sz="1275" b="1">
                <a:solidFill>
                  <a:srgbClr val="20302E"/>
                </a:solidFill>
                <a:latin typeface="Aptos"/>
                <a:ea typeface="Aptos"/>
                <a:cs typeface="Aptos"/>
              </a:rPr>
              <a:t>Study the thread path and mechanisms. Which functions must be matched to the teacher-labelled class machine rather than assumed from this generic cutaway?</a:t>
            </a:r>
          </a:p>
        </p:txBody>
      </p:sp>
      <p:sp>
        <p:nvSpPr>
          <p:cNvPr id="9" name="prompt-band">
            <a:extLst xmlns:a="http://schemas.openxmlformats.org/drawingml/2006/main">
              <a:ext uri="{FF2B5EF4-FFF2-40B4-BE49-F238E27FC236}">
                <a16:creationId xmlns:a16="http://schemas.microsoft.com/office/drawing/2014/main" id="{F1CAA590-F429-4390-AB53-4E3AC94C2A2F}"/>
              </a:ext>
            </a:extLst>
          </p:cNvPr>
          <p:cNvSpPr>
            <a:spLocks xmlns:a="http://schemas.openxmlformats.org/drawingml/2006/main" noGrp="1"/>
          </p:cNvSpPr>
          <p:nvPr/>
        </p:nvSpPr>
        <p:spPr>
          <a:xfrm xmlns:a="http://schemas.openxmlformats.org/drawingml/2006/main">
            <a:off x="533400" y="5467350"/>
            <a:ext cx="11125200" cy="628650"/>
          </a:xfrm>
          <a:prstGeom xmlns:a="http://schemas.openxmlformats.org/drawingml/2006/main" prst="roundRect">
            <a:avLst>
              <a:gd name="adj" fmla="val 18182"/>
            </a:avLst>
          </a:prstGeom>
          <a:solidFill xmlns:a="http://schemas.openxmlformats.org/drawingml/2006/main">
            <a:srgbClr val="F7E2E6"/>
          </a:solidFill>
          <a:ln xmlns:a="http://schemas.openxmlformats.org/drawingml/2006/main" w="9525">
            <a:solidFill>
              <a:srgbClr val="EBC2C9"/>
            </a:solidFill>
            <a:prstDash val="solid"/>
          </a:ln>
        </p:spPr>
      </p:sp>
      <p:sp>
        <p:nvSpPr>
          <p:cNvPr id="10" name="prompt-label">
            <a:extLst xmlns:a="http://schemas.openxmlformats.org/drawingml/2006/main">
              <a:ext uri="{FF2B5EF4-FFF2-40B4-BE49-F238E27FC236}">
                <a16:creationId xmlns:a16="http://schemas.microsoft.com/office/drawing/2014/main" id="{B709BC0E-68B2-4823-B956-98DA1B7E83C3}"/>
              </a:ext>
            </a:extLst>
          </p:cNvPr>
          <p:cNvSpPr>
            <a:spLocks xmlns:a="http://schemas.openxmlformats.org/drawingml/2006/main" noGrp="1"/>
          </p:cNvSpPr>
          <p:nvPr/>
        </p:nvSpPr>
        <p:spPr>
          <a:xfrm xmlns:a="http://schemas.openxmlformats.org/drawingml/2006/main">
            <a:off x="723900" y="560070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BF4C5A"/>
                </a:solidFill>
                <a:latin typeface="Aptos"/>
                <a:ea typeface="Aptos"/>
                <a:cs typeface="Aptos"/>
              </a:defRPr>
            </a:pPr>
            <a:r>
              <a:rPr sz="975" b="1">
                <a:solidFill>
                  <a:srgbClr val="BF4C5A"/>
                </a:solidFill>
                <a:latin typeface="Aptos"/>
                <a:ea typeface="Aptos"/>
                <a:cs typeface="Aptos"/>
              </a:rPr>
              <a:t>APPLY</a:t>
            </a:r>
          </a:p>
        </p:txBody>
      </p:sp>
      <p:sp>
        <p:nvSpPr>
          <p:cNvPr id="11" name="prompt-text">
            <a:extLst xmlns:a="http://schemas.openxmlformats.org/drawingml/2006/main">
              <a:ext uri="{FF2B5EF4-FFF2-40B4-BE49-F238E27FC236}">
                <a16:creationId xmlns:a16="http://schemas.microsoft.com/office/drawing/2014/main" id="{6A605A20-0890-4FBE-BEFA-1651DFCF98BD}"/>
              </a:ext>
            </a:extLst>
          </p:cNvPr>
          <p:cNvSpPr>
            <a:spLocks xmlns:a="http://schemas.openxmlformats.org/drawingml/2006/main" noGrp="1"/>
          </p:cNvSpPr>
          <p:nvPr/>
        </p:nvSpPr>
        <p:spPr>
          <a:xfrm xmlns:a="http://schemas.openxmlformats.org/drawingml/2006/main">
            <a:off x="1466850" y="558165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350" b="1">
                <a:solidFill>
                  <a:srgbClr val="20302E"/>
                </a:solidFill>
                <a:latin typeface="Aptos"/>
                <a:ea typeface="Aptos"/>
                <a:cs typeface="Aptos"/>
              </a:defRPr>
            </a:pPr>
            <a:r>
              <a:rPr sz="1350" b="1">
                <a:solidFill>
                  <a:srgbClr val="20302E"/>
                </a:solidFill>
                <a:latin typeface="Aptos"/>
                <a:ea typeface="Aptos"/>
                <a:cs typeface="Aptos"/>
              </a:rPr>
              <a:t>With the machine unpowered and teacher permission, locate the demonstrated part that performs each function.</a:t>
            </a:r>
          </a:p>
        </p:txBody>
      </p:sp>
      <p:sp>
        <p:nvSpPr>
          <p:cNvPr id="12" name="footer-module">
            <a:extLst xmlns:a="http://schemas.openxmlformats.org/drawingml/2006/main">
              <a:ext uri="{FF2B5EF4-FFF2-40B4-BE49-F238E27FC236}">
                <a16:creationId xmlns:a16="http://schemas.microsoft.com/office/drawing/2014/main" id="{C4A4016F-78B7-4C1B-90CB-51BDFE111008}"/>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66662"/>
                </a:solidFill>
                <a:latin typeface="Aptos"/>
                <a:ea typeface="Aptos"/>
                <a:cs typeface="Aptos"/>
              </a:defRPr>
            </a:pPr>
            <a:r>
              <a:rPr sz="900" b="1">
                <a:solidFill>
                  <a:srgbClr val="566662"/>
                </a:solidFill>
                <a:latin typeface="Aptos"/>
                <a:ea typeface="Aptos"/>
                <a:cs typeface="Aptos"/>
              </a:rPr>
              <a:t>SEW AWESOME  •  MODULE 03</a:t>
            </a:r>
          </a:p>
        </p:txBody>
      </p:sp>
      <p:sp>
        <p:nvSpPr>
          <p:cNvPr id="13" name="footer-page">
            <a:extLst xmlns:a="http://schemas.openxmlformats.org/drawingml/2006/main">
              <a:ext uri="{FF2B5EF4-FFF2-40B4-BE49-F238E27FC236}">
                <a16:creationId xmlns:a16="http://schemas.microsoft.com/office/drawing/2014/main" id="{E9984F41-B78B-4EAB-B8D2-8C3E2F0F6A49}"/>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66662"/>
                </a:solidFill>
                <a:latin typeface="Aptos"/>
                <a:ea typeface="Aptos"/>
                <a:cs typeface="Aptos"/>
              </a:defRPr>
            </a:pPr>
            <a:r>
              <a:rPr sz="900" b="1">
                <a:solidFill>
                  <a:srgbClr val="566662"/>
                </a:solidFill>
                <a:latin typeface="Aptos"/>
                <a:ea typeface="Aptos"/>
                <a:cs typeface="Aptos"/>
              </a:rPr>
              <a:t>03</a:t>
            </a:r>
          </a:p>
        </p:txBody>
      </p:sp>
    </p:spTree>
    <p:extLst>
      <p:ext uri="{BB962C8B-B14F-4D97-AF65-F5344CB8AC3E}">
        <p14:creationId xmlns:p14="http://schemas.microsoft.com/office/powerpoint/2010/main" val="1158035601"/>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4" name="top-rule">
            <a:extLst xmlns:a="http://schemas.openxmlformats.org/drawingml/2006/main">
              <a:ext uri="{FF2B5EF4-FFF2-40B4-BE49-F238E27FC236}">
                <a16:creationId xmlns:a16="http://schemas.microsoft.com/office/drawing/2014/main" id="{E4B9BA23-8025-4A06-BAA0-EDE6D6F005B1}"/>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F4C5A"/>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C750E65C-6B34-4C85-AC41-D23A456D7771}"/>
              </a:ext>
            </a:extLst>
          </p:cNvPr>
          <p:cNvSpPr>
            <a:spLocks xmlns:a="http://schemas.openxmlformats.org/drawingml/2006/main" noGrp="1"/>
          </p:cNvSpPr>
          <p:nvPr/>
        </p:nvSpPr>
        <p:spPr>
          <a:xfrm xmlns:a="http://schemas.openxmlformats.org/drawingml/2006/main">
            <a:off x="533400" y="2857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BF4C5A"/>
                </a:solidFill>
                <a:latin typeface="Aptos"/>
                <a:ea typeface="Aptos"/>
                <a:cs typeface="Aptos"/>
              </a:defRPr>
            </a:pPr>
            <a:r>
              <a:rPr sz="1050" b="1">
                <a:solidFill>
                  <a:srgbClr val="BF4C5A"/>
                </a:solidFill>
                <a:latin typeface="Aptos"/>
                <a:ea typeface="Aptos"/>
                <a:cs typeface="Aptos"/>
              </a:rPr>
              <a:t>2. THREADING, BOBBINS AND SETUP</a:t>
            </a:r>
          </a:p>
        </p:txBody>
      </p:sp>
      <p:sp>
        <p:nvSpPr>
          <p:cNvPr id="3" name="title">
            <a:extLst xmlns:a="http://schemas.openxmlformats.org/drawingml/2006/main">
              <a:ext uri="{FF2B5EF4-FFF2-40B4-BE49-F238E27FC236}">
                <a16:creationId xmlns:a16="http://schemas.microsoft.com/office/drawing/2014/main" id="{6EF42997-3DA2-4FF1-8792-70FAEE29833D}"/>
              </a:ext>
            </a:extLst>
          </p:cNvPr>
          <p:cNvSpPr>
            <a:spLocks xmlns:a="http://schemas.openxmlformats.org/drawingml/2006/main" noGrp="1"/>
          </p:cNvSpPr>
          <p:nvPr/>
        </p:nvSpPr>
        <p:spPr>
          <a:xfrm xmlns:a="http://schemas.openxmlformats.org/drawingml/2006/main">
            <a:off x="533400" y="72390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850" b="1">
                <a:solidFill>
                  <a:srgbClr val="20302E"/>
                </a:solidFill>
                <a:latin typeface="Aptos Display"/>
                <a:ea typeface="Aptos Display"/>
                <a:cs typeface="Aptos Display"/>
              </a:defRPr>
            </a:pPr>
            <a:r>
              <a:rPr sz="2850" b="1">
                <a:solidFill>
                  <a:srgbClr val="20302E"/>
                </a:solidFill>
                <a:latin typeface="Aptos Display"/>
                <a:ea typeface="Aptos Display"/>
                <a:cs typeface="Aptos Display"/>
              </a:rPr>
              <a:t>Nearly threaded is not threaded</a:t>
            </a:r>
          </a:p>
        </p:txBody>
      </p:sp>
      <p:pic>
        <p:nvPicPr>
          <p:cNvPr id="17" name="Teaching visual - An unpowered sewing machine is prepared beside thread, bobbin, fabric sample and a blank setup check sheet."/>
          <p:cNvPicPr>
            <a:picLocks xmlns:a="http://schemas.openxmlformats.org/drawingml/2006/main" noChangeAspect="1"/>
          </p:cNvPicPr>
          <p:nvPr/>
        </p:nvPicPr>
        <p:blipFill>
          <a:blip xmlns:r="http://schemas.openxmlformats.org/officeDocument/2006/relationships" xmlns:a="http://schemas.openxmlformats.org/drawingml/2006/main" r:embed="R498f949da4244ed1"/>
          <a:stretch xmlns:a="http://schemas.openxmlformats.org/drawingml/2006/main"/>
        </p:blipFill>
        <p:spPr>
          <a:xfrm xmlns:a="http://schemas.openxmlformats.org/drawingml/2006/main">
            <a:off x="533400" y="1698625"/>
            <a:ext cx="5048250" cy="3365500"/>
          </a:xfrm>
          <a:prstGeom xmlns:a="http://schemas.openxmlformats.org/drawingml/2006/main" prst="roundRect">
            <a:avLst>
              <a:gd name="adj" fmla="val 3077"/>
            </a:avLst>
          </a:prstGeom>
        </p:spPr>
      </p:pic>
      <p:sp>
        <p:nvSpPr>
          <p:cNvPr id="5" name="theory">
            <a:extLst xmlns:a="http://schemas.openxmlformats.org/drawingml/2006/main">
              <a:ext uri="{FF2B5EF4-FFF2-40B4-BE49-F238E27FC236}">
                <a16:creationId xmlns:a16="http://schemas.microsoft.com/office/drawing/2014/main" id="{BBC797BF-8BA9-4232-A5E6-18DC50B2EC90}"/>
              </a:ext>
            </a:extLst>
          </p:cNvPr>
          <p:cNvSpPr>
            <a:spLocks xmlns:a="http://schemas.openxmlformats.org/drawingml/2006/main" noGrp="1"/>
          </p:cNvSpPr>
          <p:nvPr/>
        </p:nvSpPr>
        <p:spPr>
          <a:xfrm xmlns:a="http://schemas.openxmlformats.org/drawingml/2006/main">
            <a:off x="6019800" y="1562100"/>
            <a:ext cx="56388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6000"/>
              </a:lnSpc>
              <a:buNone/>
              <a:defRPr sz="1500">
                <a:solidFill>
                  <a:srgbClr val="20302E"/>
                </a:solidFill>
                <a:latin typeface="Aptos"/>
                <a:ea typeface="Aptos"/>
                <a:cs typeface="Aptos"/>
              </a:defRPr>
            </a:pPr>
            <a:r>
              <a:rPr sz="1500">
                <a:solidFill>
                  <a:srgbClr val="20302E"/>
                </a:solidFill>
                <a:latin typeface="Aptos"/>
                <a:ea typeface="Aptos"/>
                <a:cs typeface="Aptos"/>
              </a:rPr>
              <a:t>Threading is not a memory race. It is a model-specific pathway that prepares the upper and lower threads to move in a controlled way. Accurate setup with power off prevents many faults before sewing begins. The upper thread travels from its supply through a demonstrated sequence of guides, tension parts and the needle. The bobbin needs to be wound evenly with suitable thread and installed in the demonstrated direction and holder.</a:t>
            </a:r>
          </a:p>
        </p:txBody>
      </p:sp>
      <p:sp>
        <p:nvSpPr>
          <p:cNvPr id="6" name="notice">
            <a:extLst xmlns:a="http://schemas.openxmlformats.org/drawingml/2006/main">
              <a:ext uri="{FF2B5EF4-FFF2-40B4-BE49-F238E27FC236}">
                <a16:creationId xmlns:a16="http://schemas.microsoft.com/office/drawing/2014/main" id="{42BE80C2-D10B-47D6-B708-28AA48483E05}"/>
              </a:ext>
            </a:extLst>
          </p:cNvPr>
          <p:cNvSpPr>
            <a:spLocks xmlns:a="http://schemas.openxmlformats.org/drawingml/2006/main" noGrp="1"/>
          </p:cNvSpPr>
          <p:nvPr/>
        </p:nvSpPr>
        <p:spPr>
          <a:xfrm xmlns:a="http://schemas.openxmlformats.org/drawingml/2006/main">
            <a:off x="6019800" y="4095750"/>
            <a:ext cx="5638800" cy="1085850"/>
          </a:xfrm>
          <a:prstGeom xmlns:a="http://schemas.openxmlformats.org/drawingml/2006/main" prst="roundRect">
            <a:avLst>
              <a:gd name="adj" fmla="val 10526"/>
            </a:avLst>
          </a:prstGeom>
          <a:solidFill xmlns:a="http://schemas.openxmlformats.org/drawingml/2006/main">
            <a:srgbClr val="EEF5F1"/>
          </a:solidFill>
          <a:ln xmlns:a="http://schemas.openxmlformats.org/drawingml/2006/main" w="9525">
            <a:solidFill>
              <a:srgbClr val="B9CEC7"/>
            </a:solidFill>
            <a:prstDash val="solid"/>
          </a:ln>
        </p:spPr>
      </p:sp>
      <p:sp>
        <p:nvSpPr>
          <p:cNvPr id="7" name="notice-label">
            <a:extLst xmlns:a="http://schemas.openxmlformats.org/drawingml/2006/main">
              <a:ext uri="{FF2B5EF4-FFF2-40B4-BE49-F238E27FC236}">
                <a16:creationId xmlns:a16="http://schemas.microsoft.com/office/drawing/2014/main" id="{FFFF82AF-676C-4E25-9CCE-F9D37DC8F638}"/>
              </a:ext>
            </a:extLst>
          </p:cNvPr>
          <p:cNvSpPr>
            <a:spLocks xmlns:a="http://schemas.openxmlformats.org/drawingml/2006/main" noGrp="1"/>
          </p:cNvSpPr>
          <p:nvPr/>
        </p:nvSpPr>
        <p:spPr>
          <a:xfrm xmlns:a="http://schemas.openxmlformats.org/drawingml/2006/main">
            <a:off x="6210300" y="42481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BF4C5A"/>
                </a:solidFill>
                <a:latin typeface="Aptos"/>
                <a:ea typeface="Aptos"/>
                <a:cs typeface="Aptos"/>
              </a:defRPr>
            </a:pPr>
            <a:r>
              <a:rPr sz="900" b="1">
                <a:solidFill>
                  <a:srgbClr val="BF4C5A"/>
                </a:solidFill>
                <a:latin typeface="Aptos"/>
                <a:ea typeface="Aptos"/>
                <a:cs typeface="Aptos"/>
              </a:rPr>
              <a:t>LOOK AT THE VISUAL</a:t>
            </a:r>
          </a:p>
        </p:txBody>
      </p:sp>
      <p:sp>
        <p:nvSpPr>
          <p:cNvPr id="8" name="notice-text">
            <a:extLst xmlns:a="http://schemas.openxmlformats.org/drawingml/2006/main">
              <a:ext uri="{FF2B5EF4-FFF2-40B4-BE49-F238E27FC236}">
                <a16:creationId xmlns:a16="http://schemas.microsoft.com/office/drawing/2014/main" id="{46943E18-2A75-4F71-928D-DAC49CB02B0E}"/>
              </a:ext>
            </a:extLst>
          </p:cNvPr>
          <p:cNvSpPr>
            <a:spLocks xmlns:a="http://schemas.openxmlformats.org/drawingml/2006/main" noGrp="1"/>
          </p:cNvSpPr>
          <p:nvPr/>
        </p:nvSpPr>
        <p:spPr>
          <a:xfrm xmlns:a="http://schemas.openxmlformats.org/drawingml/2006/main">
            <a:off x="6210300" y="4476750"/>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20302E"/>
                </a:solidFill>
                <a:latin typeface="Aptos"/>
                <a:ea typeface="Aptos"/>
                <a:cs typeface="Aptos"/>
              </a:defRPr>
            </a:pPr>
            <a:r>
              <a:rPr sz="1275" b="1">
                <a:solidFill>
                  <a:srgbClr val="20302E"/>
                </a:solidFill>
                <a:latin typeface="Aptos"/>
                <a:ea typeface="Aptos"/>
                <a:cs typeface="Aptos"/>
              </a:rPr>
              <a:t>Before power is connected, which steps depend on the actual class machine and teacher check?</a:t>
            </a:r>
          </a:p>
        </p:txBody>
      </p:sp>
      <p:sp>
        <p:nvSpPr>
          <p:cNvPr id="9" name="prompt-band">
            <a:extLst xmlns:a="http://schemas.openxmlformats.org/drawingml/2006/main">
              <a:ext uri="{FF2B5EF4-FFF2-40B4-BE49-F238E27FC236}">
                <a16:creationId xmlns:a16="http://schemas.microsoft.com/office/drawing/2014/main" id="{54EB5B07-728E-43E6-B516-19A757702683}"/>
              </a:ext>
            </a:extLst>
          </p:cNvPr>
          <p:cNvSpPr>
            <a:spLocks xmlns:a="http://schemas.openxmlformats.org/drawingml/2006/main" noGrp="1"/>
          </p:cNvSpPr>
          <p:nvPr/>
        </p:nvSpPr>
        <p:spPr>
          <a:xfrm xmlns:a="http://schemas.openxmlformats.org/drawingml/2006/main">
            <a:off x="533400" y="5467350"/>
            <a:ext cx="11125200" cy="628650"/>
          </a:xfrm>
          <a:prstGeom xmlns:a="http://schemas.openxmlformats.org/drawingml/2006/main" prst="roundRect">
            <a:avLst>
              <a:gd name="adj" fmla="val 18182"/>
            </a:avLst>
          </a:prstGeom>
          <a:solidFill xmlns:a="http://schemas.openxmlformats.org/drawingml/2006/main">
            <a:srgbClr val="F7E2E6"/>
          </a:solidFill>
          <a:ln xmlns:a="http://schemas.openxmlformats.org/drawingml/2006/main" w="9525">
            <a:solidFill>
              <a:srgbClr val="EBC2C9"/>
            </a:solidFill>
            <a:prstDash val="solid"/>
          </a:ln>
        </p:spPr>
      </p:sp>
      <p:sp>
        <p:nvSpPr>
          <p:cNvPr id="10" name="prompt-label">
            <a:extLst xmlns:a="http://schemas.openxmlformats.org/drawingml/2006/main">
              <a:ext uri="{FF2B5EF4-FFF2-40B4-BE49-F238E27FC236}">
                <a16:creationId xmlns:a16="http://schemas.microsoft.com/office/drawing/2014/main" id="{C6529343-FC1C-4178-8B29-395BDFBB1D81}"/>
              </a:ext>
            </a:extLst>
          </p:cNvPr>
          <p:cNvSpPr>
            <a:spLocks xmlns:a="http://schemas.openxmlformats.org/drawingml/2006/main" noGrp="1"/>
          </p:cNvSpPr>
          <p:nvPr/>
        </p:nvSpPr>
        <p:spPr>
          <a:xfrm xmlns:a="http://schemas.openxmlformats.org/drawingml/2006/main">
            <a:off x="723900" y="560070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BF4C5A"/>
                </a:solidFill>
                <a:latin typeface="Aptos"/>
                <a:ea typeface="Aptos"/>
                <a:cs typeface="Aptos"/>
              </a:defRPr>
            </a:pPr>
            <a:r>
              <a:rPr sz="975" b="1">
                <a:solidFill>
                  <a:srgbClr val="BF4C5A"/>
                </a:solidFill>
                <a:latin typeface="Aptos"/>
                <a:ea typeface="Aptos"/>
                <a:cs typeface="Aptos"/>
              </a:rPr>
              <a:t>APPLY</a:t>
            </a:r>
          </a:p>
        </p:txBody>
      </p:sp>
      <p:sp>
        <p:nvSpPr>
          <p:cNvPr id="11" name="prompt-text">
            <a:extLst xmlns:a="http://schemas.openxmlformats.org/drawingml/2006/main">
              <a:ext uri="{FF2B5EF4-FFF2-40B4-BE49-F238E27FC236}">
                <a16:creationId xmlns:a16="http://schemas.microsoft.com/office/drawing/2014/main" id="{10397C0D-E0D8-4C65-A0C2-997474C22E23}"/>
              </a:ext>
            </a:extLst>
          </p:cNvPr>
          <p:cNvSpPr>
            <a:spLocks xmlns:a="http://schemas.openxmlformats.org/drawingml/2006/main" noGrp="1"/>
          </p:cNvSpPr>
          <p:nvPr/>
        </p:nvSpPr>
        <p:spPr>
          <a:xfrm xmlns:a="http://schemas.openxmlformats.org/drawingml/2006/main">
            <a:off x="1466850" y="558165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350" b="1">
                <a:solidFill>
                  <a:srgbClr val="20302E"/>
                </a:solidFill>
                <a:latin typeface="Aptos"/>
                <a:ea typeface="Aptos"/>
                <a:cs typeface="Aptos"/>
              </a:defRPr>
            </a:pPr>
            <a:r>
              <a:rPr sz="1350" b="1">
                <a:solidFill>
                  <a:srgbClr val="20302E"/>
                </a:solidFill>
                <a:latin typeface="Aptos"/>
                <a:ea typeface="Aptos"/>
                <a:cs typeface="Aptos"/>
              </a:rPr>
              <a:t>Using the teacher's labelled machine guide, narrate each setup checkpoint before any power is connected.</a:t>
            </a:r>
          </a:p>
        </p:txBody>
      </p:sp>
      <p:sp>
        <p:nvSpPr>
          <p:cNvPr id="12" name="footer-module">
            <a:extLst xmlns:a="http://schemas.openxmlformats.org/drawingml/2006/main">
              <a:ext uri="{FF2B5EF4-FFF2-40B4-BE49-F238E27FC236}">
                <a16:creationId xmlns:a16="http://schemas.microsoft.com/office/drawing/2014/main" id="{694A7CE2-E00F-4C8A-9D39-D508C3ADAA51}"/>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66662"/>
                </a:solidFill>
                <a:latin typeface="Aptos"/>
                <a:ea typeface="Aptos"/>
                <a:cs typeface="Aptos"/>
              </a:defRPr>
            </a:pPr>
            <a:r>
              <a:rPr sz="900" b="1">
                <a:solidFill>
                  <a:srgbClr val="566662"/>
                </a:solidFill>
                <a:latin typeface="Aptos"/>
                <a:ea typeface="Aptos"/>
                <a:cs typeface="Aptos"/>
              </a:rPr>
              <a:t>SEW AWESOME  •  MODULE 03</a:t>
            </a:r>
          </a:p>
        </p:txBody>
      </p:sp>
      <p:sp>
        <p:nvSpPr>
          <p:cNvPr id="13" name="footer-page">
            <a:extLst xmlns:a="http://schemas.openxmlformats.org/drawingml/2006/main">
              <a:ext uri="{FF2B5EF4-FFF2-40B4-BE49-F238E27FC236}">
                <a16:creationId xmlns:a16="http://schemas.microsoft.com/office/drawing/2014/main" id="{5B6643B2-0F38-4F6F-8B46-B11E10F47756}"/>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66662"/>
                </a:solidFill>
                <a:latin typeface="Aptos"/>
                <a:ea typeface="Aptos"/>
                <a:cs typeface="Aptos"/>
              </a:defRPr>
            </a:pPr>
            <a:r>
              <a:rPr sz="900" b="1">
                <a:solidFill>
                  <a:srgbClr val="566662"/>
                </a:solidFill>
                <a:latin typeface="Aptos"/>
                <a:ea typeface="Aptos"/>
                <a:cs typeface="Aptos"/>
              </a:rPr>
              <a:t>04</a:t>
            </a:r>
          </a:p>
        </p:txBody>
      </p:sp>
    </p:spTree>
    <p:extLst>
      <p:ext uri="{BB962C8B-B14F-4D97-AF65-F5344CB8AC3E}">
        <p14:creationId xmlns:p14="http://schemas.microsoft.com/office/powerpoint/2010/main" val="1179275927"/>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4" name="top-rule">
            <a:extLst xmlns:a="http://schemas.openxmlformats.org/drawingml/2006/main">
              <a:ext uri="{FF2B5EF4-FFF2-40B4-BE49-F238E27FC236}">
                <a16:creationId xmlns:a16="http://schemas.microsoft.com/office/drawing/2014/main" id="{401C7516-AF25-4516-A5A1-F943B70444E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46B66"/>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E8643ADC-4937-4941-9E2E-0E8C9EC7D01A}"/>
              </a:ext>
            </a:extLst>
          </p:cNvPr>
          <p:cNvSpPr>
            <a:spLocks xmlns:a="http://schemas.openxmlformats.org/drawingml/2006/main" noGrp="1"/>
          </p:cNvSpPr>
          <p:nvPr/>
        </p:nvSpPr>
        <p:spPr>
          <a:xfrm xmlns:a="http://schemas.openxmlformats.org/drawingml/2006/main">
            <a:off x="533400" y="2857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46B66"/>
                </a:solidFill>
                <a:latin typeface="Aptos"/>
                <a:ea typeface="Aptos"/>
                <a:cs typeface="Aptos"/>
              </a:defRPr>
            </a:pPr>
            <a:r>
              <a:rPr sz="1050" b="1">
                <a:solidFill>
                  <a:srgbClr val="146B66"/>
                </a:solidFill>
                <a:latin typeface="Aptos"/>
                <a:ea typeface="Aptos"/>
                <a:cs typeface="Aptos"/>
              </a:rPr>
              <a:t>3. CONTROLLING SPEED, DIRECTION AND SAFE OPERATION</a:t>
            </a:r>
          </a:p>
        </p:txBody>
      </p:sp>
      <p:sp>
        <p:nvSpPr>
          <p:cNvPr id="3" name="title">
            <a:extLst xmlns:a="http://schemas.openxmlformats.org/drawingml/2006/main">
              <a:ext uri="{FF2B5EF4-FFF2-40B4-BE49-F238E27FC236}">
                <a16:creationId xmlns:a16="http://schemas.microsoft.com/office/drawing/2014/main" id="{1DA29EF2-D73B-4BFC-9DFC-9B90122EAAE5}"/>
              </a:ext>
            </a:extLst>
          </p:cNvPr>
          <p:cNvSpPr>
            <a:spLocks xmlns:a="http://schemas.openxmlformats.org/drawingml/2006/main" noGrp="1"/>
          </p:cNvSpPr>
          <p:nvPr/>
        </p:nvSpPr>
        <p:spPr>
          <a:xfrm xmlns:a="http://schemas.openxmlformats.org/drawingml/2006/main">
            <a:off x="533400" y="72390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850" b="1">
                <a:solidFill>
                  <a:srgbClr val="20302E"/>
                </a:solidFill>
                <a:latin typeface="Aptos Display"/>
                <a:ea typeface="Aptos Display"/>
                <a:cs typeface="Aptos Display"/>
              </a:defRPr>
            </a:pPr>
            <a:r>
              <a:rPr sz="2850" b="1">
                <a:solidFill>
                  <a:srgbClr val="20302E"/>
                </a:solidFill>
                <a:latin typeface="Aptos Display"/>
                <a:ea typeface="Aptos Display"/>
                <a:cs typeface="Aptos Display"/>
              </a:rPr>
              <a:t>Slow is a setting, not a failure</a:t>
            </a:r>
          </a:p>
        </p:txBody>
      </p:sp>
      <p:pic>
        <p:nvPicPr>
          <p:cNvPr id="17" name="Teaching visual - A learner guides fabric through a sewing machine with balanced posture and safe hand placement beside a checked stitch sample."/>
          <p:cNvPicPr>
            <a:picLocks xmlns:a="http://schemas.openxmlformats.org/drawingml/2006/main" noChangeAspect="1"/>
          </p:cNvPicPr>
          <p:nvPr/>
        </p:nvPicPr>
        <p:blipFill>
          <a:blip xmlns:r="http://schemas.openxmlformats.org/officeDocument/2006/relationships" xmlns:a="http://schemas.openxmlformats.org/drawingml/2006/main" r:embed="R7b64e22b3dd14568"/>
          <a:stretch xmlns:a="http://schemas.openxmlformats.org/drawingml/2006/main"/>
        </p:blipFill>
        <p:spPr>
          <a:xfrm xmlns:a="http://schemas.openxmlformats.org/drawingml/2006/main">
            <a:off x="6610350" y="1698625"/>
            <a:ext cx="5048250" cy="3365500"/>
          </a:xfrm>
          <a:prstGeom xmlns:a="http://schemas.openxmlformats.org/drawingml/2006/main" prst="roundRect">
            <a:avLst>
              <a:gd name="adj" fmla="val 3077"/>
            </a:avLst>
          </a:prstGeom>
        </p:spPr>
      </p:pic>
      <p:sp>
        <p:nvSpPr>
          <p:cNvPr id="5" name="theory">
            <a:extLst xmlns:a="http://schemas.openxmlformats.org/drawingml/2006/main">
              <a:ext uri="{FF2B5EF4-FFF2-40B4-BE49-F238E27FC236}">
                <a16:creationId xmlns:a16="http://schemas.microsoft.com/office/drawing/2014/main" id="{7B6EC196-B874-448F-94F8-C223A8923594}"/>
              </a:ext>
            </a:extLst>
          </p:cNvPr>
          <p:cNvSpPr>
            <a:spLocks xmlns:a="http://schemas.openxmlformats.org/drawingml/2006/main" noGrp="1"/>
          </p:cNvSpPr>
          <p:nvPr/>
        </p:nvSpPr>
        <p:spPr>
          <a:xfrm xmlns:a="http://schemas.openxmlformats.org/drawingml/2006/main">
            <a:off x="533400" y="1562100"/>
            <a:ext cx="56388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6000"/>
              </a:lnSpc>
              <a:buNone/>
              <a:defRPr sz="1500">
                <a:solidFill>
                  <a:srgbClr val="20302E"/>
                </a:solidFill>
                <a:latin typeface="Aptos"/>
                <a:ea typeface="Aptos"/>
                <a:cs typeface="Aptos"/>
              </a:defRPr>
            </a:pPr>
            <a:r>
              <a:rPr sz="1500">
                <a:solidFill>
                  <a:srgbClr val="20302E"/>
                </a:solidFill>
                <a:latin typeface="Aptos"/>
                <a:ea typeface="Aptos"/>
                <a:cs typeface="Aptos"/>
              </a:rPr>
              <a:t>Control is the ability to make the machine respond predictably, not the ability to sew as fast as possible. Smooth starting, a clear view ahead of the needle and light fabric guidance produce safer, more accurate work. The speed control or foot control changes how quickly the needle and feed system cycle. Guide the fabric with hands flat and clear of the presser-foot and needle area.</a:t>
            </a:r>
          </a:p>
        </p:txBody>
      </p:sp>
      <p:sp>
        <p:nvSpPr>
          <p:cNvPr id="6" name="notice">
            <a:extLst xmlns:a="http://schemas.openxmlformats.org/drawingml/2006/main">
              <a:ext uri="{FF2B5EF4-FFF2-40B4-BE49-F238E27FC236}">
                <a16:creationId xmlns:a16="http://schemas.microsoft.com/office/drawing/2014/main" id="{5EA370CA-7E5B-4C0A-9E81-87A5C73C3764}"/>
              </a:ext>
            </a:extLst>
          </p:cNvPr>
          <p:cNvSpPr>
            <a:spLocks xmlns:a="http://schemas.openxmlformats.org/drawingml/2006/main" noGrp="1"/>
          </p:cNvSpPr>
          <p:nvPr/>
        </p:nvSpPr>
        <p:spPr>
          <a:xfrm xmlns:a="http://schemas.openxmlformats.org/drawingml/2006/main">
            <a:off x="533400" y="4095750"/>
            <a:ext cx="5638800" cy="1085850"/>
          </a:xfrm>
          <a:prstGeom xmlns:a="http://schemas.openxmlformats.org/drawingml/2006/main" prst="roundRect">
            <a:avLst>
              <a:gd name="adj" fmla="val 10526"/>
            </a:avLst>
          </a:prstGeom>
          <a:solidFill xmlns:a="http://schemas.openxmlformats.org/drawingml/2006/main">
            <a:srgbClr val="EEF5F1"/>
          </a:solidFill>
          <a:ln xmlns:a="http://schemas.openxmlformats.org/drawingml/2006/main" w="9525">
            <a:solidFill>
              <a:srgbClr val="B9CEC7"/>
            </a:solidFill>
            <a:prstDash val="solid"/>
          </a:ln>
        </p:spPr>
      </p:sp>
      <p:sp>
        <p:nvSpPr>
          <p:cNvPr id="7" name="notice-label">
            <a:extLst xmlns:a="http://schemas.openxmlformats.org/drawingml/2006/main">
              <a:ext uri="{FF2B5EF4-FFF2-40B4-BE49-F238E27FC236}">
                <a16:creationId xmlns:a16="http://schemas.microsoft.com/office/drawing/2014/main" id="{E55D2799-F42F-4F6B-B432-657D7D7323A7}"/>
              </a:ext>
            </a:extLst>
          </p:cNvPr>
          <p:cNvSpPr>
            <a:spLocks xmlns:a="http://schemas.openxmlformats.org/drawingml/2006/main" noGrp="1"/>
          </p:cNvSpPr>
          <p:nvPr/>
        </p:nvSpPr>
        <p:spPr>
          <a:xfrm xmlns:a="http://schemas.openxmlformats.org/drawingml/2006/main">
            <a:off x="723900" y="42481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BF4C5A"/>
                </a:solidFill>
                <a:latin typeface="Aptos"/>
                <a:ea typeface="Aptos"/>
                <a:cs typeface="Aptos"/>
              </a:defRPr>
            </a:pPr>
            <a:r>
              <a:rPr sz="900" b="1">
                <a:solidFill>
                  <a:srgbClr val="BF4C5A"/>
                </a:solidFill>
                <a:latin typeface="Aptos"/>
                <a:ea typeface="Aptos"/>
                <a:cs typeface="Aptos"/>
              </a:rPr>
              <a:t>LOOK AT THE VISUAL</a:t>
            </a:r>
          </a:p>
        </p:txBody>
      </p:sp>
      <p:sp>
        <p:nvSpPr>
          <p:cNvPr id="8" name="notice-text">
            <a:extLst xmlns:a="http://schemas.openxmlformats.org/drawingml/2006/main">
              <a:ext uri="{FF2B5EF4-FFF2-40B4-BE49-F238E27FC236}">
                <a16:creationId xmlns:a16="http://schemas.microsoft.com/office/drawing/2014/main" id="{3161A178-4F87-4CE7-86DC-00AD69CD035D}"/>
              </a:ext>
            </a:extLst>
          </p:cNvPr>
          <p:cNvSpPr>
            <a:spLocks xmlns:a="http://schemas.openxmlformats.org/drawingml/2006/main" noGrp="1"/>
          </p:cNvSpPr>
          <p:nvPr/>
        </p:nvSpPr>
        <p:spPr>
          <a:xfrm xmlns:a="http://schemas.openxmlformats.org/drawingml/2006/main">
            <a:off x="723900" y="4476750"/>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20302E"/>
                </a:solidFill>
                <a:latin typeface="Aptos"/>
                <a:ea typeface="Aptos"/>
                <a:cs typeface="Aptos"/>
              </a:defRPr>
            </a:pPr>
            <a:r>
              <a:rPr sz="1275" b="1">
                <a:solidFill>
                  <a:srgbClr val="20302E"/>
                </a:solidFill>
                <a:latin typeface="Aptos"/>
                <a:ea typeface="Aptos"/>
                <a:cs typeface="Aptos"/>
              </a:rPr>
              <a:t>Notice posture, hand position, fabric guidance and the nearby stitch sample. Where should the operator stop and check before adjusting one thing?</a:t>
            </a:r>
          </a:p>
        </p:txBody>
      </p:sp>
      <p:sp>
        <p:nvSpPr>
          <p:cNvPr id="9" name="prompt-band">
            <a:extLst xmlns:a="http://schemas.openxmlformats.org/drawingml/2006/main">
              <a:ext uri="{FF2B5EF4-FFF2-40B4-BE49-F238E27FC236}">
                <a16:creationId xmlns:a16="http://schemas.microsoft.com/office/drawing/2014/main" id="{A356A943-0A43-465D-819E-1D80FE514C86}"/>
              </a:ext>
            </a:extLst>
          </p:cNvPr>
          <p:cNvSpPr>
            <a:spLocks xmlns:a="http://schemas.openxmlformats.org/drawingml/2006/main" noGrp="1"/>
          </p:cNvSpPr>
          <p:nvPr/>
        </p:nvSpPr>
        <p:spPr>
          <a:xfrm xmlns:a="http://schemas.openxmlformats.org/drawingml/2006/main">
            <a:off x="533400" y="5467350"/>
            <a:ext cx="11125200" cy="628650"/>
          </a:xfrm>
          <a:prstGeom xmlns:a="http://schemas.openxmlformats.org/drawingml/2006/main" prst="roundRect">
            <a:avLst>
              <a:gd name="adj" fmla="val 18182"/>
            </a:avLst>
          </a:prstGeom>
          <a:solidFill xmlns:a="http://schemas.openxmlformats.org/drawingml/2006/main">
            <a:srgbClr val="F7E2E6"/>
          </a:solidFill>
          <a:ln xmlns:a="http://schemas.openxmlformats.org/drawingml/2006/main" w="9525">
            <a:solidFill>
              <a:srgbClr val="EBC2C9"/>
            </a:solidFill>
            <a:prstDash val="solid"/>
          </a:ln>
        </p:spPr>
      </p:sp>
      <p:sp>
        <p:nvSpPr>
          <p:cNvPr id="10" name="prompt-label">
            <a:extLst xmlns:a="http://schemas.openxmlformats.org/drawingml/2006/main">
              <a:ext uri="{FF2B5EF4-FFF2-40B4-BE49-F238E27FC236}">
                <a16:creationId xmlns:a16="http://schemas.microsoft.com/office/drawing/2014/main" id="{259D8108-45D7-4CDE-9D20-77432F551EE3}"/>
              </a:ext>
            </a:extLst>
          </p:cNvPr>
          <p:cNvSpPr>
            <a:spLocks xmlns:a="http://schemas.openxmlformats.org/drawingml/2006/main" noGrp="1"/>
          </p:cNvSpPr>
          <p:nvPr/>
        </p:nvSpPr>
        <p:spPr>
          <a:xfrm xmlns:a="http://schemas.openxmlformats.org/drawingml/2006/main">
            <a:off x="723900" y="560070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BF4C5A"/>
                </a:solidFill>
                <a:latin typeface="Aptos"/>
                <a:ea typeface="Aptos"/>
                <a:cs typeface="Aptos"/>
              </a:defRPr>
            </a:pPr>
            <a:r>
              <a:rPr sz="975" b="1">
                <a:solidFill>
                  <a:srgbClr val="BF4C5A"/>
                </a:solidFill>
                <a:latin typeface="Aptos"/>
                <a:ea typeface="Aptos"/>
                <a:cs typeface="Aptos"/>
              </a:rPr>
              <a:t>APPLY</a:t>
            </a:r>
          </a:p>
        </p:txBody>
      </p:sp>
      <p:sp>
        <p:nvSpPr>
          <p:cNvPr id="11" name="prompt-text">
            <a:extLst xmlns:a="http://schemas.openxmlformats.org/drawingml/2006/main">
              <a:ext uri="{FF2B5EF4-FFF2-40B4-BE49-F238E27FC236}">
                <a16:creationId xmlns:a16="http://schemas.microsoft.com/office/drawing/2014/main" id="{0C0FE9A6-5AB4-4800-BB41-F5A86B5CF40C}"/>
              </a:ext>
            </a:extLst>
          </p:cNvPr>
          <p:cNvSpPr>
            <a:spLocks xmlns:a="http://schemas.openxmlformats.org/drawingml/2006/main" noGrp="1"/>
          </p:cNvSpPr>
          <p:nvPr/>
        </p:nvSpPr>
        <p:spPr>
          <a:xfrm xmlns:a="http://schemas.openxmlformats.org/drawingml/2006/main">
            <a:off x="1466850" y="558165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350" b="1">
                <a:solidFill>
                  <a:srgbClr val="20302E"/>
                </a:solidFill>
                <a:latin typeface="Aptos"/>
                <a:ea typeface="Aptos"/>
                <a:cs typeface="Aptos"/>
              </a:defRPr>
            </a:pPr>
            <a:r>
              <a:rPr sz="1350" b="1">
                <a:solidFill>
                  <a:srgbClr val="20302E"/>
                </a:solidFill>
                <a:latin typeface="Aptos"/>
                <a:ea typeface="Aptos"/>
                <a:cs typeface="Aptos"/>
              </a:rPr>
              <a:t>Rehearse sight line, hand zone and stop language on a paper path before machine operation.</a:t>
            </a:r>
          </a:p>
        </p:txBody>
      </p:sp>
      <p:sp>
        <p:nvSpPr>
          <p:cNvPr id="12" name="footer-module">
            <a:extLst xmlns:a="http://schemas.openxmlformats.org/drawingml/2006/main">
              <a:ext uri="{FF2B5EF4-FFF2-40B4-BE49-F238E27FC236}">
                <a16:creationId xmlns:a16="http://schemas.microsoft.com/office/drawing/2014/main" id="{4CADDFC0-D767-4900-B57E-B7798D489EB2}"/>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66662"/>
                </a:solidFill>
                <a:latin typeface="Aptos"/>
                <a:ea typeface="Aptos"/>
                <a:cs typeface="Aptos"/>
              </a:defRPr>
            </a:pPr>
            <a:r>
              <a:rPr sz="900" b="1">
                <a:solidFill>
                  <a:srgbClr val="566662"/>
                </a:solidFill>
                <a:latin typeface="Aptos"/>
                <a:ea typeface="Aptos"/>
                <a:cs typeface="Aptos"/>
              </a:rPr>
              <a:t>SEW AWESOME  •  MODULE 03</a:t>
            </a:r>
          </a:p>
        </p:txBody>
      </p:sp>
      <p:sp>
        <p:nvSpPr>
          <p:cNvPr id="13" name="footer-page">
            <a:extLst xmlns:a="http://schemas.openxmlformats.org/drawingml/2006/main">
              <a:ext uri="{FF2B5EF4-FFF2-40B4-BE49-F238E27FC236}">
                <a16:creationId xmlns:a16="http://schemas.microsoft.com/office/drawing/2014/main" id="{DAA4A27B-F8F7-4359-9E48-AD1264D284C9}"/>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66662"/>
                </a:solidFill>
                <a:latin typeface="Aptos"/>
                <a:ea typeface="Aptos"/>
                <a:cs typeface="Aptos"/>
              </a:defRPr>
            </a:pPr>
            <a:r>
              <a:rPr sz="900" b="1">
                <a:solidFill>
                  <a:srgbClr val="566662"/>
                </a:solidFill>
                <a:latin typeface="Aptos"/>
                <a:ea typeface="Aptos"/>
                <a:cs typeface="Aptos"/>
              </a:rPr>
              <a:t>05</a:t>
            </a:r>
          </a:p>
        </p:txBody>
      </p:sp>
    </p:spTree>
    <p:extLst>
      <p:ext uri="{BB962C8B-B14F-4D97-AF65-F5344CB8AC3E}">
        <p14:creationId xmlns:p14="http://schemas.microsoft.com/office/powerpoint/2010/main" val="1974868461"/>
      </p:ext>
    </p:extLst>
  </p:cSld>
</p:sld>
</file>

<file path=ppt/slides/slide6.xml><?xml version="1.0" encoding="utf-8"?>
<p:sld xmlns:p="http://schemas.openxmlformats.org/presentationml/2006/main">
  <p:cSld>
    <p:bg>
      <p:bgPr>
        <a:solidFill xmlns:a="http://schemas.openxmlformats.org/drawingml/2006/main">
          <a:srgbClr val="0C4E4A"/>
        </a:solidFill>
      </p:bgPr>
    </p:bg>
    <p:spTree>
      <p:nvGrpSpPr>
        <p:cNvPr id="1" name=""/>
        <p:cNvGrpSpPr/>
        <p:nvPr/>
      </p:nvGrpSpPr>
      <p:grpSpPr>
        <a:xfrm xmlns:a="http://schemas.openxmlformats.org/drawingml/2006/main"/>
      </p:grpSpPr>
      <p:sp>
        <p:nvSpPr>
          <p:cNvPr id="19" name="top-rule">
            <a:extLst xmlns:a="http://schemas.openxmlformats.org/drawingml/2006/main">
              <a:ext uri="{FF2B5EF4-FFF2-40B4-BE49-F238E27FC236}">
                <a16:creationId xmlns:a16="http://schemas.microsoft.com/office/drawing/2014/main" id="{F69E543B-B988-4238-950E-881196C1086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49A34"/>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37F2A5FF-0CF5-4176-BDED-3A7256396351}"/>
              </a:ext>
            </a:extLst>
          </p:cNvPr>
          <p:cNvSpPr>
            <a:spLocks xmlns:a="http://schemas.openxmlformats.org/drawingml/2006/main" noGrp="1"/>
          </p:cNvSpPr>
          <p:nvPr/>
        </p:nvSpPr>
        <p:spPr>
          <a:xfrm xmlns:a="http://schemas.openxmlformats.org/drawingml/2006/main">
            <a:off x="533400" y="3048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FE4A4"/>
                </a:solidFill>
                <a:latin typeface="Aptos"/>
                <a:ea typeface="Aptos"/>
                <a:cs typeface="Aptos"/>
              </a:defRPr>
            </a:pPr>
            <a:r>
              <a:rPr sz="1050" b="1">
                <a:solidFill>
                  <a:srgbClr val="FFE4A4"/>
                </a:solidFill>
                <a:latin typeface="Aptos"/>
                <a:ea typeface="Aptos"/>
                <a:cs typeface="Aptos"/>
              </a:rPr>
              <a:t>CHECK YOUR UNDERSTANDING</a:t>
            </a:r>
          </a:p>
        </p:txBody>
      </p:sp>
      <p:sp>
        <p:nvSpPr>
          <p:cNvPr id="3" name="title">
            <a:extLst xmlns:a="http://schemas.openxmlformats.org/drawingml/2006/main">
              <a:ext uri="{FF2B5EF4-FFF2-40B4-BE49-F238E27FC236}">
                <a16:creationId xmlns:a16="http://schemas.microsoft.com/office/drawing/2014/main" id="{0093F589-F5FD-47AE-9237-91017D1FCE42}"/>
              </a:ext>
            </a:extLst>
          </p:cNvPr>
          <p:cNvSpPr>
            <a:spLocks xmlns:a="http://schemas.openxmlformats.org/drawingml/2006/main" noGrp="1"/>
          </p:cNvSpPr>
          <p:nvPr/>
        </p:nvSpPr>
        <p:spPr>
          <a:xfrm xmlns:a="http://schemas.openxmlformats.org/drawingml/2006/main">
            <a:off x="533400" y="800100"/>
            <a:ext cx="7620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Stop. Think. Explain.</a:t>
            </a:r>
          </a:p>
        </p:txBody>
      </p:sp>
      <p:sp>
        <p:nvSpPr>
          <p:cNvPr id="4" name="instruction">
            <a:extLst xmlns:a="http://schemas.openxmlformats.org/drawingml/2006/main">
              <a:ext uri="{FF2B5EF4-FFF2-40B4-BE49-F238E27FC236}">
                <a16:creationId xmlns:a16="http://schemas.microsoft.com/office/drawing/2014/main" id="{5C18EC1F-DC99-426C-9325-52D55D8EEC44}"/>
              </a:ext>
            </a:extLst>
          </p:cNvPr>
          <p:cNvSpPr>
            <a:spLocks xmlns:a="http://schemas.openxmlformats.org/drawingml/2006/main" noGrp="1"/>
          </p:cNvSpPr>
          <p:nvPr/>
        </p:nvSpPr>
        <p:spPr>
          <a:xfrm xmlns:a="http://schemas.openxmlformats.org/drawingml/2006/main">
            <a:off x="533400" y="1428750"/>
            <a:ext cx="723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a:solidFill>
                  <a:srgbClr val="C8D6D2"/>
                </a:solidFill>
                <a:latin typeface="Aptos"/>
                <a:ea typeface="Aptos"/>
                <a:cs typeface="Aptos"/>
              </a:defRPr>
            </a:pPr>
            <a:r>
              <a:rPr sz="1425">
                <a:solidFill>
                  <a:srgbClr val="C8D6D2"/>
                </a:solidFill>
                <a:latin typeface="Aptos"/>
                <a:ea typeface="Aptos"/>
                <a:cs typeface="Aptos"/>
              </a:rPr>
              <a:t>Answer silently first. Then justify one answer with a partner.</a:t>
            </a:r>
          </a:p>
        </p:txBody>
      </p:sp>
      <p:sp>
        <p:nvSpPr>
          <p:cNvPr id="5" name="check-number-1">
            <a:extLst xmlns:a="http://schemas.openxmlformats.org/drawingml/2006/main">
              <a:ext uri="{FF2B5EF4-FFF2-40B4-BE49-F238E27FC236}">
                <a16:creationId xmlns:a16="http://schemas.microsoft.com/office/drawing/2014/main" id="{A57B2E0E-1167-4B29-8ACB-FC5ABD731832}"/>
              </a:ext>
            </a:extLst>
          </p:cNvPr>
          <p:cNvSpPr>
            <a:spLocks xmlns:a="http://schemas.openxmlformats.org/drawingml/2006/main" noGrp="1"/>
          </p:cNvSpPr>
          <p:nvPr/>
        </p:nvSpPr>
        <p:spPr>
          <a:xfrm xmlns:a="http://schemas.openxmlformats.org/drawingml/2006/main">
            <a:off x="685800" y="2238375"/>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E4A4"/>
                </a:solidFill>
                <a:latin typeface="Aptos"/>
                <a:ea typeface="Aptos"/>
                <a:cs typeface="Aptos"/>
              </a:defRPr>
            </a:pPr>
            <a:r>
              <a:rPr sz="1500" b="1">
                <a:solidFill>
                  <a:srgbClr val="FFE4A4"/>
                </a:solidFill>
                <a:latin typeface="Aptos"/>
                <a:ea typeface="Aptos"/>
                <a:cs typeface="Aptos"/>
              </a:rPr>
              <a:t>1</a:t>
            </a:r>
          </a:p>
        </p:txBody>
      </p:sp>
      <p:sp>
        <p:nvSpPr>
          <p:cNvPr id="6" name="check-line-1">
            <a:extLst xmlns:a="http://schemas.openxmlformats.org/drawingml/2006/main">
              <a:ext uri="{FF2B5EF4-FFF2-40B4-BE49-F238E27FC236}">
                <a16:creationId xmlns:a16="http://schemas.microsoft.com/office/drawing/2014/main" id="{F9373C97-F683-4112-867D-3FB0EDF0E600}"/>
              </a:ext>
            </a:extLst>
          </p:cNvPr>
          <p:cNvSpPr>
            <a:spLocks xmlns:a="http://schemas.openxmlformats.org/drawingml/2006/main" noGrp="1"/>
          </p:cNvSpPr>
          <p:nvPr/>
        </p:nvSpPr>
        <p:spPr>
          <a:xfrm xmlns:a="http://schemas.openxmlformats.org/drawingml/2006/main">
            <a:off x="1257300" y="2438400"/>
            <a:ext cx="9906000" cy="0"/>
          </a:xfrm>
          <a:prstGeom xmlns:a="http://schemas.openxmlformats.org/drawingml/2006/main" prst="line">
            <a:avLst/>
          </a:prstGeom>
          <a:noFill xmlns:a="http://schemas.openxmlformats.org/drawingml/2006/main"/>
          <a:ln xmlns:a="http://schemas.openxmlformats.org/drawingml/2006/main" w="9525">
            <a:solidFill>
              <a:srgbClr val="5E807A"/>
            </a:solidFill>
            <a:prstDash val="solid"/>
          </a:ln>
        </p:spPr>
      </p:sp>
      <p:sp>
        <p:nvSpPr>
          <p:cNvPr id="7" name="check-1">
            <a:extLst xmlns:a="http://schemas.openxmlformats.org/drawingml/2006/main">
              <a:ext uri="{FF2B5EF4-FFF2-40B4-BE49-F238E27FC236}">
                <a16:creationId xmlns:a16="http://schemas.microsoft.com/office/drawing/2014/main" id="{9737C46B-A4CF-4FF8-9F50-D02B8143EA8A}"/>
              </a:ext>
            </a:extLst>
          </p:cNvPr>
          <p:cNvSpPr>
            <a:spLocks xmlns:a="http://schemas.openxmlformats.org/drawingml/2006/main" noGrp="1"/>
          </p:cNvSpPr>
          <p:nvPr/>
        </p:nvSpPr>
        <p:spPr>
          <a:xfrm xmlns:a="http://schemas.openxmlformats.org/drawingml/2006/main">
            <a:off x="1524000" y="2143125"/>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FFFFFF"/>
                </a:solidFill>
                <a:latin typeface="Aptos"/>
                <a:ea typeface="Aptos"/>
                <a:cs typeface="Aptos"/>
              </a:defRPr>
            </a:pPr>
            <a:r>
              <a:rPr sz="1500" b="1">
                <a:solidFill>
                  <a:srgbClr val="FFFFFF"/>
                </a:solidFill>
                <a:latin typeface="Aptos"/>
                <a:ea typeface="Aptos"/>
                <a:cs typeface="Aptos"/>
              </a:rPr>
              <a:t>What is the needle's main role during machine sewing?</a:t>
            </a:r>
          </a:p>
        </p:txBody>
      </p:sp>
      <p:sp>
        <p:nvSpPr>
          <p:cNvPr id="8" name="check-number-2">
            <a:extLst xmlns:a="http://schemas.openxmlformats.org/drawingml/2006/main">
              <a:ext uri="{FF2B5EF4-FFF2-40B4-BE49-F238E27FC236}">
                <a16:creationId xmlns:a16="http://schemas.microsoft.com/office/drawing/2014/main" id="{C02C43A7-F8F6-4F04-8CAC-C22CAE4E4E85}"/>
              </a:ext>
            </a:extLst>
          </p:cNvPr>
          <p:cNvSpPr>
            <a:spLocks xmlns:a="http://schemas.openxmlformats.org/drawingml/2006/main" noGrp="1"/>
          </p:cNvSpPr>
          <p:nvPr/>
        </p:nvSpPr>
        <p:spPr>
          <a:xfrm xmlns:a="http://schemas.openxmlformats.org/drawingml/2006/main">
            <a:off x="685800" y="3209925"/>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E4A4"/>
                </a:solidFill>
                <a:latin typeface="Aptos"/>
                <a:ea typeface="Aptos"/>
                <a:cs typeface="Aptos"/>
              </a:defRPr>
            </a:pPr>
            <a:r>
              <a:rPr sz="1500" b="1">
                <a:solidFill>
                  <a:srgbClr val="FFE4A4"/>
                </a:solidFill>
                <a:latin typeface="Aptos"/>
                <a:ea typeface="Aptos"/>
                <a:cs typeface="Aptos"/>
              </a:rPr>
              <a:t>2</a:t>
            </a:r>
          </a:p>
        </p:txBody>
      </p:sp>
      <p:sp>
        <p:nvSpPr>
          <p:cNvPr id="9" name="check-line-2">
            <a:extLst xmlns:a="http://schemas.openxmlformats.org/drawingml/2006/main">
              <a:ext uri="{FF2B5EF4-FFF2-40B4-BE49-F238E27FC236}">
                <a16:creationId xmlns:a16="http://schemas.microsoft.com/office/drawing/2014/main" id="{0621B27D-45C8-4D1C-A0D9-44B73750D7FE}"/>
              </a:ext>
            </a:extLst>
          </p:cNvPr>
          <p:cNvSpPr>
            <a:spLocks xmlns:a="http://schemas.openxmlformats.org/drawingml/2006/main" noGrp="1"/>
          </p:cNvSpPr>
          <p:nvPr/>
        </p:nvSpPr>
        <p:spPr>
          <a:xfrm xmlns:a="http://schemas.openxmlformats.org/drawingml/2006/main">
            <a:off x="1257300" y="3409950"/>
            <a:ext cx="9906000" cy="0"/>
          </a:xfrm>
          <a:prstGeom xmlns:a="http://schemas.openxmlformats.org/drawingml/2006/main" prst="line">
            <a:avLst/>
          </a:prstGeom>
          <a:noFill xmlns:a="http://schemas.openxmlformats.org/drawingml/2006/main"/>
          <a:ln xmlns:a="http://schemas.openxmlformats.org/drawingml/2006/main" w="9525">
            <a:solidFill>
              <a:srgbClr val="5E807A"/>
            </a:solidFill>
            <a:prstDash val="solid"/>
          </a:ln>
        </p:spPr>
      </p:sp>
      <p:sp>
        <p:nvSpPr>
          <p:cNvPr id="10" name="check-2">
            <a:extLst xmlns:a="http://schemas.openxmlformats.org/drawingml/2006/main">
              <a:ext uri="{FF2B5EF4-FFF2-40B4-BE49-F238E27FC236}">
                <a16:creationId xmlns:a16="http://schemas.microsoft.com/office/drawing/2014/main" id="{BD4599D0-16A4-4E6B-8BBE-4155CC22C057}"/>
              </a:ext>
            </a:extLst>
          </p:cNvPr>
          <p:cNvSpPr>
            <a:spLocks xmlns:a="http://schemas.openxmlformats.org/drawingml/2006/main" noGrp="1"/>
          </p:cNvSpPr>
          <p:nvPr/>
        </p:nvSpPr>
        <p:spPr>
          <a:xfrm xmlns:a="http://schemas.openxmlformats.org/drawingml/2006/main">
            <a:off x="1524000" y="3114675"/>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FFFFFF"/>
                </a:solidFill>
                <a:latin typeface="Aptos"/>
                <a:ea typeface="Aptos"/>
                <a:cs typeface="Aptos"/>
              </a:defRPr>
            </a:pPr>
            <a:r>
              <a:rPr sz="1500" b="1">
                <a:solidFill>
                  <a:srgbClr val="FFFFFF"/>
                </a:solidFill>
                <a:latin typeface="Aptos"/>
                <a:ea typeface="Aptos"/>
                <a:cs typeface="Aptos"/>
              </a:rPr>
              <a:t>Why must the upper thread follow every point in the demonstrated path?</a:t>
            </a:r>
          </a:p>
        </p:txBody>
      </p:sp>
      <p:sp>
        <p:nvSpPr>
          <p:cNvPr id="11" name="check-number-3">
            <a:extLst xmlns:a="http://schemas.openxmlformats.org/drawingml/2006/main">
              <a:ext uri="{FF2B5EF4-FFF2-40B4-BE49-F238E27FC236}">
                <a16:creationId xmlns:a16="http://schemas.microsoft.com/office/drawing/2014/main" id="{84BC0E1F-3CF9-4537-9D9A-77BE18813669}"/>
              </a:ext>
            </a:extLst>
          </p:cNvPr>
          <p:cNvSpPr>
            <a:spLocks xmlns:a="http://schemas.openxmlformats.org/drawingml/2006/main" noGrp="1"/>
          </p:cNvSpPr>
          <p:nvPr/>
        </p:nvSpPr>
        <p:spPr>
          <a:xfrm xmlns:a="http://schemas.openxmlformats.org/drawingml/2006/main">
            <a:off x="685800" y="4181475"/>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E4A4"/>
                </a:solidFill>
                <a:latin typeface="Aptos"/>
                <a:ea typeface="Aptos"/>
                <a:cs typeface="Aptos"/>
              </a:defRPr>
            </a:pPr>
            <a:r>
              <a:rPr sz="1500" b="1">
                <a:solidFill>
                  <a:srgbClr val="FFE4A4"/>
                </a:solidFill>
                <a:latin typeface="Aptos"/>
                <a:ea typeface="Aptos"/>
                <a:cs typeface="Aptos"/>
              </a:rPr>
              <a:t>3</a:t>
            </a:r>
          </a:p>
        </p:txBody>
      </p:sp>
      <p:sp>
        <p:nvSpPr>
          <p:cNvPr id="12" name="check-line-3">
            <a:extLst xmlns:a="http://schemas.openxmlformats.org/drawingml/2006/main">
              <a:ext uri="{FF2B5EF4-FFF2-40B4-BE49-F238E27FC236}">
                <a16:creationId xmlns:a16="http://schemas.microsoft.com/office/drawing/2014/main" id="{F7BBD3E5-2FFB-4D40-BE22-7D6BEB6B2B78}"/>
              </a:ext>
            </a:extLst>
          </p:cNvPr>
          <p:cNvSpPr>
            <a:spLocks xmlns:a="http://schemas.openxmlformats.org/drawingml/2006/main" noGrp="1"/>
          </p:cNvSpPr>
          <p:nvPr/>
        </p:nvSpPr>
        <p:spPr>
          <a:xfrm xmlns:a="http://schemas.openxmlformats.org/drawingml/2006/main">
            <a:off x="1257300" y="4381500"/>
            <a:ext cx="9906000" cy="0"/>
          </a:xfrm>
          <a:prstGeom xmlns:a="http://schemas.openxmlformats.org/drawingml/2006/main" prst="line">
            <a:avLst/>
          </a:prstGeom>
          <a:noFill xmlns:a="http://schemas.openxmlformats.org/drawingml/2006/main"/>
          <a:ln xmlns:a="http://schemas.openxmlformats.org/drawingml/2006/main" w="9525">
            <a:solidFill>
              <a:srgbClr val="5E807A"/>
            </a:solidFill>
            <a:prstDash val="solid"/>
          </a:ln>
        </p:spPr>
      </p:sp>
      <p:sp>
        <p:nvSpPr>
          <p:cNvPr id="13" name="check-3">
            <a:extLst xmlns:a="http://schemas.openxmlformats.org/drawingml/2006/main">
              <a:ext uri="{FF2B5EF4-FFF2-40B4-BE49-F238E27FC236}">
                <a16:creationId xmlns:a16="http://schemas.microsoft.com/office/drawing/2014/main" id="{F63BA48B-CF2E-413C-AAC7-3A283CC30886}"/>
              </a:ext>
            </a:extLst>
          </p:cNvPr>
          <p:cNvSpPr>
            <a:spLocks xmlns:a="http://schemas.openxmlformats.org/drawingml/2006/main" noGrp="1"/>
          </p:cNvSpPr>
          <p:nvPr/>
        </p:nvSpPr>
        <p:spPr>
          <a:xfrm xmlns:a="http://schemas.openxmlformats.org/drawingml/2006/main">
            <a:off x="1524000" y="4086225"/>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FFFFFF"/>
                </a:solidFill>
                <a:latin typeface="Aptos"/>
                <a:ea typeface="Aptos"/>
                <a:cs typeface="Aptos"/>
              </a:defRPr>
            </a:pPr>
            <a:r>
              <a:rPr sz="1500" b="1">
                <a:solidFill>
                  <a:srgbClr val="FFFFFF"/>
                </a:solidFill>
                <a:latin typeface="Aptos"/>
                <a:ea typeface="Aptos"/>
                <a:cs typeface="Aptos"/>
              </a:rPr>
              <a:t>What defines a controllable sewing speed?</a:t>
            </a:r>
          </a:p>
        </p:txBody>
      </p:sp>
      <p:sp>
        <p:nvSpPr>
          <p:cNvPr id="14" name="check-number-4">
            <a:extLst xmlns:a="http://schemas.openxmlformats.org/drawingml/2006/main">
              <a:ext uri="{FF2B5EF4-FFF2-40B4-BE49-F238E27FC236}">
                <a16:creationId xmlns:a16="http://schemas.microsoft.com/office/drawing/2014/main" id="{AC997DD6-94DF-46E9-9057-81A240C0BFA5}"/>
              </a:ext>
            </a:extLst>
          </p:cNvPr>
          <p:cNvSpPr>
            <a:spLocks xmlns:a="http://schemas.openxmlformats.org/drawingml/2006/main" noGrp="1"/>
          </p:cNvSpPr>
          <p:nvPr/>
        </p:nvSpPr>
        <p:spPr>
          <a:xfrm xmlns:a="http://schemas.openxmlformats.org/drawingml/2006/main">
            <a:off x="685800" y="5153025"/>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E4A4"/>
                </a:solidFill>
                <a:latin typeface="Aptos"/>
                <a:ea typeface="Aptos"/>
                <a:cs typeface="Aptos"/>
              </a:defRPr>
            </a:pPr>
            <a:r>
              <a:rPr sz="1500" b="1">
                <a:solidFill>
                  <a:srgbClr val="FFE4A4"/>
                </a:solidFill>
                <a:latin typeface="Aptos"/>
                <a:ea typeface="Aptos"/>
                <a:cs typeface="Aptos"/>
              </a:rPr>
              <a:t>4</a:t>
            </a:r>
          </a:p>
        </p:txBody>
      </p:sp>
      <p:sp>
        <p:nvSpPr>
          <p:cNvPr id="15" name="check-line-4">
            <a:extLst xmlns:a="http://schemas.openxmlformats.org/drawingml/2006/main">
              <a:ext uri="{FF2B5EF4-FFF2-40B4-BE49-F238E27FC236}">
                <a16:creationId xmlns:a16="http://schemas.microsoft.com/office/drawing/2014/main" id="{178F6DF9-6198-4417-A389-09D7CA85CC5F}"/>
              </a:ext>
            </a:extLst>
          </p:cNvPr>
          <p:cNvSpPr>
            <a:spLocks xmlns:a="http://schemas.openxmlformats.org/drawingml/2006/main" noGrp="1"/>
          </p:cNvSpPr>
          <p:nvPr/>
        </p:nvSpPr>
        <p:spPr>
          <a:xfrm xmlns:a="http://schemas.openxmlformats.org/drawingml/2006/main">
            <a:off x="1257300" y="5353050"/>
            <a:ext cx="9906000" cy="0"/>
          </a:xfrm>
          <a:prstGeom xmlns:a="http://schemas.openxmlformats.org/drawingml/2006/main" prst="line">
            <a:avLst/>
          </a:prstGeom>
          <a:noFill xmlns:a="http://schemas.openxmlformats.org/drawingml/2006/main"/>
          <a:ln xmlns:a="http://schemas.openxmlformats.org/drawingml/2006/main" w="9525">
            <a:solidFill>
              <a:srgbClr val="5E807A"/>
            </a:solidFill>
            <a:prstDash val="solid"/>
          </a:ln>
        </p:spPr>
      </p:sp>
      <p:sp>
        <p:nvSpPr>
          <p:cNvPr id="16" name="check-4">
            <a:extLst xmlns:a="http://schemas.openxmlformats.org/drawingml/2006/main">
              <a:ext uri="{FF2B5EF4-FFF2-40B4-BE49-F238E27FC236}">
                <a16:creationId xmlns:a16="http://schemas.microsoft.com/office/drawing/2014/main" id="{018C9824-33B4-429E-BA63-383B6FC4D539}"/>
              </a:ext>
            </a:extLst>
          </p:cNvPr>
          <p:cNvSpPr>
            <a:spLocks xmlns:a="http://schemas.openxmlformats.org/drawingml/2006/main" noGrp="1"/>
          </p:cNvSpPr>
          <p:nvPr/>
        </p:nvSpPr>
        <p:spPr>
          <a:xfrm xmlns:a="http://schemas.openxmlformats.org/drawingml/2006/main">
            <a:off x="1524000" y="5057775"/>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FFFFFF"/>
                </a:solidFill>
                <a:latin typeface="Aptos"/>
                <a:ea typeface="Aptos"/>
                <a:cs typeface="Aptos"/>
              </a:defRPr>
            </a:pPr>
            <a:r>
              <a:rPr sz="1500" b="1">
                <a:solidFill>
                  <a:srgbClr val="FFFFFF"/>
                </a:solidFill>
                <a:latin typeface="Aptos"/>
                <a:ea typeface="Aptos"/>
                <a:cs typeface="Aptos"/>
              </a:rPr>
              <a:t>Which idea from this module most changes your next design or production decision?</a:t>
            </a:r>
          </a:p>
        </p:txBody>
      </p:sp>
      <p:sp>
        <p:nvSpPr>
          <p:cNvPr id="17" name="footer-module">
            <a:extLst xmlns:a="http://schemas.openxmlformats.org/drawingml/2006/main">
              <a:ext uri="{FF2B5EF4-FFF2-40B4-BE49-F238E27FC236}">
                <a16:creationId xmlns:a16="http://schemas.microsoft.com/office/drawing/2014/main" id="{8589E8EB-D969-4B3E-BBBD-21F1FE08C1C5}"/>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C8D6D2"/>
                </a:solidFill>
                <a:latin typeface="Aptos"/>
                <a:ea typeface="Aptos"/>
                <a:cs typeface="Aptos"/>
              </a:defRPr>
            </a:pPr>
            <a:r>
              <a:rPr sz="900" b="1">
                <a:solidFill>
                  <a:srgbClr val="C8D6D2"/>
                </a:solidFill>
                <a:latin typeface="Aptos"/>
                <a:ea typeface="Aptos"/>
                <a:cs typeface="Aptos"/>
              </a:rPr>
              <a:t>SEW AWESOME  •  MODULE 03</a:t>
            </a:r>
          </a:p>
        </p:txBody>
      </p:sp>
      <p:sp>
        <p:nvSpPr>
          <p:cNvPr id="18" name="footer-page">
            <a:extLst xmlns:a="http://schemas.openxmlformats.org/drawingml/2006/main">
              <a:ext uri="{FF2B5EF4-FFF2-40B4-BE49-F238E27FC236}">
                <a16:creationId xmlns:a16="http://schemas.microsoft.com/office/drawing/2014/main" id="{E111DCBB-A797-4032-B3D3-3200B6872633}"/>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C8D6D2"/>
                </a:solidFill>
                <a:latin typeface="Aptos"/>
                <a:ea typeface="Aptos"/>
                <a:cs typeface="Aptos"/>
              </a:defRPr>
            </a:pPr>
            <a:r>
              <a:rPr sz="900" b="1">
                <a:solidFill>
                  <a:srgbClr val="C8D6D2"/>
                </a:solidFill>
                <a:latin typeface="Aptos"/>
                <a:ea typeface="Aptos"/>
                <a:cs typeface="Aptos"/>
              </a:rPr>
              <a:t>06</a:t>
            </a:r>
          </a:p>
        </p:txBody>
      </p:sp>
    </p:spTree>
    <p:extLst>
      <p:ext uri="{BB962C8B-B14F-4D97-AF65-F5344CB8AC3E}">
        <p14:creationId xmlns:p14="http://schemas.microsoft.com/office/powerpoint/2010/main" val="1133326048"/>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3" name="top-rule">
            <a:extLst xmlns:a="http://schemas.openxmlformats.org/drawingml/2006/main">
              <a:ext uri="{FF2B5EF4-FFF2-40B4-BE49-F238E27FC236}">
                <a16:creationId xmlns:a16="http://schemas.microsoft.com/office/drawing/2014/main" id="{0BB011E6-5D63-426C-AEFA-7B71089E9CB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F4C5A"/>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6DB10CCE-77BC-4BF3-82CE-AC0D000AC7DD}"/>
              </a:ext>
            </a:extLst>
          </p:cNvPr>
          <p:cNvSpPr>
            <a:spLocks xmlns:a="http://schemas.openxmlformats.org/drawingml/2006/main" noGrp="1"/>
          </p:cNvSpPr>
          <p:nvPr/>
        </p:nvSpPr>
        <p:spPr>
          <a:xfrm xmlns:a="http://schemas.openxmlformats.org/drawingml/2006/main">
            <a:off x="533400" y="2857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BF4C5A"/>
                </a:solidFill>
                <a:latin typeface="Aptos"/>
                <a:ea typeface="Aptos"/>
                <a:cs typeface="Aptos"/>
              </a:defRPr>
            </a:pPr>
            <a:r>
              <a:rPr sz="1050" b="1">
                <a:solidFill>
                  <a:srgbClr val="BF4C5A"/>
                </a:solidFill>
                <a:latin typeface="Aptos"/>
                <a:ea typeface="Aptos"/>
                <a:cs typeface="Aptos"/>
              </a:rPr>
              <a:t>MODEL A LONGER RESPONSE</a:t>
            </a:r>
          </a:p>
        </p:txBody>
      </p:sp>
      <p:sp>
        <p:nvSpPr>
          <p:cNvPr id="3" name="title">
            <a:extLst xmlns:a="http://schemas.openxmlformats.org/drawingml/2006/main">
              <a:ext uri="{FF2B5EF4-FFF2-40B4-BE49-F238E27FC236}">
                <a16:creationId xmlns:a16="http://schemas.microsoft.com/office/drawing/2014/main" id="{D6A82062-579B-4589-B231-3E0B3BB25FAC}"/>
              </a:ext>
            </a:extLst>
          </p:cNvPr>
          <p:cNvSpPr>
            <a:spLocks xmlns:a="http://schemas.openxmlformats.org/drawingml/2006/main" noGrp="1"/>
          </p:cNvSpPr>
          <p:nvPr/>
        </p:nvSpPr>
        <p:spPr>
          <a:xfrm xmlns:a="http://schemas.openxmlformats.org/drawingml/2006/main">
            <a:off x="533400" y="72390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850" b="1">
                <a:solidFill>
                  <a:srgbClr val="20302E"/>
                </a:solidFill>
                <a:latin typeface="Aptos Display"/>
                <a:ea typeface="Aptos Display"/>
                <a:cs typeface="Aptos Display"/>
              </a:defRPr>
            </a:pPr>
            <a:r>
              <a:rPr sz="2850" b="1">
                <a:solidFill>
                  <a:srgbClr val="20302E"/>
                </a:solidFill>
                <a:latin typeface="Aptos Display"/>
                <a:ea typeface="Aptos Display"/>
                <a:cs typeface="Aptos Display"/>
              </a:rPr>
              <a:t>Read → Select → Explain → Check</a:t>
            </a:r>
          </a:p>
        </p:txBody>
      </p:sp>
      <p:sp>
        <p:nvSpPr>
          <p:cNvPr id="4" name="question-surface">
            <a:extLst xmlns:a="http://schemas.openxmlformats.org/drawingml/2006/main">
              <a:ext uri="{FF2B5EF4-FFF2-40B4-BE49-F238E27FC236}">
                <a16:creationId xmlns:a16="http://schemas.microsoft.com/office/drawing/2014/main" id="{809B17BD-2450-447E-98EF-262E7CE0CAA1}"/>
              </a:ext>
            </a:extLst>
          </p:cNvPr>
          <p:cNvSpPr>
            <a:spLocks xmlns:a="http://schemas.openxmlformats.org/drawingml/2006/main" noGrp="1"/>
          </p:cNvSpPr>
          <p:nvPr/>
        </p:nvSpPr>
        <p:spPr>
          <a:xfrm xmlns:a="http://schemas.openxmlformats.org/drawingml/2006/main">
            <a:off x="533400" y="1562100"/>
            <a:ext cx="11125200" cy="14859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8D6CC"/>
            </a:solidFill>
            <a:prstDash val="solid"/>
          </a:ln>
        </p:spPr>
      </p:sp>
      <p:sp>
        <p:nvSpPr>
          <p:cNvPr id="5" name="question-label">
            <a:extLst xmlns:a="http://schemas.openxmlformats.org/drawingml/2006/main">
              <a:ext uri="{FF2B5EF4-FFF2-40B4-BE49-F238E27FC236}">
                <a16:creationId xmlns:a16="http://schemas.microsoft.com/office/drawing/2014/main" id="{F5F072E6-350A-4188-9F19-F22AA922C1DB}"/>
              </a:ext>
            </a:extLst>
          </p:cNvPr>
          <p:cNvSpPr>
            <a:spLocks xmlns:a="http://schemas.openxmlformats.org/drawingml/2006/main" noGrp="1"/>
          </p:cNvSpPr>
          <p:nvPr/>
        </p:nvSpPr>
        <p:spPr>
          <a:xfrm xmlns:a="http://schemas.openxmlformats.org/drawingml/2006/main">
            <a:off x="762000" y="1771650"/>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BF4C5A"/>
                </a:solidFill>
                <a:latin typeface="Aptos"/>
                <a:ea typeface="Aptos"/>
                <a:cs typeface="Aptos"/>
              </a:defRPr>
            </a:pPr>
            <a:r>
              <a:rPr sz="975" b="1">
                <a:solidFill>
                  <a:srgbClr val="BF4C5A"/>
                </a:solidFill>
                <a:latin typeface="Aptos"/>
                <a:ea typeface="Aptos"/>
                <a:cs typeface="Aptos"/>
              </a:rPr>
              <a:t>THE QUESTION</a:t>
            </a:r>
          </a:p>
        </p:txBody>
      </p:sp>
      <p:sp>
        <p:nvSpPr>
          <p:cNvPr id="6" name="question">
            <a:extLst xmlns:a="http://schemas.openxmlformats.org/drawingml/2006/main">
              <a:ext uri="{FF2B5EF4-FFF2-40B4-BE49-F238E27FC236}">
                <a16:creationId xmlns:a16="http://schemas.microsoft.com/office/drawing/2014/main" id="{EA3FB8FF-48FE-4B09-944D-2A775815D3BB}"/>
              </a:ext>
            </a:extLst>
          </p:cNvPr>
          <p:cNvSpPr>
            <a:spLocks xmlns:a="http://schemas.openxmlformats.org/drawingml/2006/main" noGrp="1"/>
          </p:cNvSpPr>
          <p:nvPr/>
        </p:nvSpPr>
        <p:spPr>
          <a:xfrm xmlns:a="http://schemas.openxmlformats.org/drawingml/2006/main">
            <a:off x="762000" y="2076450"/>
            <a:ext cx="106299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650" b="1">
                <a:solidFill>
                  <a:srgbClr val="20302E"/>
                </a:solidFill>
                <a:latin typeface="Aptos"/>
                <a:ea typeface="Aptos"/>
                <a:cs typeface="Aptos"/>
              </a:defRPr>
            </a:pPr>
            <a:r>
              <a:rPr sz="1650" b="1">
                <a:solidFill>
                  <a:srgbClr val="20302E"/>
                </a:solidFill>
                <a:latin typeface="Aptos"/>
                <a:ea typeface="Aptos"/>
                <a:cs typeface="Aptos"/>
              </a:rPr>
              <a:t>Evaluate the machine-control habits of an operator who starts quickly, watches only the needle, pulls fabric from behind and continues after an unusual sound. Propose and justify a safer, more accurate method.</a:t>
            </a:r>
          </a:p>
        </p:txBody>
      </p:sp>
      <p:sp>
        <p:nvSpPr>
          <p:cNvPr id="7" name="arrow-1">
            <a:extLst xmlns:a="http://schemas.openxmlformats.org/drawingml/2006/main">
              <a:ext uri="{FF2B5EF4-FFF2-40B4-BE49-F238E27FC236}">
                <a16:creationId xmlns:a16="http://schemas.microsoft.com/office/drawing/2014/main" id="{DF789ED8-96AB-412A-BF2D-FA7C41ED20F7}"/>
              </a:ext>
            </a:extLst>
          </p:cNvPr>
          <p:cNvSpPr>
            <a:spLocks xmlns:a="http://schemas.openxmlformats.org/drawingml/2006/main" noGrp="1"/>
          </p:cNvSpPr>
          <p:nvPr/>
        </p:nvSpPr>
        <p:spPr>
          <a:xfrm xmlns:a="http://schemas.openxmlformats.org/drawingml/2006/main">
            <a:off x="2914650" y="4038600"/>
            <a:ext cx="342900" cy="323850"/>
          </a:xfrm>
          <a:prstGeom xmlns:a="http://schemas.openxmlformats.org/drawingml/2006/main" prst="rightArrow">
            <a:avLst/>
          </a:prstGeom>
          <a:solidFill xmlns:a="http://schemas.openxmlformats.org/drawingml/2006/main">
            <a:srgbClr val="146B66"/>
          </a:solidFill>
          <a:ln xmlns:a="http://schemas.openxmlformats.org/drawingml/2006/main" w="0">
            <a:noFill/>
            <a:prstDash val="solid"/>
          </a:ln>
        </p:spPr>
      </p:sp>
      <p:sp>
        <p:nvSpPr>
          <p:cNvPr id="8" name="step-label-1">
            <a:extLst xmlns:a="http://schemas.openxmlformats.org/drawingml/2006/main">
              <a:ext uri="{FF2B5EF4-FFF2-40B4-BE49-F238E27FC236}">
                <a16:creationId xmlns:a16="http://schemas.microsoft.com/office/drawing/2014/main" id="{B5688041-7C6A-454C-BC8D-1DDA480691DD}"/>
              </a:ext>
            </a:extLst>
          </p:cNvPr>
          <p:cNvSpPr>
            <a:spLocks xmlns:a="http://schemas.openxmlformats.org/drawingml/2006/main" noGrp="1"/>
          </p:cNvSpPr>
          <p:nvPr/>
        </p:nvSpPr>
        <p:spPr>
          <a:xfrm xmlns:a="http://schemas.openxmlformats.org/drawingml/2006/main">
            <a:off x="533400" y="35433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146B66"/>
                </a:solidFill>
                <a:latin typeface="Aptos"/>
                <a:ea typeface="Aptos"/>
                <a:cs typeface="Aptos"/>
              </a:defRPr>
            </a:pPr>
            <a:r>
              <a:rPr sz="1200" b="1">
                <a:solidFill>
                  <a:srgbClr val="146B66"/>
                </a:solidFill>
                <a:latin typeface="Aptos"/>
                <a:ea typeface="Aptos"/>
                <a:cs typeface="Aptos"/>
              </a:rPr>
              <a:t>1  READ</a:t>
            </a:r>
          </a:p>
        </p:txBody>
      </p:sp>
      <p:sp>
        <p:nvSpPr>
          <p:cNvPr id="9" name="step-text-1">
            <a:extLst xmlns:a="http://schemas.openxmlformats.org/drawingml/2006/main">
              <a:ext uri="{FF2B5EF4-FFF2-40B4-BE49-F238E27FC236}">
                <a16:creationId xmlns:a16="http://schemas.microsoft.com/office/drawing/2014/main" id="{A3C53099-A42C-48F7-9E77-12F9E25CC504}"/>
              </a:ext>
            </a:extLst>
          </p:cNvPr>
          <p:cNvSpPr>
            <a:spLocks xmlns:a="http://schemas.openxmlformats.org/drawingml/2006/main" noGrp="1"/>
          </p:cNvSpPr>
          <p:nvPr/>
        </p:nvSpPr>
        <p:spPr>
          <a:xfrm xmlns:a="http://schemas.openxmlformats.org/drawingml/2006/main">
            <a:off x="533400" y="3981450"/>
            <a:ext cx="2343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a:solidFill>
                  <a:srgbClr val="20302E"/>
                </a:solidFill>
                <a:latin typeface="Aptos"/>
                <a:ea typeface="Aptos"/>
                <a:cs typeface="Aptos"/>
              </a:defRPr>
            </a:pPr>
            <a:r>
              <a:rPr sz="1350">
                <a:solidFill>
                  <a:srgbClr val="20302E"/>
                </a:solidFill>
                <a:latin typeface="Aptos"/>
                <a:ea typeface="Aptos"/>
                <a:cs typeface="Aptos"/>
              </a:rPr>
              <a:t>Identify the control and safety problem in each habit.</a:t>
            </a:r>
          </a:p>
        </p:txBody>
      </p:sp>
      <p:sp>
        <p:nvSpPr>
          <p:cNvPr id="10" name="arrow-2">
            <a:extLst xmlns:a="http://schemas.openxmlformats.org/drawingml/2006/main">
              <a:ext uri="{FF2B5EF4-FFF2-40B4-BE49-F238E27FC236}">
                <a16:creationId xmlns:a16="http://schemas.microsoft.com/office/drawing/2014/main" id="{693D87AC-A4E1-48C4-816F-2D0DD323AEFD}"/>
              </a:ext>
            </a:extLst>
          </p:cNvPr>
          <p:cNvSpPr>
            <a:spLocks xmlns:a="http://schemas.openxmlformats.org/drawingml/2006/main" noGrp="1"/>
          </p:cNvSpPr>
          <p:nvPr/>
        </p:nvSpPr>
        <p:spPr>
          <a:xfrm xmlns:a="http://schemas.openxmlformats.org/drawingml/2006/main">
            <a:off x="5695950" y="4038600"/>
            <a:ext cx="342900" cy="323850"/>
          </a:xfrm>
          <a:prstGeom xmlns:a="http://schemas.openxmlformats.org/drawingml/2006/main" prst="rightArrow">
            <a:avLst/>
          </a:prstGeom>
          <a:solidFill xmlns:a="http://schemas.openxmlformats.org/drawingml/2006/main">
            <a:srgbClr val="BF4C5A"/>
          </a:solidFill>
          <a:ln xmlns:a="http://schemas.openxmlformats.org/drawingml/2006/main" w="0">
            <a:noFill/>
            <a:prstDash val="solid"/>
          </a:ln>
        </p:spPr>
      </p:sp>
      <p:sp>
        <p:nvSpPr>
          <p:cNvPr id="11" name="step-label-2">
            <a:extLst xmlns:a="http://schemas.openxmlformats.org/drawingml/2006/main">
              <a:ext uri="{FF2B5EF4-FFF2-40B4-BE49-F238E27FC236}">
                <a16:creationId xmlns:a16="http://schemas.microsoft.com/office/drawing/2014/main" id="{1AF35B2F-D0E9-49F2-830D-C51D60249533}"/>
              </a:ext>
            </a:extLst>
          </p:cNvPr>
          <p:cNvSpPr>
            <a:spLocks xmlns:a="http://schemas.openxmlformats.org/drawingml/2006/main" noGrp="1"/>
          </p:cNvSpPr>
          <p:nvPr/>
        </p:nvSpPr>
        <p:spPr>
          <a:xfrm xmlns:a="http://schemas.openxmlformats.org/drawingml/2006/main">
            <a:off x="3314700" y="35433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BF4C5A"/>
                </a:solidFill>
                <a:latin typeface="Aptos"/>
                <a:ea typeface="Aptos"/>
                <a:cs typeface="Aptos"/>
              </a:defRPr>
            </a:pPr>
            <a:r>
              <a:rPr sz="1200" b="1">
                <a:solidFill>
                  <a:srgbClr val="BF4C5A"/>
                </a:solidFill>
                <a:latin typeface="Aptos"/>
                <a:ea typeface="Aptos"/>
                <a:cs typeface="Aptos"/>
              </a:rPr>
              <a:t>2  SELECT</a:t>
            </a:r>
          </a:p>
        </p:txBody>
      </p:sp>
      <p:sp>
        <p:nvSpPr>
          <p:cNvPr id="12" name="step-text-2">
            <a:extLst xmlns:a="http://schemas.openxmlformats.org/drawingml/2006/main">
              <a:ext uri="{FF2B5EF4-FFF2-40B4-BE49-F238E27FC236}">
                <a16:creationId xmlns:a16="http://schemas.microsoft.com/office/drawing/2014/main" id="{DBEE3006-5BF8-4075-8BD8-9EDC7A37D041}"/>
              </a:ext>
            </a:extLst>
          </p:cNvPr>
          <p:cNvSpPr>
            <a:spLocks xmlns:a="http://schemas.openxmlformats.org/drawingml/2006/main" noGrp="1"/>
          </p:cNvSpPr>
          <p:nvPr/>
        </p:nvSpPr>
        <p:spPr>
          <a:xfrm xmlns:a="http://schemas.openxmlformats.org/drawingml/2006/main">
            <a:off x="3314700" y="3981450"/>
            <a:ext cx="2343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a:solidFill>
                  <a:srgbClr val="20302E"/>
                </a:solidFill>
                <a:latin typeface="Aptos"/>
                <a:ea typeface="Aptos"/>
                <a:cs typeface="Aptos"/>
              </a:defRPr>
            </a:pPr>
            <a:r>
              <a:rPr sz="1350">
                <a:solidFill>
                  <a:srgbClr val="20302E"/>
                </a:solidFill>
                <a:latin typeface="Aptos"/>
                <a:ea typeface="Aptos"/>
                <a:cs typeface="Aptos"/>
              </a:rPr>
              <a:t>Explain how feed dogs, hand guidance and sight line should interact.</a:t>
            </a:r>
          </a:p>
        </p:txBody>
      </p:sp>
      <p:sp>
        <p:nvSpPr>
          <p:cNvPr id="13" name="arrow-3">
            <a:extLst xmlns:a="http://schemas.openxmlformats.org/drawingml/2006/main">
              <a:ext uri="{FF2B5EF4-FFF2-40B4-BE49-F238E27FC236}">
                <a16:creationId xmlns:a16="http://schemas.microsoft.com/office/drawing/2014/main" id="{1941EEE4-346E-465F-BA07-6D50A7F3B9D7}"/>
              </a:ext>
            </a:extLst>
          </p:cNvPr>
          <p:cNvSpPr>
            <a:spLocks xmlns:a="http://schemas.openxmlformats.org/drawingml/2006/main" noGrp="1"/>
          </p:cNvSpPr>
          <p:nvPr/>
        </p:nvSpPr>
        <p:spPr>
          <a:xfrm xmlns:a="http://schemas.openxmlformats.org/drawingml/2006/main">
            <a:off x="8477250" y="4038600"/>
            <a:ext cx="342900" cy="323850"/>
          </a:xfrm>
          <a:prstGeom xmlns:a="http://schemas.openxmlformats.org/drawingml/2006/main" prst="rightArrow">
            <a:avLst/>
          </a:prstGeom>
          <a:solidFill xmlns:a="http://schemas.openxmlformats.org/drawingml/2006/main">
            <a:srgbClr val="D49A34"/>
          </a:solidFill>
          <a:ln xmlns:a="http://schemas.openxmlformats.org/drawingml/2006/main" w="0">
            <a:noFill/>
            <a:prstDash val="solid"/>
          </a:ln>
        </p:spPr>
      </p:sp>
      <p:sp>
        <p:nvSpPr>
          <p:cNvPr id="14" name="step-label-3">
            <a:extLst xmlns:a="http://schemas.openxmlformats.org/drawingml/2006/main">
              <a:ext uri="{FF2B5EF4-FFF2-40B4-BE49-F238E27FC236}">
                <a16:creationId xmlns:a16="http://schemas.microsoft.com/office/drawing/2014/main" id="{C6DE8B8D-1902-4D88-96F5-2CC3E81AE0AD}"/>
              </a:ext>
            </a:extLst>
          </p:cNvPr>
          <p:cNvSpPr>
            <a:spLocks xmlns:a="http://schemas.openxmlformats.org/drawingml/2006/main" noGrp="1"/>
          </p:cNvSpPr>
          <p:nvPr/>
        </p:nvSpPr>
        <p:spPr>
          <a:xfrm xmlns:a="http://schemas.openxmlformats.org/drawingml/2006/main">
            <a:off x="6096000" y="35433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D49A34"/>
                </a:solidFill>
                <a:latin typeface="Aptos"/>
                <a:ea typeface="Aptos"/>
                <a:cs typeface="Aptos"/>
              </a:defRPr>
            </a:pPr>
            <a:r>
              <a:rPr sz="1200" b="1">
                <a:solidFill>
                  <a:srgbClr val="D49A34"/>
                </a:solidFill>
                <a:latin typeface="Aptos"/>
                <a:ea typeface="Aptos"/>
                <a:cs typeface="Aptos"/>
              </a:rPr>
              <a:t>3  EXPLAIN</a:t>
            </a:r>
          </a:p>
        </p:txBody>
      </p:sp>
      <p:sp>
        <p:nvSpPr>
          <p:cNvPr id="15" name="step-text-3">
            <a:extLst xmlns:a="http://schemas.openxmlformats.org/drawingml/2006/main">
              <a:ext uri="{FF2B5EF4-FFF2-40B4-BE49-F238E27FC236}">
                <a16:creationId xmlns:a16="http://schemas.microsoft.com/office/drawing/2014/main" id="{28BF43D7-7D51-404D-AA58-025A9AA86A67}"/>
              </a:ext>
            </a:extLst>
          </p:cNvPr>
          <p:cNvSpPr>
            <a:spLocks xmlns:a="http://schemas.openxmlformats.org/drawingml/2006/main" noGrp="1"/>
          </p:cNvSpPr>
          <p:nvPr/>
        </p:nvSpPr>
        <p:spPr>
          <a:xfrm xmlns:a="http://schemas.openxmlformats.org/drawingml/2006/main">
            <a:off x="6096000" y="3981450"/>
            <a:ext cx="2343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a:solidFill>
                  <a:srgbClr val="20302E"/>
                </a:solidFill>
                <a:latin typeface="Aptos"/>
                <a:ea typeface="Aptos"/>
                <a:cs typeface="Aptos"/>
              </a:defRPr>
            </a:pPr>
            <a:r>
              <a:rPr sz="1350">
                <a:solidFill>
                  <a:srgbClr val="20302E"/>
                </a:solidFill>
                <a:latin typeface="Aptos"/>
                <a:ea typeface="Aptos"/>
                <a:cs typeface="Aptos"/>
              </a:rPr>
              <a:t>Describe when and why speed should change.</a:t>
            </a:r>
          </a:p>
        </p:txBody>
      </p:sp>
      <p:sp>
        <p:nvSpPr>
          <p:cNvPr id="16" name="step-label-4">
            <a:extLst xmlns:a="http://schemas.openxmlformats.org/drawingml/2006/main">
              <a:ext uri="{FF2B5EF4-FFF2-40B4-BE49-F238E27FC236}">
                <a16:creationId xmlns:a16="http://schemas.microsoft.com/office/drawing/2014/main" id="{F6920EE5-BBE3-4DF2-9393-1DEFC7AA9B78}"/>
              </a:ext>
            </a:extLst>
          </p:cNvPr>
          <p:cNvSpPr>
            <a:spLocks xmlns:a="http://schemas.openxmlformats.org/drawingml/2006/main" noGrp="1"/>
          </p:cNvSpPr>
          <p:nvPr/>
        </p:nvSpPr>
        <p:spPr>
          <a:xfrm xmlns:a="http://schemas.openxmlformats.org/drawingml/2006/main">
            <a:off x="8877300" y="35433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0C4E4A"/>
                </a:solidFill>
                <a:latin typeface="Aptos"/>
                <a:ea typeface="Aptos"/>
                <a:cs typeface="Aptos"/>
              </a:defRPr>
            </a:pPr>
            <a:r>
              <a:rPr sz="1200" b="1">
                <a:solidFill>
                  <a:srgbClr val="0C4E4A"/>
                </a:solidFill>
                <a:latin typeface="Aptos"/>
                <a:ea typeface="Aptos"/>
                <a:cs typeface="Aptos"/>
              </a:rPr>
              <a:t>4  CHECK</a:t>
            </a:r>
          </a:p>
        </p:txBody>
      </p:sp>
      <p:sp>
        <p:nvSpPr>
          <p:cNvPr id="17" name="step-text-4">
            <a:extLst xmlns:a="http://schemas.openxmlformats.org/drawingml/2006/main">
              <a:ext uri="{FF2B5EF4-FFF2-40B4-BE49-F238E27FC236}">
                <a16:creationId xmlns:a16="http://schemas.microsoft.com/office/drawing/2014/main" id="{C4CF3BFD-3889-461E-82BA-5C80F0E70820}"/>
              </a:ext>
            </a:extLst>
          </p:cNvPr>
          <p:cNvSpPr>
            <a:spLocks xmlns:a="http://schemas.openxmlformats.org/drawingml/2006/main" noGrp="1"/>
          </p:cNvSpPr>
          <p:nvPr/>
        </p:nvSpPr>
        <p:spPr>
          <a:xfrm xmlns:a="http://schemas.openxmlformats.org/drawingml/2006/main">
            <a:off x="8877300" y="3981450"/>
            <a:ext cx="2343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a:solidFill>
                  <a:srgbClr val="20302E"/>
                </a:solidFill>
                <a:latin typeface="Aptos"/>
                <a:ea typeface="Aptos"/>
                <a:cs typeface="Aptos"/>
              </a:defRPr>
            </a:pPr>
            <a:r>
              <a:rPr sz="1350">
                <a:solidFill>
                  <a:srgbClr val="20302E"/>
                </a:solidFill>
                <a:latin typeface="Aptos"/>
                <a:ea typeface="Aptos"/>
                <a:cs typeface="Aptos"/>
              </a:rPr>
              <a:t>Sequence the response to warning signs and explain when work can resume.</a:t>
            </a:r>
          </a:p>
        </p:txBody>
      </p:sp>
      <p:sp>
        <p:nvSpPr>
          <p:cNvPr id="18" name="starter">
            <a:extLst xmlns:a="http://schemas.openxmlformats.org/drawingml/2006/main">
              <a:ext uri="{FF2B5EF4-FFF2-40B4-BE49-F238E27FC236}">
                <a16:creationId xmlns:a16="http://schemas.microsoft.com/office/drawing/2014/main" id="{041F9B79-7995-467A-B014-FB328F10A21E}"/>
              </a:ext>
            </a:extLst>
          </p:cNvPr>
          <p:cNvSpPr>
            <a:spLocks xmlns:a="http://schemas.openxmlformats.org/drawingml/2006/main" noGrp="1"/>
          </p:cNvSpPr>
          <p:nvPr/>
        </p:nvSpPr>
        <p:spPr>
          <a:xfrm xmlns:a="http://schemas.openxmlformats.org/drawingml/2006/main">
            <a:off x="533400" y="5429250"/>
            <a:ext cx="11125200" cy="704850"/>
          </a:xfrm>
          <a:prstGeom xmlns:a="http://schemas.openxmlformats.org/drawingml/2006/main" prst="roundRect">
            <a:avLst>
              <a:gd name="adj" fmla="val 16216"/>
            </a:avLst>
          </a:prstGeom>
          <a:solidFill xmlns:a="http://schemas.openxmlformats.org/drawingml/2006/main">
            <a:srgbClr val="FFF4D5"/>
          </a:solidFill>
          <a:ln xmlns:a="http://schemas.openxmlformats.org/drawingml/2006/main" w="9525">
            <a:solidFill>
              <a:srgbClr val="E7C87E"/>
            </a:solidFill>
            <a:prstDash val="solid"/>
          </a:ln>
        </p:spPr>
      </p:sp>
      <p:sp>
        <p:nvSpPr>
          <p:cNvPr id="19" name="starter-label">
            <a:extLst xmlns:a="http://schemas.openxmlformats.org/drawingml/2006/main">
              <a:ext uri="{FF2B5EF4-FFF2-40B4-BE49-F238E27FC236}">
                <a16:creationId xmlns:a16="http://schemas.microsoft.com/office/drawing/2014/main" id="{78E16DE8-2E17-4DD6-84B6-116F0E650F30}"/>
              </a:ext>
            </a:extLst>
          </p:cNvPr>
          <p:cNvSpPr>
            <a:spLocks xmlns:a="http://schemas.openxmlformats.org/drawingml/2006/main" noGrp="1"/>
          </p:cNvSpPr>
          <p:nvPr/>
        </p:nvSpPr>
        <p:spPr>
          <a:xfrm xmlns:a="http://schemas.openxmlformats.org/drawingml/2006/main">
            <a:off x="742950" y="55816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BF4C5A"/>
                </a:solidFill>
                <a:latin typeface="Aptos"/>
                <a:ea typeface="Aptos"/>
                <a:cs typeface="Aptos"/>
              </a:defRPr>
            </a:pPr>
            <a:r>
              <a:rPr sz="900" b="1">
                <a:solidFill>
                  <a:srgbClr val="BF4C5A"/>
                </a:solidFill>
                <a:latin typeface="Aptos"/>
                <a:ea typeface="Aptos"/>
                <a:cs typeface="Aptos"/>
              </a:rPr>
              <a:t>SENTENCE STARTER</a:t>
            </a:r>
          </a:p>
        </p:txBody>
      </p:sp>
      <p:sp>
        <p:nvSpPr>
          <p:cNvPr id="20" name="starter-text">
            <a:extLst xmlns:a="http://schemas.openxmlformats.org/drawingml/2006/main">
              <a:ext uri="{FF2B5EF4-FFF2-40B4-BE49-F238E27FC236}">
                <a16:creationId xmlns:a16="http://schemas.microsoft.com/office/drawing/2014/main" id="{971B3322-CCED-4BF3-881B-9216E6148B42}"/>
              </a:ext>
            </a:extLst>
          </p:cNvPr>
          <p:cNvSpPr>
            <a:spLocks xmlns:a="http://schemas.openxmlformats.org/drawingml/2006/main" noGrp="1"/>
          </p:cNvSpPr>
          <p:nvPr/>
        </p:nvSpPr>
        <p:spPr>
          <a:xfrm xmlns:a="http://schemas.openxmlformats.org/drawingml/2006/main">
            <a:off x="2381250" y="5553075"/>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350" b="1">
                <a:solidFill>
                  <a:srgbClr val="20302E"/>
                </a:solidFill>
                <a:latin typeface="Aptos"/>
                <a:ea typeface="Aptos"/>
                <a:cs typeface="Aptos"/>
              </a:defRPr>
            </a:pPr>
            <a:r>
              <a:rPr sz="1350" b="1">
                <a:solidFill>
                  <a:srgbClr val="20302E"/>
                </a:solidFill>
                <a:latin typeface="Aptos"/>
                <a:ea typeface="Aptos"/>
                <a:cs typeface="Aptos"/>
              </a:rPr>
              <a:t>The strongest evidence is … because it shows … This changes my decision by …</a:t>
            </a:r>
          </a:p>
        </p:txBody>
      </p:sp>
      <p:sp>
        <p:nvSpPr>
          <p:cNvPr id="21" name="footer-module">
            <a:extLst xmlns:a="http://schemas.openxmlformats.org/drawingml/2006/main">
              <a:ext uri="{FF2B5EF4-FFF2-40B4-BE49-F238E27FC236}">
                <a16:creationId xmlns:a16="http://schemas.microsoft.com/office/drawing/2014/main" id="{4CC263F5-035F-44B8-B326-0AC52ACCB985}"/>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66662"/>
                </a:solidFill>
                <a:latin typeface="Aptos"/>
                <a:ea typeface="Aptos"/>
                <a:cs typeface="Aptos"/>
              </a:defRPr>
            </a:pPr>
            <a:r>
              <a:rPr sz="900" b="1">
                <a:solidFill>
                  <a:srgbClr val="566662"/>
                </a:solidFill>
                <a:latin typeface="Aptos"/>
                <a:ea typeface="Aptos"/>
                <a:cs typeface="Aptos"/>
              </a:rPr>
              <a:t>SEW AWESOME  •  MODULE 03</a:t>
            </a:r>
          </a:p>
        </p:txBody>
      </p:sp>
      <p:sp>
        <p:nvSpPr>
          <p:cNvPr id="22" name="footer-page">
            <a:extLst xmlns:a="http://schemas.openxmlformats.org/drawingml/2006/main">
              <a:ext uri="{FF2B5EF4-FFF2-40B4-BE49-F238E27FC236}">
                <a16:creationId xmlns:a16="http://schemas.microsoft.com/office/drawing/2014/main" id="{5172EC20-01AC-4430-AAC6-CA2E56DF13D1}"/>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66662"/>
                </a:solidFill>
                <a:latin typeface="Aptos"/>
                <a:ea typeface="Aptos"/>
                <a:cs typeface="Aptos"/>
              </a:defRPr>
            </a:pPr>
            <a:r>
              <a:rPr sz="900" b="1">
                <a:solidFill>
                  <a:srgbClr val="566662"/>
                </a:solidFill>
                <a:latin typeface="Aptos"/>
                <a:ea typeface="Aptos"/>
                <a:cs typeface="Aptos"/>
              </a:rPr>
              <a:t>07</a:t>
            </a:r>
          </a:p>
        </p:txBody>
      </p:sp>
    </p:spTree>
    <p:extLst>
      <p:ext uri="{BB962C8B-B14F-4D97-AF65-F5344CB8AC3E}">
        <p14:creationId xmlns:p14="http://schemas.microsoft.com/office/powerpoint/2010/main" val="1199269857"/>
      </p:ext>
    </p:extLst>
  </p:cSld>
</p:sld>
</file>

<file path=ppt/slides/slide8.xml><?xml version="1.0" encoding="utf-8"?>
<p:sld xmlns:p="http://schemas.openxmlformats.org/presentationml/2006/main">
  <p:cSld>
    <p:bg>
      <p:bgPr>
        <a:solidFill xmlns:a="http://schemas.openxmlformats.org/drawingml/2006/main">
          <a:srgbClr val="BF4C5A"/>
        </a:solidFill>
      </p:bgPr>
    </p:bg>
    <p:spTree>
      <p:nvGrpSpPr>
        <p:cNvPr id="1" name=""/>
        <p:cNvGrpSpPr/>
        <p:nvPr/>
      </p:nvGrpSpPr>
      <p:grpSpPr>
        <a:xfrm xmlns:a="http://schemas.openxmlformats.org/drawingml/2006/main"/>
      </p:grpSpPr>
      <p:sp>
        <p:nvSpPr>
          <p:cNvPr id="18" name="top-rule">
            <a:extLst xmlns:a="http://schemas.openxmlformats.org/drawingml/2006/main">
              <a:ext uri="{FF2B5EF4-FFF2-40B4-BE49-F238E27FC236}">
                <a16:creationId xmlns:a16="http://schemas.microsoft.com/office/drawing/2014/main" id="{9DDB2473-9240-494E-AAC4-BC400962E61D}"/>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49A34"/>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59458A6A-F2BA-4823-B77C-18A17D83F5FF}"/>
              </a:ext>
            </a:extLst>
          </p:cNvPr>
          <p:cNvSpPr>
            <a:spLocks xmlns:a="http://schemas.openxmlformats.org/drawingml/2006/main" noGrp="1"/>
          </p:cNvSpPr>
          <p:nvPr/>
        </p:nvSpPr>
        <p:spPr>
          <a:xfrm xmlns:a="http://schemas.openxmlformats.org/drawingml/2006/main">
            <a:off x="533400" y="3238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FF0BF"/>
                </a:solidFill>
                <a:latin typeface="Aptos"/>
                <a:ea typeface="Aptos"/>
                <a:cs typeface="Aptos"/>
              </a:defRPr>
            </a:pPr>
            <a:r>
              <a:rPr sz="1050" b="1">
                <a:solidFill>
                  <a:srgbClr val="FFF0BF"/>
                </a:solidFill>
                <a:latin typeface="Aptos"/>
                <a:ea typeface="Aptos"/>
                <a:cs typeface="Aptos"/>
              </a:rPr>
              <a:t>CLOSE THE LOOP</a:t>
            </a:r>
          </a:p>
        </p:txBody>
      </p:sp>
      <p:sp>
        <p:nvSpPr>
          <p:cNvPr id="3" name="title">
            <a:extLst xmlns:a="http://schemas.openxmlformats.org/drawingml/2006/main">
              <a:ext uri="{FF2B5EF4-FFF2-40B4-BE49-F238E27FC236}">
                <a16:creationId xmlns:a16="http://schemas.microsoft.com/office/drawing/2014/main" id="{D00FBA67-9D46-42AA-8F12-A59D9EDBA49E}"/>
              </a:ext>
            </a:extLst>
          </p:cNvPr>
          <p:cNvSpPr>
            <a:spLocks xmlns:a="http://schemas.openxmlformats.org/drawingml/2006/main" noGrp="1"/>
          </p:cNvSpPr>
          <p:nvPr/>
        </p:nvSpPr>
        <p:spPr>
          <a:xfrm xmlns:a="http://schemas.openxmlformats.org/drawingml/2006/main">
            <a:off x="533400" y="819150"/>
            <a:ext cx="7429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Before you pack up…</a:t>
            </a:r>
          </a:p>
        </p:txBody>
      </p:sp>
      <p:sp>
        <p:nvSpPr>
          <p:cNvPr id="4" name="exit-1">
            <a:extLst xmlns:a="http://schemas.openxmlformats.org/drawingml/2006/main">
              <a:ext uri="{FF2B5EF4-FFF2-40B4-BE49-F238E27FC236}">
                <a16:creationId xmlns:a16="http://schemas.microsoft.com/office/drawing/2014/main" id="{7332935E-948D-477B-B91E-369C31F00415}"/>
              </a:ext>
            </a:extLst>
          </p:cNvPr>
          <p:cNvSpPr>
            <a:spLocks xmlns:a="http://schemas.openxmlformats.org/drawingml/2006/main" noGrp="1"/>
          </p:cNvSpPr>
          <p:nvPr/>
        </p:nvSpPr>
        <p:spPr>
          <a:xfrm xmlns:a="http://schemas.openxmlformats.org/drawingml/2006/main">
            <a:off x="533400" y="1790700"/>
            <a:ext cx="80962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9525">
            <a:solidFill>
              <a:srgbClr val="EAC2C8"/>
            </a:solidFill>
            <a:prstDash val="solid"/>
          </a:ln>
        </p:spPr>
      </p:sp>
      <p:sp>
        <p:nvSpPr>
          <p:cNvPr id="5" name="exit-text-1">
            <a:extLst xmlns:a="http://schemas.openxmlformats.org/drawingml/2006/main">
              <a:ext uri="{FF2B5EF4-FFF2-40B4-BE49-F238E27FC236}">
                <a16:creationId xmlns:a16="http://schemas.microsoft.com/office/drawing/2014/main" id="{C8AEEE2D-ACF6-4E81-B863-A667061B9D31}"/>
              </a:ext>
            </a:extLst>
          </p:cNvPr>
          <p:cNvSpPr>
            <a:spLocks xmlns:a="http://schemas.openxmlformats.org/drawingml/2006/main" noGrp="1"/>
          </p:cNvSpPr>
          <p:nvPr/>
        </p:nvSpPr>
        <p:spPr>
          <a:xfrm xmlns:a="http://schemas.openxmlformats.org/drawingml/2006/main">
            <a:off x="781050" y="19335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20302E"/>
                </a:solidFill>
                <a:latin typeface="Aptos"/>
                <a:ea typeface="Aptos"/>
                <a:cs typeface="Aptos"/>
              </a:defRPr>
            </a:pPr>
            <a:r>
              <a:rPr sz="1500" b="1">
                <a:solidFill>
                  <a:srgbClr val="20302E"/>
                </a:solidFill>
                <a:latin typeface="Aptos"/>
                <a:ea typeface="Aptos"/>
                <a:cs typeface="Aptos"/>
              </a:rPr>
              <a:t>1. One idea I can now explain is…</a:t>
            </a:r>
          </a:p>
        </p:txBody>
      </p:sp>
      <p:sp>
        <p:nvSpPr>
          <p:cNvPr id="6" name="exit-2">
            <a:extLst xmlns:a="http://schemas.openxmlformats.org/drawingml/2006/main">
              <a:ext uri="{FF2B5EF4-FFF2-40B4-BE49-F238E27FC236}">
                <a16:creationId xmlns:a16="http://schemas.microsoft.com/office/drawing/2014/main" id="{962B1D27-D58C-4AFA-A394-F50D90F1D036}"/>
              </a:ext>
            </a:extLst>
          </p:cNvPr>
          <p:cNvSpPr>
            <a:spLocks xmlns:a="http://schemas.openxmlformats.org/drawingml/2006/main" noGrp="1"/>
          </p:cNvSpPr>
          <p:nvPr/>
        </p:nvSpPr>
        <p:spPr>
          <a:xfrm xmlns:a="http://schemas.openxmlformats.org/drawingml/2006/main">
            <a:off x="533400" y="2628900"/>
            <a:ext cx="80962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9525">
            <a:solidFill>
              <a:srgbClr val="EAC2C8"/>
            </a:solidFill>
            <a:prstDash val="solid"/>
          </a:ln>
        </p:spPr>
      </p:sp>
      <p:sp>
        <p:nvSpPr>
          <p:cNvPr id="7" name="exit-text-2">
            <a:extLst xmlns:a="http://schemas.openxmlformats.org/drawingml/2006/main">
              <a:ext uri="{FF2B5EF4-FFF2-40B4-BE49-F238E27FC236}">
                <a16:creationId xmlns:a16="http://schemas.microsoft.com/office/drawing/2014/main" id="{5E731D57-0E7B-45DF-AFB0-D8B7A8AF9655}"/>
              </a:ext>
            </a:extLst>
          </p:cNvPr>
          <p:cNvSpPr>
            <a:spLocks xmlns:a="http://schemas.openxmlformats.org/drawingml/2006/main" noGrp="1"/>
          </p:cNvSpPr>
          <p:nvPr/>
        </p:nvSpPr>
        <p:spPr>
          <a:xfrm xmlns:a="http://schemas.openxmlformats.org/drawingml/2006/main">
            <a:off x="781050" y="27717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20302E"/>
                </a:solidFill>
                <a:latin typeface="Aptos"/>
                <a:ea typeface="Aptos"/>
                <a:cs typeface="Aptos"/>
              </a:defRPr>
            </a:pPr>
            <a:r>
              <a:rPr sz="1500" b="1">
                <a:solidFill>
                  <a:srgbClr val="20302E"/>
                </a:solidFill>
                <a:latin typeface="Aptos"/>
                <a:ea typeface="Aptos"/>
                <a:cs typeface="Aptos"/>
              </a:rPr>
              <a:t>2. One decision or practical action this changes is…</a:t>
            </a:r>
          </a:p>
        </p:txBody>
      </p:sp>
      <p:sp>
        <p:nvSpPr>
          <p:cNvPr id="8" name="exit-3">
            <a:extLst xmlns:a="http://schemas.openxmlformats.org/drawingml/2006/main">
              <a:ext uri="{FF2B5EF4-FFF2-40B4-BE49-F238E27FC236}">
                <a16:creationId xmlns:a16="http://schemas.microsoft.com/office/drawing/2014/main" id="{069E0DBF-4CC1-43E0-9234-A572E38355DE}"/>
              </a:ext>
            </a:extLst>
          </p:cNvPr>
          <p:cNvSpPr>
            <a:spLocks xmlns:a="http://schemas.openxmlformats.org/drawingml/2006/main" noGrp="1"/>
          </p:cNvSpPr>
          <p:nvPr/>
        </p:nvSpPr>
        <p:spPr>
          <a:xfrm xmlns:a="http://schemas.openxmlformats.org/drawingml/2006/main">
            <a:off x="533400" y="3467100"/>
            <a:ext cx="80962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9525">
            <a:solidFill>
              <a:srgbClr val="EAC2C8"/>
            </a:solidFill>
            <a:prstDash val="solid"/>
          </a:ln>
        </p:spPr>
      </p:sp>
      <p:sp>
        <p:nvSpPr>
          <p:cNvPr id="9" name="exit-text-3">
            <a:extLst xmlns:a="http://schemas.openxmlformats.org/drawingml/2006/main">
              <a:ext uri="{FF2B5EF4-FFF2-40B4-BE49-F238E27FC236}">
                <a16:creationId xmlns:a16="http://schemas.microsoft.com/office/drawing/2014/main" id="{95687024-FF93-4A47-8806-F5F10363D26D}"/>
              </a:ext>
            </a:extLst>
          </p:cNvPr>
          <p:cNvSpPr>
            <a:spLocks xmlns:a="http://schemas.openxmlformats.org/drawingml/2006/main" noGrp="1"/>
          </p:cNvSpPr>
          <p:nvPr/>
        </p:nvSpPr>
        <p:spPr>
          <a:xfrm xmlns:a="http://schemas.openxmlformats.org/drawingml/2006/main">
            <a:off x="781050" y="36099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20302E"/>
                </a:solidFill>
                <a:latin typeface="Aptos"/>
                <a:ea typeface="Aptos"/>
                <a:cs typeface="Aptos"/>
              </a:defRPr>
            </a:pPr>
            <a:r>
              <a:rPr sz="1500" b="1">
                <a:solidFill>
                  <a:srgbClr val="20302E"/>
                </a:solidFill>
                <a:latin typeface="Aptos"/>
                <a:ea typeface="Aptos"/>
                <a:cs typeface="Aptos"/>
              </a:rPr>
              <a:t>3. One question I still need answered is…</a:t>
            </a:r>
          </a:p>
        </p:txBody>
      </p:sp>
      <p:sp>
        <p:nvSpPr>
          <p:cNvPr id="10" name="evidence-circle">
            <a:extLst xmlns:a="http://schemas.openxmlformats.org/drawingml/2006/main">
              <a:ext uri="{FF2B5EF4-FFF2-40B4-BE49-F238E27FC236}">
                <a16:creationId xmlns:a16="http://schemas.microsoft.com/office/drawing/2014/main" id="{7E4107BA-8092-4BAC-8D2F-DC8A3F245DE3}"/>
              </a:ext>
            </a:extLst>
          </p:cNvPr>
          <p:cNvSpPr>
            <a:spLocks xmlns:a="http://schemas.openxmlformats.org/drawingml/2006/main" noGrp="1"/>
          </p:cNvSpPr>
          <p:nvPr/>
        </p:nvSpPr>
        <p:spPr>
          <a:xfrm xmlns:a="http://schemas.openxmlformats.org/drawingml/2006/main">
            <a:off x="9277350" y="2019300"/>
            <a:ext cx="1676400" cy="1676400"/>
          </a:xfrm>
          <a:prstGeom xmlns:a="http://schemas.openxmlformats.org/drawingml/2006/main" prst="ellipse">
            <a:avLst/>
          </a:prstGeom>
          <a:solidFill xmlns:a="http://schemas.openxmlformats.org/drawingml/2006/main">
            <a:srgbClr val="D49A34"/>
          </a:solidFill>
          <a:ln xmlns:a="http://schemas.openxmlformats.org/drawingml/2006/main" w="9525">
            <a:solidFill>
              <a:srgbClr val="D49A34"/>
            </a:solidFill>
            <a:prstDash val="solid"/>
          </a:ln>
        </p:spPr>
      </p:sp>
      <p:sp>
        <p:nvSpPr>
          <p:cNvPr id="11" name="evidence-destination">
            <a:extLst xmlns:a="http://schemas.openxmlformats.org/drawingml/2006/main">
              <a:ext uri="{FF2B5EF4-FFF2-40B4-BE49-F238E27FC236}">
                <a16:creationId xmlns:a16="http://schemas.microsoft.com/office/drawing/2014/main" id="{DC313A9E-CD4A-450A-9030-D4378D0C26EC}"/>
              </a:ext>
            </a:extLst>
          </p:cNvPr>
          <p:cNvSpPr>
            <a:spLocks xmlns:a="http://schemas.openxmlformats.org/drawingml/2006/main" noGrp="1"/>
          </p:cNvSpPr>
          <p:nvPr/>
        </p:nvSpPr>
        <p:spPr>
          <a:xfrm xmlns:a="http://schemas.openxmlformats.org/drawingml/2006/main">
            <a:off x="9496425" y="2362200"/>
            <a:ext cx="123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0C4E4A"/>
                </a:solidFill>
                <a:latin typeface="Aptos"/>
                <a:ea typeface="Aptos"/>
                <a:cs typeface="Aptos"/>
              </a:defRPr>
            </a:pPr>
            <a:r>
              <a:rPr sz="1500" b="1">
                <a:solidFill>
                  <a:srgbClr val="0C4E4A"/>
                </a:solidFill>
                <a:latin typeface="Aptos"/>
                <a:ea typeface="Aptos"/>
                <a:cs typeface="Aptos"/>
              </a:rPr>
              <a:t>SAVE</a:t>
            </a:r>
          </a:p>
          <a:p xmlns:a="http://schemas.openxmlformats.org/drawingml/2006/main">
            <a:pPr algn="ctr">
              <a:defRPr sz="1500" b="1">
                <a:solidFill>
                  <a:srgbClr val="0C4E4A"/>
                </a:solidFill>
                <a:latin typeface="Aptos"/>
                <a:ea typeface="Aptos"/>
                <a:cs typeface="Aptos"/>
              </a:defRPr>
            </a:pPr>
            <a:r>
              <a:rPr sz="1500" b="1">
                <a:solidFill>
                  <a:srgbClr val="0C4E4A"/>
                </a:solidFill>
                <a:latin typeface="Aptos"/>
                <a:ea typeface="Aptos"/>
                <a:cs typeface="Aptos"/>
              </a:rPr>
              <a:t>MY FOLIO</a:t>
            </a:r>
          </a:p>
          <a:p xmlns:a="http://schemas.openxmlformats.org/drawingml/2006/main">
            <a:pPr algn="ctr">
              <a:defRPr sz="1500" b="1">
                <a:solidFill>
                  <a:srgbClr val="0C4E4A"/>
                </a:solidFill>
                <a:latin typeface="Aptos"/>
                <a:ea typeface="Aptos"/>
                <a:cs typeface="Aptos"/>
              </a:defRPr>
            </a:pPr>
            <a:r>
              <a:rPr sz="1500" b="1">
                <a:solidFill>
                  <a:srgbClr val="0C4E4A"/>
                </a:solidFill>
                <a:latin typeface="Aptos"/>
                <a:ea typeface="Aptos"/>
                <a:cs typeface="Aptos"/>
              </a:rPr>
              <a:t>MODULE 3</a:t>
            </a:r>
          </a:p>
        </p:txBody>
      </p:sp>
      <p:sp>
        <p:nvSpPr>
          <p:cNvPr id="12" name="teacher-confirm">
            <a:extLst xmlns:a="http://schemas.openxmlformats.org/drawingml/2006/main">
              <a:ext uri="{FF2B5EF4-FFF2-40B4-BE49-F238E27FC236}">
                <a16:creationId xmlns:a16="http://schemas.microsoft.com/office/drawing/2014/main" id="{4C1820CB-48AB-4C1A-9FBB-EF42AB3A947B}"/>
              </a:ext>
            </a:extLst>
          </p:cNvPr>
          <p:cNvSpPr>
            <a:spLocks xmlns:a="http://schemas.openxmlformats.org/drawingml/2006/main" noGrp="1"/>
          </p:cNvSpPr>
          <p:nvPr/>
        </p:nvSpPr>
        <p:spPr>
          <a:xfrm xmlns:a="http://schemas.openxmlformats.org/drawingml/2006/main">
            <a:off x="533400" y="4438650"/>
            <a:ext cx="11125200" cy="819150"/>
          </a:xfrm>
          <a:prstGeom xmlns:a="http://schemas.openxmlformats.org/drawingml/2006/main" prst="roundRect">
            <a:avLst>
              <a:gd name="adj" fmla="val 13953"/>
            </a:avLst>
          </a:prstGeom>
          <a:solidFill xmlns:a="http://schemas.openxmlformats.org/drawingml/2006/main">
            <a:srgbClr val="8F3340"/>
          </a:solidFill>
          <a:ln xmlns:a="http://schemas.openxmlformats.org/drawingml/2006/main" w="9525">
            <a:solidFill>
              <a:srgbClr val="D9828E"/>
            </a:solidFill>
            <a:prstDash val="solid"/>
          </a:ln>
        </p:spPr>
      </p:sp>
      <p:sp>
        <p:nvSpPr>
          <p:cNvPr id="13" name="teacher-confirm-text">
            <a:extLst xmlns:a="http://schemas.openxmlformats.org/drawingml/2006/main">
              <a:ext uri="{FF2B5EF4-FFF2-40B4-BE49-F238E27FC236}">
                <a16:creationId xmlns:a16="http://schemas.microsoft.com/office/drawing/2014/main" id="{CD20A1C6-C8C9-4B35-B69E-46DFDBDAF21E}"/>
              </a:ext>
            </a:extLst>
          </p:cNvPr>
          <p:cNvSpPr>
            <a:spLocks xmlns:a="http://schemas.openxmlformats.org/drawingml/2006/main" noGrp="1"/>
          </p:cNvSpPr>
          <p:nvPr/>
        </p:nvSpPr>
        <p:spPr>
          <a:xfrm xmlns:a="http://schemas.openxmlformats.org/drawingml/2006/main">
            <a:off x="742950" y="4572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275" b="1">
                <a:solidFill>
                  <a:srgbClr val="FFFFFF"/>
                </a:solidFill>
                <a:latin typeface="Aptos"/>
                <a:ea typeface="Aptos"/>
                <a:cs typeface="Aptos"/>
              </a:defRPr>
            </a:pPr>
            <a:r>
              <a:rPr sz="1275" b="1">
                <a:solidFill>
                  <a:srgbClr val="FFFFFF"/>
                </a:solidFill>
                <a:latin typeface="Aptos"/>
                <a:ea typeface="Aptos"/>
                <a:cs typeface="Aptos"/>
              </a:rPr>
              <a:t>TEACHER TO CONFIRM  •  Machine model and labelled part names; Exact threading and bobbin sequence</a:t>
            </a:r>
          </a:p>
        </p:txBody>
      </p:sp>
      <p:sp>
        <p:nvSpPr>
          <p:cNvPr id="14" name="next-step-label">
            <a:extLst xmlns:a="http://schemas.openxmlformats.org/drawingml/2006/main">
              <a:ext uri="{FF2B5EF4-FFF2-40B4-BE49-F238E27FC236}">
                <a16:creationId xmlns:a16="http://schemas.microsoft.com/office/drawing/2014/main" id="{2CD74703-720C-4B70-B1D6-1C8FA3875101}"/>
              </a:ext>
            </a:extLst>
          </p:cNvPr>
          <p:cNvSpPr>
            <a:spLocks xmlns:a="http://schemas.openxmlformats.org/drawingml/2006/main" noGrp="1"/>
          </p:cNvSpPr>
          <p:nvPr/>
        </p:nvSpPr>
        <p:spPr>
          <a:xfrm xmlns:a="http://schemas.openxmlformats.org/drawingml/2006/main">
            <a:off x="533400" y="55435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0BF"/>
                </a:solidFill>
                <a:latin typeface="Aptos"/>
                <a:ea typeface="Aptos"/>
                <a:cs typeface="Aptos"/>
              </a:defRPr>
            </a:pPr>
            <a:r>
              <a:rPr sz="900" b="1">
                <a:solidFill>
                  <a:srgbClr val="FFF0BF"/>
                </a:solidFill>
                <a:latin typeface="Aptos"/>
                <a:ea typeface="Aptos"/>
                <a:cs typeface="Aptos"/>
              </a:rPr>
              <a:t>NEXT STEP</a:t>
            </a:r>
          </a:p>
        </p:txBody>
      </p:sp>
      <p:sp>
        <p:nvSpPr>
          <p:cNvPr id="15" name="next-step">
            <a:extLst xmlns:a="http://schemas.openxmlformats.org/drawingml/2006/main">
              <a:ext uri="{FF2B5EF4-FFF2-40B4-BE49-F238E27FC236}">
                <a16:creationId xmlns:a16="http://schemas.microsoft.com/office/drawing/2014/main" id="{AD878208-EA7A-4092-A464-F95FA065B66C}"/>
              </a:ext>
            </a:extLst>
          </p:cNvPr>
          <p:cNvSpPr>
            <a:spLocks xmlns:a="http://schemas.openxmlformats.org/drawingml/2006/main" noGrp="1"/>
          </p:cNvSpPr>
          <p:nvPr/>
        </p:nvSpPr>
        <p:spPr>
          <a:xfrm xmlns:a="http://schemas.openxmlformats.org/drawingml/2006/main">
            <a:off x="1676400" y="5486400"/>
            <a:ext cx="9982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350" b="1">
                <a:solidFill>
                  <a:srgbClr val="FFFFFF"/>
                </a:solidFill>
                <a:latin typeface="Aptos"/>
                <a:ea typeface="Aptos"/>
                <a:cs typeface="Aptos"/>
              </a:defRPr>
            </a:pPr>
            <a:r>
              <a:rPr sz="1350" b="1">
                <a:solidFill>
                  <a:srgbClr val="FFFFFF"/>
                </a:solidFill>
                <a:latin typeface="Aptos"/>
                <a:ea typeface="Aptos"/>
                <a:cs typeface="Aptos"/>
              </a:rPr>
              <a:t>Students will choose and test straight and zigzag stitch functions.</a:t>
            </a:r>
          </a:p>
        </p:txBody>
      </p:sp>
      <p:sp>
        <p:nvSpPr>
          <p:cNvPr id="16" name="status-boundary">
            <a:extLst xmlns:a="http://schemas.openxmlformats.org/drawingml/2006/main">
              <a:ext uri="{FF2B5EF4-FFF2-40B4-BE49-F238E27FC236}">
                <a16:creationId xmlns:a16="http://schemas.microsoft.com/office/drawing/2014/main" id="{7AAF57A4-14A7-456E-832C-7A916551A7CD}"/>
              </a:ext>
            </a:extLst>
          </p:cNvPr>
          <p:cNvSpPr>
            <a:spLocks xmlns:a="http://schemas.openxmlformats.org/drawingml/2006/main" noGrp="1"/>
          </p:cNvSpPr>
          <p:nvPr/>
        </p:nvSpPr>
        <p:spPr>
          <a:xfrm xmlns:a="http://schemas.openxmlformats.org/drawingml/2006/main">
            <a:off x="533400" y="6191250"/>
            <a:ext cx="885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75">
                <a:solidFill>
                  <a:srgbClr val="FBE5E8"/>
                </a:solidFill>
                <a:latin typeface="Aptos"/>
                <a:ea typeface="Aptos"/>
                <a:cs typeface="Aptos"/>
              </a:defRPr>
            </a:pPr>
            <a:r>
              <a:rPr sz="975">
                <a:solidFill>
                  <a:srgbClr val="FBE5E8"/>
                </a:solidFill>
                <a:latin typeface="Aptos"/>
                <a:ea typeface="Aptos"/>
                <a:cs typeface="Aptos"/>
              </a:rPr>
              <a:t>Formative classroom evidence only — follow your teacher’s current submission process.</a:t>
            </a:r>
          </a:p>
        </p:txBody>
      </p:sp>
      <p:sp>
        <p:nvSpPr>
          <p:cNvPr id="17" name="page">
            <a:extLst xmlns:a="http://schemas.openxmlformats.org/drawingml/2006/main">
              <a:ext uri="{FF2B5EF4-FFF2-40B4-BE49-F238E27FC236}">
                <a16:creationId xmlns:a16="http://schemas.microsoft.com/office/drawing/2014/main" id="{C4FF624A-0BEB-4423-9D89-1B3CBBAB8F34}"/>
              </a:ext>
            </a:extLst>
          </p:cNvPr>
          <p:cNvSpPr>
            <a:spLocks xmlns:a="http://schemas.openxmlformats.org/drawingml/2006/main" noGrp="1"/>
          </p:cNvSpPr>
          <p:nvPr/>
        </p:nvSpPr>
        <p:spPr>
          <a:xfrm xmlns:a="http://schemas.openxmlformats.org/drawingml/2006/main">
            <a:off x="11182350" y="61912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FBE5E8"/>
                </a:solidFill>
                <a:latin typeface="Aptos"/>
                <a:ea typeface="Aptos"/>
                <a:cs typeface="Aptos"/>
              </a:defRPr>
            </a:pPr>
            <a:r>
              <a:rPr sz="900" b="1">
                <a:solidFill>
                  <a:srgbClr val="FBE5E8"/>
                </a:solidFill>
                <a:latin typeface="Aptos"/>
                <a:ea typeface="Aptos"/>
                <a:cs typeface="Aptos"/>
              </a:rPr>
              <a:t>08</a:t>
            </a:r>
          </a:p>
        </p:txBody>
      </p:sp>
    </p:spTree>
    <p:extLst>
      <p:ext uri="{BB962C8B-B14F-4D97-AF65-F5344CB8AC3E}">
        <p14:creationId xmlns:p14="http://schemas.microsoft.com/office/powerpoint/2010/main" val="3985679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2026-08-27T08:40:36.1720000Z</dcterms:created>
  <dcterms:modified xsi:type="dcterms:W3CDTF">2026-08-27T08:40:36.1720000Z</dcterms:modified>
</coreProperties>
</file>