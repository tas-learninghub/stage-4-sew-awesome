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70442466c794fc2" /><Relationship Type="http://schemas.openxmlformats.org/officeDocument/2006/relationships/extended-properties" Target="/docProps/app.xml" Id="R7aa4863883e14467" /><Relationship Type="http://schemas.openxmlformats.org/officeDocument/2006/relationships/officeDocument" Target="/ppt/presentation.xml" Id="Rb6b018f5732a457d" /></Relationships>
</file>

<file path=ppt/presentation.xml><?xml version="1.0" encoding="utf-8"?>
<p:presentation xmlns:p="http://schemas.openxmlformats.org/presentationml/2006/main">
  <p:sldMasterIdLst>
    <p:sldMasterId xmlns:r="http://schemas.openxmlformats.org/officeDocument/2006/relationships" id="2147483648" r:id="R22b8f0e93cdb4d7c"/>
  </p:sldMasterIdLst>
  <p:notesMasterIdLst>
    <p:notesMasterId xmlns:r="http://schemas.openxmlformats.org/officeDocument/2006/relationships" r:id="Rc6e4841c1f6b4ccb"/>
  </p:notesMasterIdLst>
  <p:sldIdLst>
    <p:sldId xmlns:r="http://schemas.openxmlformats.org/officeDocument/2006/relationships" id="256" r:id="R1e68fddc392f4856"/>
    <p:sldId xmlns:r="http://schemas.openxmlformats.org/officeDocument/2006/relationships" id="257" r:id="Re4c2488b5f334de1"/>
    <p:sldId xmlns:r="http://schemas.openxmlformats.org/officeDocument/2006/relationships" id="258" r:id="R10e6e30b003c4dc5"/>
    <p:sldId xmlns:r="http://schemas.openxmlformats.org/officeDocument/2006/relationships" id="259" r:id="Re5418648e5d34bcd"/>
    <p:sldId xmlns:r="http://schemas.openxmlformats.org/officeDocument/2006/relationships" id="260" r:id="R370a9e9497324590"/>
    <p:sldId xmlns:r="http://schemas.openxmlformats.org/officeDocument/2006/relationships" id="261" r:id="R65d024600f5543fb"/>
    <p:sldId xmlns:r="http://schemas.openxmlformats.org/officeDocument/2006/relationships" id="262" r:id="R94f180881c214349"/>
    <p:sldId xmlns:r="http://schemas.openxmlformats.org/officeDocument/2006/relationships" id="263" r:id="R27bd3d8200a241f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6a66a303da54081" /><Relationship Type="http://schemas.openxmlformats.org/officeDocument/2006/relationships/slideMaster" Target="/ppt/slideMasters/slideMaster1.xml" Id="R22b8f0e93cdb4d7c" /><Relationship Type="http://schemas.openxmlformats.org/officeDocument/2006/relationships/notesMaster" Target="/ppt/notesMasters/notesMaster1.xml" Id="Rc6e4841c1f6b4ccb" /><Relationship Type="http://schemas.openxmlformats.org/officeDocument/2006/relationships/presProps" Target="/ppt/presProps.xml" Id="R09cce492382f4df8" /><Relationship Type="http://schemas.openxmlformats.org/officeDocument/2006/relationships/tableStyles" Target="/ppt/tableStyles.xml" Id="R2be29955e4b34602" /><Relationship Type="http://schemas.openxmlformats.org/officeDocument/2006/relationships/slide" Target="/ppt/slides/slide1.xml" Id="R1e68fddc392f4856" /><Relationship Type="http://schemas.openxmlformats.org/officeDocument/2006/relationships/slide" Target="/ppt/slides/slide2.xml" Id="Re4c2488b5f334de1" /><Relationship Type="http://schemas.openxmlformats.org/officeDocument/2006/relationships/slide" Target="/ppt/slides/slide3.xml" Id="R10e6e30b003c4dc5" /><Relationship Type="http://schemas.openxmlformats.org/officeDocument/2006/relationships/slide" Target="/ppt/slides/slide4.xml" Id="Re5418648e5d34bcd" /><Relationship Type="http://schemas.openxmlformats.org/officeDocument/2006/relationships/slide" Target="/ppt/slides/slide5.xml" Id="R370a9e9497324590" /><Relationship Type="http://schemas.openxmlformats.org/officeDocument/2006/relationships/slide" Target="/ppt/slides/slide6.xml" Id="R65d024600f5543fb" /><Relationship Type="http://schemas.openxmlformats.org/officeDocument/2006/relationships/slide" Target="/ppt/slides/slide7.xml" Id="R94f180881c214349" /><Relationship Type="http://schemas.openxmlformats.org/officeDocument/2006/relationships/slide" Target="/ppt/slides/slide8.xml" Id="R27bd3d8200a241f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d17a7afc0444da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77cb2177e174b81" /><Relationship Type="http://schemas.openxmlformats.org/officeDocument/2006/relationships/notesMaster" Target="/ppt/notesMasters/notesMaster1.xml" Id="R4e163957d62b46ce" /></Relationships>
</file>

<file path=ppt/notesSlides/_rels/notesSlide2.xml.rels>&#65279;<?xml version="1.0" encoding="utf-8"?><Relationships xmlns="http://schemas.openxmlformats.org/package/2006/relationships"><Relationship Type="http://schemas.openxmlformats.org/officeDocument/2006/relationships/slide" Target="/ppt/slides/slide2.xml" Id="R43e5df5183414637" /><Relationship Type="http://schemas.openxmlformats.org/officeDocument/2006/relationships/notesMaster" Target="/ppt/notesMasters/notesMaster1.xml" Id="R6938ae3afb1f4f53" /></Relationships>
</file>

<file path=ppt/notesSlides/_rels/notesSlide3.xml.rels>&#65279;<?xml version="1.0" encoding="utf-8"?><Relationships xmlns="http://schemas.openxmlformats.org/package/2006/relationships"><Relationship Type="http://schemas.openxmlformats.org/officeDocument/2006/relationships/slide" Target="/ppt/slides/slide3.xml" Id="R1d5b14d01b604696" /><Relationship Type="http://schemas.openxmlformats.org/officeDocument/2006/relationships/notesMaster" Target="/ppt/notesMasters/notesMaster1.xml" Id="R7319634db135478f" /></Relationships>
</file>

<file path=ppt/notesSlides/_rels/notesSlide4.xml.rels>&#65279;<?xml version="1.0" encoding="utf-8"?><Relationships xmlns="http://schemas.openxmlformats.org/package/2006/relationships"><Relationship Type="http://schemas.openxmlformats.org/officeDocument/2006/relationships/slide" Target="/ppt/slides/slide4.xml" Id="Re9ed2aa426d2493f" /><Relationship Type="http://schemas.openxmlformats.org/officeDocument/2006/relationships/notesMaster" Target="/ppt/notesMasters/notesMaster1.xml" Id="R1a4cee8918b644ba" /></Relationships>
</file>

<file path=ppt/notesSlides/_rels/notesSlide5.xml.rels>&#65279;<?xml version="1.0" encoding="utf-8"?><Relationships xmlns="http://schemas.openxmlformats.org/package/2006/relationships"><Relationship Type="http://schemas.openxmlformats.org/officeDocument/2006/relationships/slide" Target="/ppt/slides/slide5.xml" Id="R423b945a71554969" /><Relationship Type="http://schemas.openxmlformats.org/officeDocument/2006/relationships/notesMaster" Target="/ppt/notesMasters/notesMaster1.xml" Id="Rff74419cf4624d9e" /></Relationships>
</file>

<file path=ppt/notesSlides/_rels/notesSlide6.xml.rels>&#65279;<?xml version="1.0" encoding="utf-8"?><Relationships xmlns="http://schemas.openxmlformats.org/package/2006/relationships"><Relationship Type="http://schemas.openxmlformats.org/officeDocument/2006/relationships/slide" Target="/ppt/slides/slide6.xml" Id="R92539bebebc644c8" /><Relationship Type="http://schemas.openxmlformats.org/officeDocument/2006/relationships/notesMaster" Target="/ppt/notesMasters/notesMaster1.xml" Id="R29f1dd12f164459e" /></Relationships>
</file>

<file path=ppt/notesSlides/_rels/notesSlide7.xml.rels>&#65279;<?xml version="1.0" encoding="utf-8"?><Relationships xmlns="http://schemas.openxmlformats.org/package/2006/relationships"><Relationship Type="http://schemas.openxmlformats.org/officeDocument/2006/relationships/slide" Target="/ppt/slides/slide7.xml" Id="R8dfc486cf26c4f90" /><Relationship Type="http://schemas.openxmlformats.org/officeDocument/2006/relationships/notesMaster" Target="/ppt/notesMasters/notesMaster1.xml" Id="R3da76d07e06e4d34" /></Relationships>
</file>

<file path=ppt/notesSlides/_rels/notesSlide8.xml.rels>&#65279;<?xml version="1.0" encoding="utf-8"?><Relationships xmlns="http://schemas.openxmlformats.org/package/2006/relationships"><Relationship Type="http://schemas.openxmlformats.org/officeDocument/2006/relationships/slide" Target="/ppt/slides/slide8.xml" Id="R9bf7fc7c86334da6" /><Relationship Type="http://schemas.openxmlformats.org/officeDocument/2006/relationships/notesMaster" Target="/ppt/notesMasters/notesMaster1.xml" Id="Rf6829816b80d437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module outcome: Students connect textile properties and structures to everyday uses, then unpack the environmental design challenge for the Awesome Bag.</a:t>
            </a:r>
          </a:p>
          <a:p xmlns:a="http://schemas.openxmlformats.org/drawingml/2006/main">
            <a:r>
              <a:t>Invite one student example or prediction before showing the learning map.</a:t>
            </a:r>
          </a:p>
          <a:p xmlns:a="http://schemas.openxmlformats.org/drawingml/2006/main">
            <a:r>
              <a:t>Transition: the module has three connected ideas, and each will end in a decision or evidence action.</a:t>
            </a:r>
          </a:p>
          <a:p xmlns:a="http://schemas.openxmlformats.org/drawingml/2006/main">
            <a:r>
              <a:t>Likely misconceptions: The most attractive textile is always the best choice. | Any product called reusable will automatically reduce environmental impact.</a:t>
            </a:r>
          </a:p>
          <a:p xmlns:a="http://schemas.openxmlformats.org/drawingml/2006/main">
            <a:r>
              <a:t>Teacher to confirm: Exact local project wording; Required bag pathway and dimensions; Current class and delivery timing.</a:t>
            </a:r>
          </a:p>
          <a:p xmlns:a="http://schemas.openxmlformats.org/drawingml/2006/main">
            <a:r>
              <a:t>[Sources]</a:t>
            </a:r>
          </a:p>
          <a:p xmlns:a="http://schemas.openxmlformats.org/drawingml/2006/main">
            <a:r>
              <a:t>- Authoritative course records: core-program, core-design-brief.</a:t>
            </a:r>
          </a:p>
          <a:p xmlns:a="http://schemas.openxmlformats.org/drawingml/2006/main">
            <a:r>
              <a:t>- Matched teaching visual: sew-awesome-hero.png; purpose-built, privacy-safe local asset.</a:t>
            </a:r>
          </a:p>
          <a:p xmlns:a="http://schemas.openxmlformats.org/drawingml/2006/main">
            <a:r>
              <a:t>- Boundary record: outputs/sew-awesome-course-site/_project/source-map-v1.md.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Reveal the three ideas as one learning pathway, not three disconnected topics.</a:t>
            </a:r>
          </a:p>
          <a:p xmlns:a="http://schemas.openxmlformats.org/drawingml/2006/main">
            <a:r>
              <a:t>Warm-up prompt: Students know that clothes and bags are made from different materials.</a:t>
            </a:r>
          </a:p>
          <a:p xmlns:a="http://schemas.openxmlformats.org/drawingml/2006/main">
            <a:r>
              <a:t>Ask one student to connect prior knowledge to the first section, then signpost the later evidence response.</a:t>
            </a:r>
          </a:p>
          <a:p xmlns:a="http://schemas.openxmlformats.org/drawingml/2006/main">
            <a:r>
              <a:t>Likely misconceptions: The most attractive textile is always the best choice. | Any product called reusable will automatically reduce environmental impact.</a:t>
            </a:r>
          </a:p>
          <a:p xmlns:a="http://schemas.openxmlformats.org/drawingml/2006/main">
            <a:r>
              <a:t>Teacher to confirm: Exact local project wording; Required bag pathway and dimensions; Current class and delivery timing.</a:t>
            </a:r>
          </a:p>
          <a:p xmlns:a="http://schemas.openxmlformats.org/drawingml/2006/main">
            <a:r>
              <a:t>[Sources]</a:t>
            </a:r>
          </a:p>
          <a:p xmlns:a="http://schemas.openxmlformats.org/drawingml/2006/main">
            <a:r>
              <a:t>- Authoritative course records: core-program, core-design-brief.</a:t>
            </a:r>
          </a:p>
          <a:p xmlns:a="http://schemas.openxmlformats.org/drawingml/2006/main">
            <a:r>
              <a:t>- Boundary record: outputs/sew-awesome-course-site/_project/source-map-v1.md.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purpose: Build a functional understanding of textiles by linking material properties to users, purposes and responsible choices.</a:t>
            </a:r>
          </a:p>
          <a:p xmlns:a="http://schemas.openxmlformats.org/drawingml/2006/main">
            <a:r>
              <a:t>Visual purpose: Support evidence-based comparison of visible textile surfaces, structures and likely product uses.</a:t>
            </a:r>
          </a:p>
          <a:p xmlns:a="http://schemas.openxmlformats.org/drawingml/2006/main">
            <a:r>
              <a:t>Explain only what is shown: A photo-style arrangement of six unlabelled textile items with visibly different surfaces, structures and forms.</a:t>
            </a:r>
          </a:p>
          <a:p xmlns:a="http://schemas.openxmlformats.org/drawingml/2006/main">
            <a:r>
              <a:t>Student observation prompt: Choose two items. What visible surface or structure difference could affect how each is used?</a:t>
            </a:r>
          </a:p>
          <a:p xmlns:a="http://schemas.openxmlformats.org/drawingml/2006/main">
            <a:r>
              <a:t>Applied activity: Inspect three nearby textile products and explain why their materials suit different jobs.</a:t>
            </a:r>
          </a:p>
          <a:p xmlns:a="http://schemas.openxmlformats.org/drawingml/2006/main">
            <a:r>
              <a:t>Transition: Students will trace how fibres become yarns and fabrics.</a:t>
            </a:r>
          </a:p>
          <a:p xmlns:a="http://schemas.openxmlformats.org/drawingml/2006/main">
            <a:r>
              <a:t>Likely misconceptions: The most attractive textile is always the best choice. | Any product called reusable will automatically reduce environmental impact.</a:t>
            </a:r>
          </a:p>
          <a:p xmlns:a="http://schemas.openxmlformats.org/drawingml/2006/main">
            <a:r>
              <a:t>Teacher to confirm: Exact local project wording; Required bag pathway and dimensions; Current class and delivery timing.</a:t>
            </a:r>
          </a:p>
          <a:p xmlns:a="http://schemas.openxmlformats.org/drawingml/2006/main">
            <a:r>
              <a:t>[Sources]</a:t>
            </a:r>
          </a:p>
          <a:p xmlns:a="http://schemas.openxmlformats.org/drawingml/2006/main">
            <a:r>
              <a:t>- Authoritative course records: core-program, core-design-brief.</a:t>
            </a:r>
          </a:p>
          <a:p xmlns:a="http://schemas.openxmlformats.org/drawingml/2006/main">
            <a:r>
              <a:t>- Matched teaching visual: visual-m01-s1.png; purpose-built, privacy-safe local asset.</a:t>
            </a:r>
          </a:p>
          <a:p xmlns:a="http://schemas.openxmlformats.org/drawingml/2006/main">
            <a:r>
              <a:t>- Boundary record: outputs/sew-awesome-course-site/_project/source-map-v1.md.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purpose: Explain the fibre–yarn–fabric relationship and how structure influences the behaviour of a textile.</a:t>
            </a:r>
          </a:p>
          <a:p xmlns:a="http://schemas.openxmlformats.org/drawingml/2006/main">
            <a:r>
              <a:t>Visual purpose: Make the fibre-to-yarn-to-fabric material relationship visible.</a:t>
            </a:r>
          </a:p>
          <a:p xmlns:a="http://schemas.openxmlformats.org/drawingml/2006/main">
            <a:r>
              <a:t>Explain only what is shown: A close-up sequence shows loose textile fibres becoming twisted yarn and then a woven fabric surface.</a:t>
            </a:r>
          </a:p>
          <a:p xmlns:a="http://schemas.openxmlformats.org/drawingml/2006/main">
            <a:r>
              <a:t>Student observation prompt: Trace the three stages. When does the material become a continuous strand, and when does it become a surface?</a:t>
            </a:r>
          </a:p>
          <a:p xmlns:a="http://schemas.openxmlformats.org/drawingml/2006/main">
            <a:r>
              <a:t>Applied activity: Use a magnifier or close camera view to classify and compare fabric structures.</a:t>
            </a:r>
          </a:p>
          <a:p xmlns:a="http://schemas.openxmlformats.org/drawingml/2006/main">
            <a:r>
              <a:t>Transition: Students will apply material and user thinking to the Awesome Bag challenge.</a:t>
            </a:r>
          </a:p>
          <a:p xmlns:a="http://schemas.openxmlformats.org/drawingml/2006/main">
            <a:r>
              <a:t>Likely misconceptions: The most attractive textile is always the best choice. | Any product called reusable will automatically reduce environmental impact.</a:t>
            </a:r>
          </a:p>
          <a:p xmlns:a="http://schemas.openxmlformats.org/drawingml/2006/main">
            <a:r>
              <a:t>Teacher to confirm: Exact local project wording; Required bag pathway and dimensions; Current class and delivery timing.</a:t>
            </a:r>
          </a:p>
          <a:p xmlns:a="http://schemas.openxmlformats.org/drawingml/2006/main">
            <a:r>
              <a:t>[Sources]</a:t>
            </a:r>
          </a:p>
          <a:p xmlns:a="http://schemas.openxmlformats.org/drawingml/2006/main">
            <a:r>
              <a:t>- Authoritative course records: core-program, core-design-brief.</a:t>
            </a:r>
          </a:p>
          <a:p xmlns:a="http://schemas.openxmlformats.org/drawingml/2006/main">
            <a:r>
              <a:t>- Matched teaching visual: visual-m01-s2.png; purpose-built, privacy-safe local asset.</a:t>
            </a:r>
          </a:p>
          <a:p xmlns:a="http://schemas.openxmlformats.org/drawingml/2006/main">
            <a:r>
              <a:t>- Boundary record: outputs/sew-awesome-course-site/_project/source-map-v1.md.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purpose: Unpack the authorised environmental design situation into a user, need, constraints and evidence-based criteria without inventing local assessment conditions.</a:t>
            </a:r>
          </a:p>
          <a:p xmlns:a="http://schemas.openxmlformats.org/drawingml/2006/main">
            <a:r>
              <a:t>Visual purpose: Connect situation, brief, criteria and solution in a four-stage design chain.</a:t>
            </a:r>
          </a:p>
          <a:p xmlns:a="http://schemas.openxmlformats.org/drawingml/2006/main">
            <a:r>
              <a:t>Explain only what is shown: A design workspace connects discarded plastic bags, blank planning evidence, three carry-item concepts and a fabric prototype.</a:t>
            </a:r>
          </a:p>
          <a:p xmlns:a="http://schemas.openxmlformats.org/drawingml/2006/main">
            <a:r>
              <a:t>Student observation prompt: Identify the problem evidence, planning records, alternative concepts and prototype. Which observable criterion would make the proposed solution testable?</a:t>
            </a:r>
          </a:p>
          <a:p xmlns:a="http://schemas.openxmlformats.org/drawingml/2006/main">
            <a:r>
              <a:t>Applied activity: Sort design statements into situation, brief, criterion, constraint or evidence, then defend two choices.</a:t>
            </a:r>
          </a:p>
          <a:p xmlns:a="http://schemas.openxmlformats.org/drawingml/2006/main">
            <a:r>
              <a:t>Transition: Students will learn safe textile-room practices before practical work.</a:t>
            </a:r>
          </a:p>
          <a:p xmlns:a="http://schemas.openxmlformats.org/drawingml/2006/main">
            <a:r>
              <a:t>Likely misconceptions: The most attractive textile is always the best choice. | Any product called reusable will automatically reduce environmental impact.</a:t>
            </a:r>
          </a:p>
          <a:p xmlns:a="http://schemas.openxmlformats.org/drawingml/2006/main">
            <a:r>
              <a:t>Teacher to confirm: Exact local project wording; Required bag pathway and dimensions; Current class and delivery timing.</a:t>
            </a:r>
          </a:p>
          <a:p xmlns:a="http://schemas.openxmlformats.org/drawingml/2006/main">
            <a:r>
              <a:t>[Sources]</a:t>
            </a:r>
          </a:p>
          <a:p xmlns:a="http://schemas.openxmlformats.org/drawingml/2006/main">
            <a:r>
              <a:t>- Authoritative course records: core-program, core-design-brief.</a:t>
            </a:r>
          </a:p>
          <a:p xmlns:a="http://schemas.openxmlformats.org/drawingml/2006/main">
            <a:r>
              <a:t>- Matched teaching visual: visual-m01-s3.png; purpose-built, privacy-safe local asset.</a:t>
            </a:r>
          </a:p>
          <a:p xmlns:a="http://schemas.openxmlformats.org/drawingml/2006/main">
            <a:r>
              <a:t>- Boundary record: outputs/sew-awesome-course-site/_project/source-map-v1.md.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Allow silent thinking before pair talk so every student retrieves independently.</a:t>
            </a:r>
          </a:p>
          <a:p xmlns:a="http://schemas.openxmlformats.org/drawingml/2006/main">
            <a:r>
              <a:t>Ask students to justify, not merely name, one response.</a:t>
            </a:r>
          </a:p>
          <a:p xmlns:a="http://schemas.openxmlformats.org/drawingml/2006/main">
            <a:r>
              <a:t>Listen for whether students connect each answer to its module idea and evidence.</a:t>
            </a:r>
          </a:p>
          <a:p xmlns:a="http://schemas.openxmlformats.org/drawingml/2006/main">
            <a:r>
              <a:t>Likely misconceptions: The most attractive textile is always the best choice. | Any product called reusable will automatically reduce environmental impact.</a:t>
            </a:r>
          </a:p>
          <a:p xmlns:a="http://schemas.openxmlformats.org/drawingml/2006/main">
            <a:r>
              <a:t>Teacher to confirm: Exact local project wording; Required bag pathway and dimensions; Current class and delivery timing.</a:t>
            </a:r>
          </a:p>
          <a:p xmlns:a="http://schemas.openxmlformats.org/drawingml/2006/main">
            <a:r>
              <a:t>[Sources]</a:t>
            </a:r>
          </a:p>
          <a:p xmlns:a="http://schemas.openxmlformats.org/drawingml/2006/main">
            <a:r>
              <a:t>- Authoritative course records: core-program, core-design-brief.</a:t>
            </a:r>
          </a:p>
          <a:p xmlns:a="http://schemas.openxmlformats.org/drawingml/2006/main">
            <a:r>
              <a:t>- Boundary record: outputs/sew-awesome-course-site/_project/source-map-v1.md.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response prompt aloud: Explain how an Awesome Bag concept could respond to the environmental design situation while meeting the needs of a particular user. Justify the evidence you would collect.</a:t>
            </a:r>
          </a:p>
          <a:p xmlns:a="http://schemas.openxmlformats.org/drawingml/2006/main">
            <a:r>
              <a:t>Model one sentence that selects evidence and explains its significance.</a:t>
            </a:r>
          </a:p>
          <a:p xmlns:a="http://schemas.openxmlformats.org/drawingml/2006/main">
            <a:r>
              <a:t>Success criteria: Connects the situation, brief, user and criteria logically. | Proposes relevant evidence rather than unsupported claims.</a:t>
            </a:r>
          </a:p>
          <a:p xmlns:a="http://schemas.openxmlformats.org/drawingml/2006/main">
            <a:r>
              <a:t>Likely misconceptions: The most attractive textile is always the best choice. | Any product called reusable will automatically reduce environmental impact.</a:t>
            </a:r>
          </a:p>
          <a:p xmlns:a="http://schemas.openxmlformats.org/drawingml/2006/main">
            <a:r>
              <a:t>Teacher to confirm: Exact local project wording; Required bag pathway and dimensions; Current class and delivery timing.</a:t>
            </a:r>
          </a:p>
          <a:p xmlns:a="http://schemas.openxmlformats.org/drawingml/2006/main">
            <a:r>
              <a:t>[Sources]</a:t>
            </a:r>
          </a:p>
          <a:p xmlns:a="http://schemas.openxmlformats.org/drawingml/2006/main">
            <a:r>
              <a:t>- Authoritative course records: core-program, core-design-brief.</a:t>
            </a:r>
          </a:p>
          <a:p xmlns:a="http://schemas.openxmlformats.org/drawingml/2006/main">
            <a:r>
              <a:t>- Boundary record: outputs/sew-awesome-course-site/_project/source-map-v1.md.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Give students time to write all three exit statements before discussion.</a:t>
            </a:r>
          </a:p>
          <a:p xmlns:a="http://schemas.openxmlformats.org/drawingml/2006/main">
            <a:r>
              <a:t>Evidence destination: My folio, Module 1; this is formative browser-local evidence, not proof of formal submission.</a:t>
            </a:r>
          </a:p>
          <a:p xmlns:a="http://schemas.openxmlformats.org/drawingml/2006/main">
            <a:r>
              <a:t>Next learning link: Students will learn safe textile-room practices before practical work.</a:t>
            </a:r>
          </a:p>
          <a:p xmlns:a="http://schemas.openxmlformats.org/drawingml/2006/main">
            <a:r>
              <a:t>Likely misconceptions: The most attractive textile is always the best choice. | Any product called reusable will automatically reduce environmental impact.</a:t>
            </a:r>
          </a:p>
          <a:p xmlns:a="http://schemas.openxmlformats.org/drawingml/2006/main">
            <a:r>
              <a:t>Teacher to confirm: Exact local project wording; Required bag pathway and dimensions; Current class and delivery timing.</a:t>
            </a:r>
          </a:p>
          <a:p xmlns:a="http://schemas.openxmlformats.org/drawingml/2006/main">
            <a:r>
              <a:t>[Sources]</a:t>
            </a:r>
          </a:p>
          <a:p xmlns:a="http://schemas.openxmlformats.org/drawingml/2006/main">
            <a:r>
              <a:t>- Authoritative course records: core-program, core-design-brief.</a:t>
            </a:r>
          </a:p>
          <a:p xmlns:a="http://schemas.openxmlformats.org/drawingml/2006/main">
            <a:r>
              <a:t>- Boundary record: outputs/sew-awesome-course-site/_project/source-map-v1.md.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4c29b3abc40442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202947cf2674b3e" /><Relationship Type="http://schemas.openxmlformats.org/officeDocument/2006/relationships/slideLayout" Target="/ppt/slideLayouts/slideLayout1.xml" Id="R48b1110c818746a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8b1110c818746a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224892d01a54f4c" /><Relationship Type="http://schemas.openxmlformats.org/officeDocument/2006/relationships/image" Target="/ppt/media/image.png" Id="R856590d3d3034b80" /><Relationship Type="http://schemas.openxmlformats.org/officeDocument/2006/relationships/notesSlide" Target="/ppt/notesSlides/notesSlide1.xml" Id="Rc937e8c79f89442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92ccdb6751c415c" /><Relationship Type="http://schemas.openxmlformats.org/officeDocument/2006/relationships/notesSlide" Target="/ppt/notesSlides/notesSlide2.xml" Id="R51af261c43cc48e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ae6b1e11e124a40" /><Relationship Type="http://schemas.openxmlformats.org/officeDocument/2006/relationships/image" Target="/ppt/media/image2.png" Id="Redbccba4669b4486" /><Relationship Type="http://schemas.openxmlformats.org/officeDocument/2006/relationships/notesSlide" Target="/ppt/notesSlides/notesSlide3.xml" Id="R3328eab93ecc4c8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acc34e4bbe84c0d" /><Relationship Type="http://schemas.openxmlformats.org/officeDocument/2006/relationships/image" Target="/ppt/media/image3.png" Id="R38a952dfeb734cdd" /><Relationship Type="http://schemas.openxmlformats.org/officeDocument/2006/relationships/notesSlide" Target="/ppt/notesSlides/notesSlide4.xml" Id="R162046cdd57a440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23c373773454ec7" /><Relationship Type="http://schemas.openxmlformats.org/officeDocument/2006/relationships/image" Target="/ppt/media/image4.png" Id="R2a6b710a315f4430" /><Relationship Type="http://schemas.openxmlformats.org/officeDocument/2006/relationships/notesSlide" Target="/ppt/notesSlides/notesSlide5.xml" Id="R765acbc91e0b4a1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1e07b8971ce4ced" /><Relationship Type="http://schemas.openxmlformats.org/officeDocument/2006/relationships/notesSlide" Target="/ppt/notesSlides/notesSlide6.xml" Id="Rb38f83c26ba94d4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e6f01c428fc4426" /><Relationship Type="http://schemas.openxmlformats.org/officeDocument/2006/relationships/notesSlide" Target="/ppt/notesSlides/notesSlide7.xml" Id="Re877c97ab231417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7cf46817d5c4d6f" /><Relationship Type="http://schemas.openxmlformats.org/officeDocument/2006/relationships/notesSlide" Target="/ppt/notesSlides/notesSlide8.xml" Id="Rabd5b49a09494106" /></Relationships>
</file>

<file path=ppt/slides/slide1.xml><?xml version="1.0" encoding="utf-8"?>
<p:sld xmlns:p="http://schemas.openxmlformats.org/presentationml/2006/main">
  <p:cSld>
    <p:bg>
      <p:bgPr>
        <a:solidFill xmlns:a="http://schemas.openxmlformats.org/drawingml/2006/main">
          <a:srgbClr val="0C4E4A"/>
        </a:solidFill>
      </p:bgPr>
    </p:bg>
    <p:spTree>
      <p:nvGrpSpPr>
        <p:cNvPr id="1" name=""/>
        <p:cNvGrpSpPr/>
        <p:nvPr/>
      </p:nvGrpSpPr>
      <p:grpSpPr>
        <a:xfrm xmlns:a="http://schemas.openxmlformats.org/drawingml/2006/main"/>
      </p:grpSpPr>
      <p:pic>
        <p:nvPicPr>
          <p:cNvPr id="9" name="Teaching visual - Sew Awesome course identity: reusable textile carry items and sewing materials"/>
          <p:cNvPicPr>
            <a:picLocks xmlns:a="http://schemas.openxmlformats.org/drawingml/2006/main" noChangeAspect="1"/>
          </p:cNvPicPr>
          <p:nvPr/>
        </p:nvPicPr>
        <p:blipFill>
          <a:blip xmlns:r="http://schemas.openxmlformats.org/officeDocument/2006/relationships" xmlns:a="http://schemas.openxmlformats.org/drawingml/2006/main" r:embed="R856590d3d3034b80"/>
          <a:srcRect xmlns:a="http://schemas.openxmlformats.org/drawingml/2006/main" l="26389" t="0" r="26389" b="0"/>
          <a:stretch xmlns:a="http://schemas.openxmlformats.org/drawingml/2006/main">
            <a:fillRect l="0" t="0" r="0" b="0"/>
          </a:stretch>
        </p:blipFill>
        <p:spPr>
          <a:xfrm xmlns:a="http://schemas.openxmlformats.org/drawingml/2006/main">
            <a:off x="7334250" y="0"/>
            <a:ext cx="4857750" cy="6858000"/>
          </a:xfrm>
          <a:prstGeom xmlns:a="http://schemas.openxmlformats.org/drawingml/2006/main" prst="rect">
            <a:avLst/>
          </a:prstGeom>
        </p:spPr>
      </p:pic>
      <p:sp>
        <p:nvSpPr>
          <p:cNvPr id="2" name="image-wash">
            <a:extLst xmlns:a="http://schemas.openxmlformats.org/drawingml/2006/main">
              <a:ext uri="{FF2B5EF4-FFF2-40B4-BE49-F238E27FC236}">
                <a16:creationId xmlns:a16="http://schemas.microsoft.com/office/drawing/2014/main" id="{80EBF841-B157-4A5F-A442-42A6E5D15D5D}"/>
              </a:ext>
            </a:extLst>
          </p:cNvPr>
          <p:cNvSpPr>
            <a:spLocks xmlns:a="http://schemas.openxmlformats.org/drawingml/2006/main" noGrp="1"/>
          </p:cNvSpPr>
          <p:nvPr/>
        </p:nvSpPr>
        <p:spPr>
          <a:xfrm xmlns:a="http://schemas.openxmlformats.org/drawingml/2006/main">
            <a:off x="7067550" y="0"/>
            <a:ext cx="857250" cy="6858000"/>
          </a:xfrm>
          <a:prstGeom xmlns:a="http://schemas.openxmlformats.org/drawingml/2006/main" prst="rect">
            <a:avLst/>
          </a:prstGeom>
          <a:gradFill xmlns:a="http://schemas.openxmlformats.org/drawingml/2006/main">
            <a:gsLst>
              <a:gs pos="0">
                <a:srgbClr val="0C4E4A"/>
              </a:gs>
              <a:gs pos="100000">
                <a:srgbClr val="0C4E4A">
                  <a:alpha val="0"/>
                </a:srgbClr>
              </a:gs>
            </a:gsLst>
            <a:lin ang="0"/>
          </a:gradFill>
          <a:ln xmlns:a="http://schemas.openxmlformats.org/drawingml/2006/main" w="0">
            <a:noFill/>
            <a:prstDash val="solid"/>
          </a:ln>
        </p:spPr>
      </p:sp>
      <p:sp>
        <p:nvSpPr>
          <p:cNvPr id="3" name="accent-rule">
            <a:extLst xmlns:a="http://schemas.openxmlformats.org/drawingml/2006/main">
              <a:ext uri="{FF2B5EF4-FFF2-40B4-BE49-F238E27FC236}">
                <a16:creationId xmlns:a16="http://schemas.microsoft.com/office/drawing/2014/main" id="{FC436EFE-128B-49F1-A964-BAEFABF93E81}"/>
              </a:ext>
            </a:extLst>
          </p:cNvPr>
          <p:cNvSpPr>
            <a:spLocks xmlns:a="http://schemas.openxmlformats.org/drawingml/2006/main" noGrp="1"/>
          </p:cNvSpPr>
          <p:nvPr/>
        </p:nvSpPr>
        <p:spPr>
          <a:xfrm xmlns:a="http://schemas.openxmlformats.org/drawingml/2006/main">
            <a:off x="533400" y="628650"/>
            <a:ext cx="685800" cy="85725"/>
          </a:xfrm>
          <a:prstGeom xmlns:a="http://schemas.openxmlformats.org/drawingml/2006/main" prst="rect">
            <a:avLst/>
          </a:prstGeom>
          <a:solidFill xmlns:a="http://schemas.openxmlformats.org/drawingml/2006/main">
            <a:srgbClr val="D49A34"/>
          </a:solidFill>
          <a:ln xmlns:a="http://schemas.openxmlformats.org/drawingml/2006/main" w="0">
            <a:noFill/>
            <a:prstDash val="solid"/>
          </a:ln>
        </p:spPr>
      </p:sp>
      <p:sp>
        <p:nvSpPr>
          <p:cNvPr id="4" name="course-label">
            <a:extLst xmlns:a="http://schemas.openxmlformats.org/drawingml/2006/main">
              <a:ext uri="{FF2B5EF4-FFF2-40B4-BE49-F238E27FC236}">
                <a16:creationId xmlns:a16="http://schemas.microsoft.com/office/drawing/2014/main" id="{C338F6BE-CB7D-4D05-93EA-CEF7B82CB209}"/>
              </a:ext>
            </a:extLst>
          </p:cNvPr>
          <p:cNvSpPr>
            <a:spLocks xmlns:a="http://schemas.openxmlformats.org/drawingml/2006/main" noGrp="1"/>
          </p:cNvSpPr>
          <p:nvPr/>
        </p:nvSpPr>
        <p:spPr>
          <a:xfrm xmlns:a="http://schemas.openxmlformats.org/drawingml/2006/main">
            <a:off x="533400" y="990600"/>
            <a:ext cx="5715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1200" b="1">
                <a:solidFill>
                  <a:srgbClr val="FFE4A4"/>
                </a:solidFill>
                <a:latin typeface="Aptos"/>
                <a:ea typeface="Aptos"/>
                <a:cs typeface="Aptos"/>
              </a:defRPr>
            </a:pPr>
            <a:r>
              <a:rPr sz="1200" b="1">
                <a:solidFill>
                  <a:srgbClr val="FFE4A4"/>
                </a:solidFill>
                <a:latin typeface="Aptos"/>
                <a:ea typeface="Aptos"/>
                <a:cs typeface="Aptos"/>
              </a:rPr>
              <a:t>SEW AWESOME  •  MODULE 01</a:t>
            </a:r>
          </a:p>
        </p:txBody>
      </p:sp>
      <p:sp>
        <p:nvSpPr>
          <p:cNvPr id="5" name="title">
            <a:extLst xmlns:a="http://schemas.openxmlformats.org/drawingml/2006/main">
              <a:ext uri="{FF2B5EF4-FFF2-40B4-BE49-F238E27FC236}">
                <a16:creationId xmlns:a16="http://schemas.microsoft.com/office/drawing/2014/main" id="{190628D6-F59C-4BA6-BF03-01CB326660F9}"/>
              </a:ext>
            </a:extLst>
          </p:cNvPr>
          <p:cNvSpPr>
            <a:spLocks xmlns:a="http://schemas.openxmlformats.org/drawingml/2006/main" noGrp="1"/>
          </p:cNvSpPr>
          <p:nvPr/>
        </p:nvSpPr>
        <p:spPr>
          <a:xfrm xmlns:a="http://schemas.openxmlformats.org/drawingml/2006/main">
            <a:off x="533400" y="2057400"/>
            <a:ext cx="5905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94000"/>
              </a:lnSpc>
              <a:buNone/>
              <a:defRPr sz="4350" b="1">
                <a:solidFill>
                  <a:srgbClr val="FFFFFF"/>
                </a:solidFill>
                <a:latin typeface="Aptos Display"/>
                <a:ea typeface="Aptos Display"/>
                <a:cs typeface="Aptos Display"/>
              </a:defRPr>
            </a:pPr>
            <a:r>
              <a:rPr sz="4350" b="1">
                <a:solidFill>
                  <a:srgbClr val="FFFFFF"/>
                </a:solidFill>
                <a:latin typeface="Aptos Display"/>
                <a:ea typeface="Aptos Display"/>
                <a:cs typeface="Aptos Display"/>
              </a:rPr>
              <a:t>Textiles and the challenge</a:t>
            </a:r>
          </a:p>
        </p:txBody>
      </p:sp>
      <p:sp>
        <p:nvSpPr>
          <p:cNvPr id="6" name="outcome">
            <a:extLst xmlns:a="http://schemas.openxmlformats.org/drawingml/2006/main">
              <a:ext uri="{FF2B5EF4-FFF2-40B4-BE49-F238E27FC236}">
                <a16:creationId xmlns:a16="http://schemas.microsoft.com/office/drawing/2014/main" id="{64771D01-0B29-4BF5-9617-74EC120BD4EB}"/>
              </a:ext>
            </a:extLst>
          </p:cNvPr>
          <p:cNvSpPr>
            <a:spLocks xmlns:a="http://schemas.openxmlformats.org/drawingml/2006/main" noGrp="1"/>
          </p:cNvSpPr>
          <p:nvPr/>
        </p:nvSpPr>
        <p:spPr>
          <a:xfrm xmlns:a="http://schemas.openxmlformats.org/drawingml/2006/main">
            <a:off x="533400" y="3733800"/>
            <a:ext cx="59055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5000"/>
              </a:lnSpc>
              <a:buNone/>
              <a:defRPr sz="1800">
                <a:solidFill>
                  <a:srgbClr val="EEF6F3"/>
                </a:solidFill>
                <a:latin typeface="Aptos"/>
                <a:ea typeface="Aptos"/>
                <a:cs typeface="Aptos"/>
              </a:defRPr>
            </a:pPr>
            <a:r>
              <a:rPr sz="1800">
                <a:solidFill>
                  <a:srgbClr val="EEF6F3"/>
                </a:solidFill>
                <a:latin typeface="Aptos"/>
                <a:ea typeface="Aptos"/>
                <a:cs typeface="Aptos"/>
              </a:rPr>
              <a:t>Students connect textile properties and structures to everyday uses, then unpack the environmental design challenge for the Awesome Bag.</a:t>
            </a:r>
          </a:p>
        </p:txBody>
      </p:sp>
      <p:sp>
        <p:nvSpPr>
          <p:cNvPr id="7" name="student-copy">
            <a:extLst xmlns:a="http://schemas.openxmlformats.org/drawingml/2006/main">
              <a:ext uri="{FF2B5EF4-FFF2-40B4-BE49-F238E27FC236}">
                <a16:creationId xmlns:a16="http://schemas.microsoft.com/office/drawing/2014/main" id="{9BB4152E-EA38-4B1A-9B64-097DD3AFB9B8}"/>
              </a:ext>
            </a:extLst>
          </p:cNvPr>
          <p:cNvSpPr>
            <a:spLocks xmlns:a="http://schemas.openxmlformats.org/drawingml/2006/main" noGrp="1"/>
          </p:cNvSpPr>
          <p:nvPr/>
        </p:nvSpPr>
        <p:spPr>
          <a:xfrm xmlns:a="http://schemas.openxmlformats.org/drawingml/2006/main">
            <a:off x="533400" y="6038850"/>
            <a:ext cx="4191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1200">
                <a:solidFill>
                  <a:srgbClr val="C8D6D2"/>
                </a:solidFill>
                <a:latin typeface="Aptos"/>
                <a:ea typeface="Aptos"/>
                <a:cs typeface="Aptos"/>
              </a:defRPr>
            </a:pPr>
            <a:r>
              <a:rPr sz="1200">
                <a:solidFill>
                  <a:srgbClr val="C8D6D2"/>
                </a:solidFill>
                <a:latin typeface="Aptos"/>
                <a:ea typeface="Aptos"/>
                <a:cs typeface="Aptos"/>
              </a:rPr>
              <a:t>Classroom presentation  •  student copy</a:t>
            </a:r>
          </a:p>
        </p:txBody>
      </p:sp>
      <p:sp>
        <p:nvSpPr>
          <p:cNvPr id="8" name="page">
            <a:extLst xmlns:a="http://schemas.openxmlformats.org/drawingml/2006/main">
              <a:ext uri="{FF2B5EF4-FFF2-40B4-BE49-F238E27FC236}">
                <a16:creationId xmlns:a16="http://schemas.microsoft.com/office/drawing/2014/main" id="{3AE8CA73-1B7A-4EED-9EB3-B388AC3B7EF7}"/>
              </a:ext>
            </a:extLst>
          </p:cNvPr>
          <p:cNvSpPr>
            <a:spLocks xmlns:a="http://schemas.openxmlformats.org/drawingml/2006/main" noGrp="1"/>
          </p:cNvSpPr>
          <p:nvPr/>
        </p:nvSpPr>
        <p:spPr>
          <a:xfrm xmlns:a="http://schemas.openxmlformats.org/drawingml/2006/main">
            <a:off x="6553200" y="60579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defRPr sz="1050" b="1">
                <a:solidFill>
                  <a:srgbClr val="C8D6D2"/>
                </a:solidFill>
                <a:latin typeface="Aptos"/>
                <a:ea typeface="Aptos"/>
                <a:cs typeface="Aptos"/>
              </a:defRPr>
            </a:pPr>
            <a:r>
              <a:rPr sz="1050" b="1">
                <a:solidFill>
                  <a:srgbClr val="C8D6D2"/>
                </a:solidFill>
                <a:latin typeface="Aptos"/>
                <a:ea typeface="Aptos"/>
                <a:cs typeface="Aptos"/>
              </a:rPr>
              <a:t>01</a:t>
            </a:r>
          </a:p>
        </p:txBody>
      </p:sp>
    </p:spTree>
    <p:extLst>
      <p:ext uri="{BB962C8B-B14F-4D97-AF65-F5344CB8AC3E}">
        <p14:creationId xmlns:p14="http://schemas.microsoft.com/office/powerpoint/2010/main" val="979945224"/>
      </p:ext>
    </p:extLst>
  </p:cSld>
</p:sld>
</file>

<file path=ppt/slides/slide2.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9" name="top-rule">
            <a:extLst xmlns:a="http://schemas.openxmlformats.org/drawingml/2006/main">
              <a:ext uri="{FF2B5EF4-FFF2-40B4-BE49-F238E27FC236}">
                <a16:creationId xmlns:a16="http://schemas.microsoft.com/office/drawing/2014/main" id="{21BDED21-56D0-440E-81BD-F7FFD6A00878}"/>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D49A34"/>
          </a:solidFill>
          <a:ln xmlns:a="http://schemas.openxmlformats.org/drawingml/2006/main" w="0">
            <a:noFill/>
            <a:prstDash val="solid"/>
          </a:ln>
        </p:spPr>
      </p:sp>
      <p:sp>
        <p:nvSpPr>
          <p:cNvPr id="2" name="eyebrow">
            <a:extLst xmlns:a="http://schemas.openxmlformats.org/drawingml/2006/main">
              <a:ext uri="{FF2B5EF4-FFF2-40B4-BE49-F238E27FC236}">
                <a16:creationId xmlns:a16="http://schemas.microsoft.com/office/drawing/2014/main" id="{58DC7708-2749-481F-AD8F-118BFF202239}"/>
              </a:ext>
            </a:extLst>
          </p:cNvPr>
          <p:cNvSpPr>
            <a:spLocks xmlns:a="http://schemas.openxmlformats.org/drawingml/2006/main" noGrp="1"/>
          </p:cNvSpPr>
          <p:nvPr/>
        </p:nvSpPr>
        <p:spPr>
          <a:xfrm xmlns:a="http://schemas.openxmlformats.org/drawingml/2006/main">
            <a:off x="533400" y="285750"/>
            <a:ext cx="800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1050" b="1">
                <a:solidFill>
                  <a:srgbClr val="D49A34"/>
                </a:solidFill>
                <a:latin typeface="Aptos"/>
                <a:ea typeface="Aptos"/>
                <a:cs typeface="Aptos"/>
              </a:defRPr>
            </a:pPr>
            <a:r>
              <a:rPr sz="1050" b="1">
                <a:solidFill>
                  <a:srgbClr val="D49A34"/>
                </a:solidFill>
                <a:latin typeface="Aptos"/>
                <a:ea typeface="Aptos"/>
                <a:cs typeface="Aptos"/>
              </a:rPr>
              <a:t>TODAY’S LEARNING PATH</a:t>
            </a:r>
          </a:p>
        </p:txBody>
      </p:sp>
      <p:sp>
        <p:nvSpPr>
          <p:cNvPr id="3" name="title">
            <a:extLst xmlns:a="http://schemas.openxmlformats.org/drawingml/2006/main">
              <a:ext uri="{FF2B5EF4-FFF2-40B4-BE49-F238E27FC236}">
                <a16:creationId xmlns:a16="http://schemas.microsoft.com/office/drawing/2014/main" id="{3422E7F3-4DCC-464F-A3C4-31A554F96CFF}"/>
              </a:ext>
            </a:extLst>
          </p:cNvPr>
          <p:cNvSpPr>
            <a:spLocks xmlns:a="http://schemas.openxmlformats.org/drawingml/2006/main" noGrp="1"/>
          </p:cNvSpPr>
          <p:nvPr/>
        </p:nvSpPr>
        <p:spPr>
          <a:xfrm xmlns:a="http://schemas.openxmlformats.org/drawingml/2006/main">
            <a:off x="533400" y="742950"/>
            <a:ext cx="8286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94000"/>
              </a:lnSpc>
              <a:buNone/>
              <a:defRPr sz="2850" b="1">
                <a:solidFill>
                  <a:srgbClr val="20302E"/>
                </a:solidFill>
                <a:latin typeface="Aptos Display"/>
                <a:ea typeface="Aptos Display"/>
                <a:cs typeface="Aptos Display"/>
              </a:defRPr>
            </a:pPr>
            <a:r>
              <a:rPr sz="2850" b="1">
                <a:solidFill>
                  <a:srgbClr val="20302E"/>
                </a:solidFill>
                <a:latin typeface="Aptos Display"/>
                <a:ea typeface="Aptos Display"/>
                <a:cs typeface="Aptos Display"/>
              </a:rPr>
              <a:t>Three ideas build one stronger decision</a:t>
            </a:r>
          </a:p>
        </p:txBody>
      </p:sp>
      <p:sp>
        <p:nvSpPr>
          <p:cNvPr id="4" name="idea-number-1">
            <a:extLst xmlns:a="http://schemas.openxmlformats.org/drawingml/2006/main">
              <a:ext uri="{FF2B5EF4-FFF2-40B4-BE49-F238E27FC236}">
                <a16:creationId xmlns:a16="http://schemas.microsoft.com/office/drawing/2014/main" id="{63FF9177-6936-4BB2-9DC6-E56B63A88777}"/>
              </a:ext>
            </a:extLst>
          </p:cNvPr>
          <p:cNvSpPr>
            <a:spLocks xmlns:a="http://schemas.openxmlformats.org/drawingml/2006/main" noGrp="1"/>
          </p:cNvSpPr>
          <p:nvPr/>
        </p:nvSpPr>
        <p:spPr>
          <a:xfrm xmlns:a="http://schemas.openxmlformats.org/drawingml/2006/main">
            <a:off x="590550" y="1885950"/>
            <a:ext cx="5524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2250" b="1">
                <a:solidFill>
                  <a:srgbClr val="146B66"/>
                </a:solidFill>
                <a:latin typeface="Aptos"/>
                <a:ea typeface="Aptos"/>
                <a:cs typeface="Aptos"/>
              </a:defRPr>
            </a:pPr>
            <a:r>
              <a:rPr sz="2250" b="1">
                <a:solidFill>
                  <a:srgbClr val="146B66"/>
                </a:solidFill>
                <a:latin typeface="Aptos"/>
                <a:ea typeface="Aptos"/>
                <a:cs typeface="Aptos"/>
              </a:rPr>
              <a:t>1</a:t>
            </a:r>
          </a:p>
        </p:txBody>
      </p:sp>
      <p:sp>
        <p:nvSpPr>
          <p:cNvPr id="5" name="idea-line-1">
            <a:extLst xmlns:a="http://schemas.openxmlformats.org/drawingml/2006/main">
              <a:ext uri="{FF2B5EF4-FFF2-40B4-BE49-F238E27FC236}">
                <a16:creationId xmlns:a16="http://schemas.microsoft.com/office/drawing/2014/main" id="{19E753AE-EDA8-44EF-9259-E1DD0BD4743E}"/>
              </a:ext>
            </a:extLst>
          </p:cNvPr>
          <p:cNvSpPr>
            <a:spLocks xmlns:a="http://schemas.openxmlformats.org/drawingml/2006/main" noGrp="1"/>
          </p:cNvSpPr>
          <p:nvPr/>
        </p:nvSpPr>
        <p:spPr>
          <a:xfrm xmlns:a="http://schemas.openxmlformats.org/drawingml/2006/main">
            <a:off x="1257300" y="2514600"/>
            <a:ext cx="4953000" cy="0"/>
          </a:xfrm>
          <a:prstGeom xmlns:a="http://schemas.openxmlformats.org/drawingml/2006/main" prst="line">
            <a:avLst/>
          </a:prstGeom>
          <a:noFill xmlns:a="http://schemas.openxmlformats.org/drawingml/2006/main"/>
          <a:ln xmlns:a="http://schemas.openxmlformats.org/drawingml/2006/main" w="28575">
            <a:solidFill>
              <a:srgbClr val="146B66"/>
            </a:solidFill>
            <a:prstDash val="solid"/>
          </a:ln>
        </p:spPr>
      </p:sp>
      <p:sp>
        <p:nvSpPr>
          <p:cNvPr id="6" name="idea-title-1">
            <a:extLst xmlns:a="http://schemas.openxmlformats.org/drawingml/2006/main">
              <a:ext uri="{FF2B5EF4-FFF2-40B4-BE49-F238E27FC236}">
                <a16:creationId xmlns:a16="http://schemas.microsoft.com/office/drawing/2014/main" id="{8AEDED85-F4E8-4A2C-AF22-67E742633FD6}"/>
              </a:ext>
            </a:extLst>
          </p:cNvPr>
          <p:cNvSpPr>
            <a:spLocks xmlns:a="http://schemas.openxmlformats.org/drawingml/2006/main" noGrp="1"/>
          </p:cNvSpPr>
          <p:nvPr/>
        </p:nvSpPr>
        <p:spPr>
          <a:xfrm xmlns:a="http://schemas.openxmlformats.org/drawingml/2006/main">
            <a:off x="1466850" y="1809750"/>
            <a:ext cx="4762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94000"/>
              </a:lnSpc>
              <a:buNone/>
              <a:defRPr sz="1950" b="1">
                <a:solidFill>
                  <a:srgbClr val="20302E"/>
                </a:solidFill>
                <a:latin typeface="Aptos Display"/>
                <a:ea typeface="Aptos Display"/>
                <a:cs typeface="Aptos Display"/>
              </a:defRPr>
            </a:pPr>
            <a:r>
              <a:rPr sz="1950" b="1">
                <a:solidFill>
                  <a:srgbClr val="20302E"/>
                </a:solidFill>
                <a:latin typeface="Aptos Display"/>
                <a:ea typeface="Aptos Display"/>
                <a:cs typeface="Aptos Display"/>
              </a:rPr>
              <a:t>Textiles in Everyday Life</a:t>
            </a:r>
          </a:p>
        </p:txBody>
      </p:sp>
      <p:sp>
        <p:nvSpPr>
          <p:cNvPr id="7" name="idea-number-2">
            <a:extLst xmlns:a="http://schemas.openxmlformats.org/drawingml/2006/main">
              <a:ext uri="{FF2B5EF4-FFF2-40B4-BE49-F238E27FC236}">
                <a16:creationId xmlns:a16="http://schemas.microsoft.com/office/drawing/2014/main" id="{845AADFE-9DFE-4E3F-8C5B-E143C350CD8C}"/>
              </a:ext>
            </a:extLst>
          </p:cNvPr>
          <p:cNvSpPr>
            <a:spLocks xmlns:a="http://schemas.openxmlformats.org/drawingml/2006/main" noGrp="1"/>
          </p:cNvSpPr>
          <p:nvPr/>
        </p:nvSpPr>
        <p:spPr>
          <a:xfrm xmlns:a="http://schemas.openxmlformats.org/drawingml/2006/main">
            <a:off x="590550" y="2952750"/>
            <a:ext cx="5524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2250" b="1">
                <a:solidFill>
                  <a:srgbClr val="BF4C5A"/>
                </a:solidFill>
                <a:latin typeface="Aptos"/>
                <a:ea typeface="Aptos"/>
                <a:cs typeface="Aptos"/>
              </a:defRPr>
            </a:pPr>
            <a:r>
              <a:rPr sz="2250" b="1">
                <a:solidFill>
                  <a:srgbClr val="BF4C5A"/>
                </a:solidFill>
                <a:latin typeface="Aptos"/>
                <a:ea typeface="Aptos"/>
                <a:cs typeface="Aptos"/>
              </a:rPr>
              <a:t>2</a:t>
            </a:r>
          </a:p>
        </p:txBody>
      </p:sp>
      <p:sp>
        <p:nvSpPr>
          <p:cNvPr id="8" name="idea-line-2">
            <a:extLst xmlns:a="http://schemas.openxmlformats.org/drawingml/2006/main">
              <a:ext uri="{FF2B5EF4-FFF2-40B4-BE49-F238E27FC236}">
                <a16:creationId xmlns:a16="http://schemas.microsoft.com/office/drawing/2014/main" id="{5BB5F10B-F25B-4A54-934A-6BA2514938EE}"/>
              </a:ext>
            </a:extLst>
          </p:cNvPr>
          <p:cNvSpPr>
            <a:spLocks xmlns:a="http://schemas.openxmlformats.org/drawingml/2006/main" noGrp="1"/>
          </p:cNvSpPr>
          <p:nvPr/>
        </p:nvSpPr>
        <p:spPr>
          <a:xfrm xmlns:a="http://schemas.openxmlformats.org/drawingml/2006/main">
            <a:off x="1257300" y="3581400"/>
            <a:ext cx="4953000" cy="0"/>
          </a:xfrm>
          <a:prstGeom xmlns:a="http://schemas.openxmlformats.org/drawingml/2006/main" prst="line">
            <a:avLst/>
          </a:prstGeom>
          <a:noFill xmlns:a="http://schemas.openxmlformats.org/drawingml/2006/main"/>
          <a:ln xmlns:a="http://schemas.openxmlformats.org/drawingml/2006/main" w="28575">
            <a:solidFill>
              <a:srgbClr val="BF4C5A"/>
            </a:solidFill>
            <a:prstDash val="solid"/>
          </a:ln>
        </p:spPr>
      </p:sp>
      <p:sp>
        <p:nvSpPr>
          <p:cNvPr id="9" name="idea-title-2">
            <a:extLst xmlns:a="http://schemas.openxmlformats.org/drawingml/2006/main">
              <a:ext uri="{FF2B5EF4-FFF2-40B4-BE49-F238E27FC236}">
                <a16:creationId xmlns:a16="http://schemas.microsoft.com/office/drawing/2014/main" id="{286FE35E-BBF8-4B7F-8A55-CF8EAAD2D643}"/>
              </a:ext>
            </a:extLst>
          </p:cNvPr>
          <p:cNvSpPr>
            <a:spLocks xmlns:a="http://schemas.openxmlformats.org/drawingml/2006/main" noGrp="1"/>
          </p:cNvSpPr>
          <p:nvPr/>
        </p:nvSpPr>
        <p:spPr>
          <a:xfrm xmlns:a="http://schemas.openxmlformats.org/drawingml/2006/main">
            <a:off x="1466850" y="2876550"/>
            <a:ext cx="4762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94000"/>
              </a:lnSpc>
              <a:buNone/>
              <a:defRPr sz="1950" b="1">
                <a:solidFill>
                  <a:srgbClr val="20302E"/>
                </a:solidFill>
                <a:latin typeface="Aptos Display"/>
                <a:ea typeface="Aptos Display"/>
                <a:cs typeface="Aptos Display"/>
              </a:defRPr>
            </a:pPr>
            <a:r>
              <a:rPr sz="1950" b="1">
                <a:solidFill>
                  <a:srgbClr val="20302E"/>
                </a:solidFill>
                <a:latin typeface="Aptos Display"/>
                <a:ea typeface="Aptos Display"/>
                <a:cs typeface="Aptos Display"/>
              </a:rPr>
              <a:t>From Fibre to Yarn to Fabric</a:t>
            </a:r>
          </a:p>
        </p:txBody>
      </p:sp>
      <p:sp>
        <p:nvSpPr>
          <p:cNvPr id="10" name="idea-number-3">
            <a:extLst xmlns:a="http://schemas.openxmlformats.org/drawingml/2006/main">
              <a:ext uri="{FF2B5EF4-FFF2-40B4-BE49-F238E27FC236}">
                <a16:creationId xmlns:a16="http://schemas.microsoft.com/office/drawing/2014/main" id="{DEDDF31D-731B-4271-B457-642DB28B01B4}"/>
              </a:ext>
            </a:extLst>
          </p:cNvPr>
          <p:cNvSpPr>
            <a:spLocks xmlns:a="http://schemas.openxmlformats.org/drawingml/2006/main" noGrp="1"/>
          </p:cNvSpPr>
          <p:nvPr/>
        </p:nvSpPr>
        <p:spPr>
          <a:xfrm xmlns:a="http://schemas.openxmlformats.org/drawingml/2006/main">
            <a:off x="590550" y="4019550"/>
            <a:ext cx="5524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2250" b="1">
                <a:solidFill>
                  <a:srgbClr val="146B66"/>
                </a:solidFill>
                <a:latin typeface="Aptos"/>
                <a:ea typeface="Aptos"/>
                <a:cs typeface="Aptos"/>
              </a:defRPr>
            </a:pPr>
            <a:r>
              <a:rPr sz="2250" b="1">
                <a:solidFill>
                  <a:srgbClr val="146B66"/>
                </a:solidFill>
                <a:latin typeface="Aptos"/>
                <a:ea typeface="Aptos"/>
                <a:cs typeface="Aptos"/>
              </a:rPr>
              <a:t>3</a:t>
            </a:r>
          </a:p>
        </p:txBody>
      </p:sp>
      <p:sp>
        <p:nvSpPr>
          <p:cNvPr id="11" name="idea-line-3">
            <a:extLst xmlns:a="http://schemas.openxmlformats.org/drawingml/2006/main">
              <a:ext uri="{FF2B5EF4-FFF2-40B4-BE49-F238E27FC236}">
                <a16:creationId xmlns:a16="http://schemas.microsoft.com/office/drawing/2014/main" id="{830EF0E4-79AA-4EB2-926C-2E0FC6914554}"/>
              </a:ext>
            </a:extLst>
          </p:cNvPr>
          <p:cNvSpPr>
            <a:spLocks xmlns:a="http://schemas.openxmlformats.org/drawingml/2006/main" noGrp="1"/>
          </p:cNvSpPr>
          <p:nvPr/>
        </p:nvSpPr>
        <p:spPr>
          <a:xfrm xmlns:a="http://schemas.openxmlformats.org/drawingml/2006/main">
            <a:off x="1257300" y="4648200"/>
            <a:ext cx="4953000" cy="0"/>
          </a:xfrm>
          <a:prstGeom xmlns:a="http://schemas.openxmlformats.org/drawingml/2006/main" prst="line">
            <a:avLst/>
          </a:prstGeom>
          <a:noFill xmlns:a="http://schemas.openxmlformats.org/drawingml/2006/main"/>
          <a:ln xmlns:a="http://schemas.openxmlformats.org/drawingml/2006/main" w="28575">
            <a:solidFill>
              <a:srgbClr val="146B66"/>
            </a:solidFill>
            <a:prstDash val="solid"/>
          </a:ln>
        </p:spPr>
      </p:sp>
      <p:sp>
        <p:nvSpPr>
          <p:cNvPr id="12" name="idea-title-3">
            <a:extLst xmlns:a="http://schemas.openxmlformats.org/drawingml/2006/main">
              <a:ext uri="{FF2B5EF4-FFF2-40B4-BE49-F238E27FC236}">
                <a16:creationId xmlns:a16="http://schemas.microsoft.com/office/drawing/2014/main" id="{D7B2D7CF-FFEA-4779-8B6E-21AA6E1990DC}"/>
              </a:ext>
            </a:extLst>
          </p:cNvPr>
          <p:cNvSpPr>
            <a:spLocks xmlns:a="http://schemas.openxmlformats.org/drawingml/2006/main" noGrp="1"/>
          </p:cNvSpPr>
          <p:nvPr/>
        </p:nvSpPr>
        <p:spPr>
          <a:xfrm xmlns:a="http://schemas.openxmlformats.org/drawingml/2006/main">
            <a:off x="1466850" y="3943350"/>
            <a:ext cx="4762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94000"/>
              </a:lnSpc>
              <a:buNone/>
              <a:defRPr sz="1950" b="1">
                <a:solidFill>
                  <a:srgbClr val="20302E"/>
                </a:solidFill>
                <a:latin typeface="Aptos Display"/>
                <a:ea typeface="Aptos Display"/>
                <a:cs typeface="Aptos Display"/>
              </a:defRPr>
            </a:pPr>
            <a:r>
              <a:rPr sz="1950" b="1">
                <a:solidFill>
                  <a:srgbClr val="20302E"/>
                </a:solidFill>
                <a:latin typeface="Aptos Display"/>
                <a:ea typeface="Aptos Display"/>
                <a:cs typeface="Aptos Display"/>
              </a:rPr>
              <a:t>The Sew Awesome Design Challenge</a:t>
            </a:r>
          </a:p>
        </p:txBody>
      </p:sp>
      <p:sp>
        <p:nvSpPr>
          <p:cNvPr id="13" name="warm-up">
            <a:extLst xmlns:a="http://schemas.openxmlformats.org/drawingml/2006/main">
              <a:ext uri="{FF2B5EF4-FFF2-40B4-BE49-F238E27FC236}">
                <a16:creationId xmlns:a16="http://schemas.microsoft.com/office/drawing/2014/main" id="{821FC323-767B-475A-8DFD-5D5F89999C4C}"/>
              </a:ext>
            </a:extLst>
          </p:cNvPr>
          <p:cNvSpPr>
            <a:spLocks xmlns:a="http://schemas.openxmlformats.org/drawingml/2006/main" noGrp="1"/>
          </p:cNvSpPr>
          <p:nvPr/>
        </p:nvSpPr>
        <p:spPr>
          <a:xfrm xmlns:a="http://schemas.openxmlformats.org/drawingml/2006/main">
            <a:off x="7067550" y="1733550"/>
            <a:ext cx="4591050" cy="3371850"/>
          </a:xfrm>
          <a:prstGeom xmlns:a="http://schemas.openxmlformats.org/drawingml/2006/main" prst="roundRect">
            <a:avLst>
              <a:gd name="adj" fmla="val 4520"/>
            </a:avLst>
          </a:prstGeom>
          <a:solidFill xmlns:a="http://schemas.openxmlformats.org/drawingml/2006/main">
            <a:srgbClr val="0C4E4A"/>
          </a:solidFill>
          <a:ln xmlns:a="http://schemas.openxmlformats.org/drawingml/2006/main" w="9525">
            <a:solidFill>
              <a:srgbClr val="0C4E4A"/>
            </a:solidFill>
            <a:prstDash val="solid"/>
          </a:ln>
        </p:spPr>
      </p:sp>
      <p:sp>
        <p:nvSpPr>
          <p:cNvPr id="14" name="warm-up-label">
            <a:extLst xmlns:a="http://schemas.openxmlformats.org/drawingml/2006/main">
              <a:ext uri="{FF2B5EF4-FFF2-40B4-BE49-F238E27FC236}">
                <a16:creationId xmlns:a16="http://schemas.microsoft.com/office/drawing/2014/main" id="{B666F448-E8C2-47A1-9084-AA8C4DC412DC}"/>
              </a:ext>
            </a:extLst>
          </p:cNvPr>
          <p:cNvSpPr>
            <a:spLocks xmlns:a="http://schemas.openxmlformats.org/drawingml/2006/main" noGrp="1"/>
          </p:cNvSpPr>
          <p:nvPr/>
        </p:nvSpPr>
        <p:spPr>
          <a:xfrm xmlns:a="http://schemas.openxmlformats.org/drawingml/2006/main">
            <a:off x="7448550" y="2171700"/>
            <a:ext cx="3619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1050" b="1">
                <a:solidFill>
                  <a:srgbClr val="FFE4A4"/>
                </a:solidFill>
                <a:latin typeface="Aptos"/>
                <a:ea typeface="Aptos"/>
                <a:cs typeface="Aptos"/>
              </a:defRPr>
            </a:pPr>
            <a:r>
              <a:rPr sz="1050" b="1">
                <a:solidFill>
                  <a:srgbClr val="FFE4A4"/>
                </a:solidFill>
                <a:latin typeface="Aptos"/>
                <a:ea typeface="Aptos"/>
                <a:cs typeface="Aptos"/>
              </a:rPr>
              <a:t>RETRIEVAL WARM-UP</a:t>
            </a:r>
          </a:p>
        </p:txBody>
      </p:sp>
      <p:sp>
        <p:nvSpPr>
          <p:cNvPr id="15" name="warm-up-question">
            <a:extLst xmlns:a="http://schemas.openxmlformats.org/drawingml/2006/main">
              <a:ext uri="{FF2B5EF4-FFF2-40B4-BE49-F238E27FC236}">
                <a16:creationId xmlns:a16="http://schemas.microsoft.com/office/drawing/2014/main" id="{3ACAB45E-76A1-4F4D-90AC-1E4B5616FE2A}"/>
              </a:ext>
            </a:extLst>
          </p:cNvPr>
          <p:cNvSpPr>
            <a:spLocks xmlns:a="http://schemas.openxmlformats.org/drawingml/2006/main" noGrp="1"/>
          </p:cNvSpPr>
          <p:nvPr/>
        </p:nvSpPr>
        <p:spPr>
          <a:xfrm xmlns:a="http://schemas.openxmlformats.org/drawingml/2006/main">
            <a:off x="7448550" y="2647950"/>
            <a:ext cx="35242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94000"/>
              </a:lnSpc>
              <a:buNone/>
              <a:defRPr sz="2325" b="1">
                <a:solidFill>
                  <a:srgbClr val="FFFFFF"/>
                </a:solidFill>
                <a:latin typeface="Aptos Display"/>
                <a:ea typeface="Aptos Display"/>
                <a:cs typeface="Aptos Display"/>
              </a:defRPr>
            </a:pPr>
            <a:r>
              <a:rPr sz="2325" b="1">
                <a:solidFill>
                  <a:srgbClr val="FFFFFF"/>
                </a:solidFill>
                <a:latin typeface="Aptos Display"/>
                <a:ea typeface="Aptos Display"/>
                <a:cs typeface="Aptos Display"/>
              </a:rPr>
              <a:t>Students know that clothes and bags are made from different materials.</a:t>
            </a:r>
          </a:p>
        </p:txBody>
      </p:sp>
      <p:sp>
        <p:nvSpPr>
          <p:cNvPr id="16" name="warm-up-instruction">
            <a:extLst xmlns:a="http://schemas.openxmlformats.org/drawingml/2006/main">
              <a:ext uri="{FF2B5EF4-FFF2-40B4-BE49-F238E27FC236}">
                <a16:creationId xmlns:a16="http://schemas.microsoft.com/office/drawing/2014/main" id="{E6384B65-C5DA-4774-9A56-C32992B66FF3}"/>
              </a:ext>
            </a:extLst>
          </p:cNvPr>
          <p:cNvSpPr>
            <a:spLocks xmlns:a="http://schemas.openxmlformats.org/drawingml/2006/main" noGrp="1"/>
          </p:cNvSpPr>
          <p:nvPr/>
        </p:nvSpPr>
        <p:spPr>
          <a:xfrm xmlns:a="http://schemas.openxmlformats.org/drawingml/2006/main">
            <a:off x="7448550" y="4343400"/>
            <a:ext cx="3524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a:solidFill>
                  <a:srgbClr val="EEF6F3"/>
                </a:solidFill>
                <a:latin typeface="Aptos"/>
                <a:ea typeface="Aptos"/>
                <a:cs typeface="Aptos"/>
              </a:defRPr>
            </a:pPr>
            <a:r>
              <a:rPr sz="1350">
                <a:solidFill>
                  <a:srgbClr val="EEF6F3"/>
                </a:solidFill>
                <a:latin typeface="Aptos"/>
                <a:ea typeface="Aptos"/>
                <a:cs typeface="Aptos"/>
              </a:rPr>
              <a:t>Think silently. Name one useful idea. Be ready to explain why it matters.</a:t>
            </a:r>
          </a:p>
        </p:txBody>
      </p:sp>
      <p:sp>
        <p:nvSpPr>
          <p:cNvPr id="17" name="footer-module">
            <a:extLst xmlns:a="http://schemas.openxmlformats.org/drawingml/2006/main">
              <a:ext uri="{FF2B5EF4-FFF2-40B4-BE49-F238E27FC236}">
                <a16:creationId xmlns:a16="http://schemas.microsoft.com/office/drawing/2014/main" id="{D7218AE3-4827-484C-8B3F-171C2A641795}"/>
              </a:ext>
            </a:extLst>
          </p:cNvPr>
          <p:cNvSpPr>
            <a:spLocks xmlns:a="http://schemas.openxmlformats.org/drawingml/2006/main" noGrp="1"/>
          </p:cNvSpPr>
          <p:nvPr/>
        </p:nvSpPr>
        <p:spPr>
          <a:xfrm xmlns:a="http://schemas.openxmlformats.org/drawingml/2006/main">
            <a:off x="5334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900" b="1">
                <a:solidFill>
                  <a:srgbClr val="566662"/>
                </a:solidFill>
                <a:latin typeface="Aptos"/>
                <a:ea typeface="Aptos"/>
                <a:cs typeface="Aptos"/>
              </a:defRPr>
            </a:pPr>
            <a:r>
              <a:rPr sz="900" b="1">
                <a:solidFill>
                  <a:srgbClr val="566662"/>
                </a:solidFill>
                <a:latin typeface="Aptos"/>
                <a:ea typeface="Aptos"/>
                <a:cs typeface="Aptos"/>
              </a:rPr>
              <a:t>SEW AWESOME  •  MODULE 01</a:t>
            </a:r>
          </a:p>
        </p:txBody>
      </p:sp>
      <p:sp>
        <p:nvSpPr>
          <p:cNvPr id="18" name="footer-page">
            <a:extLst xmlns:a="http://schemas.openxmlformats.org/drawingml/2006/main">
              <a:ext uri="{FF2B5EF4-FFF2-40B4-BE49-F238E27FC236}">
                <a16:creationId xmlns:a16="http://schemas.microsoft.com/office/drawing/2014/main" id="{70696FF4-C347-4F51-ACD7-BF48E76295B4}"/>
              </a:ext>
            </a:extLst>
          </p:cNvPr>
          <p:cNvSpPr>
            <a:spLocks xmlns:a="http://schemas.openxmlformats.org/drawingml/2006/main" noGrp="1"/>
          </p:cNvSpPr>
          <p:nvPr/>
        </p:nvSpPr>
        <p:spPr>
          <a:xfrm xmlns:a="http://schemas.openxmlformats.org/drawingml/2006/main">
            <a:off x="11182350" y="6496050"/>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defRPr sz="900" b="1">
                <a:solidFill>
                  <a:srgbClr val="566662"/>
                </a:solidFill>
                <a:latin typeface="Aptos"/>
                <a:ea typeface="Aptos"/>
                <a:cs typeface="Aptos"/>
              </a:defRPr>
            </a:pPr>
            <a:r>
              <a:rPr sz="900" b="1">
                <a:solidFill>
                  <a:srgbClr val="566662"/>
                </a:solidFill>
                <a:latin typeface="Aptos"/>
                <a:ea typeface="Aptos"/>
                <a:cs typeface="Aptos"/>
              </a:rPr>
              <a:t>02</a:t>
            </a:r>
          </a:p>
        </p:txBody>
      </p:sp>
    </p:spTree>
    <p:extLst>
      <p:ext uri="{BB962C8B-B14F-4D97-AF65-F5344CB8AC3E}">
        <p14:creationId xmlns:p14="http://schemas.microsoft.com/office/powerpoint/2010/main" val="487876677"/>
      </p:ext>
    </p:extLst>
  </p:cSld>
</p:sld>
</file>

<file path=ppt/slides/slide3.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4" name="top-rule">
            <a:extLst xmlns:a="http://schemas.openxmlformats.org/drawingml/2006/main">
              <a:ext uri="{FF2B5EF4-FFF2-40B4-BE49-F238E27FC236}">
                <a16:creationId xmlns:a16="http://schemas.microsoft.com/office/drawing/2014/main" id="{65882363-EB22-46DB-90DA-FF7F1C6B86E2}"/>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146B66"/>
          </a:solidFill>
          <a:ln xmlns:a="http://schemas.openxmlformats.org/drawingml/2006/main" w="0">
            <a:noFill/>
            <a:prstDash val="solid"/>
          </a:ln>
        </p:spPr>
      </p:sp>
      <p:sp>
        <p:nvSpPr>
          <p:cNvPr id="2" name="eyebrow">
            <a:extLst xmlns:a="http://schemas.openxmlformats.org/drawingml/2006/main">
              <a:ext uri="{FF2B5EF4-FFF2-40B4-BE49-F238E27FC236}">
                <a16:creationId xmlns:a16="http://schemas.microsoft.com/office/drawing/2014/main" id="{784EEA33-D2B6-4461-AD92-90CE0A7F72AC}"/>
              </a:ext>
            </a:extLst>
          </p:cNvPr>
          <p:cNvSpPr>
            <a:spLocks xmlns:a="http://schemas.openxmlformats.org/drawingml/2006/main" noGrp="1"/>
          </p:cNvSpPr>
          <p:nvPr/>
        </p:nvSpPr>
        <p:spPr>
          <a:xfrm xmlns:a="http://schemas.openxmlformats.org/drawingml/2006/main">
            <a:off x="533400" y="285750"/>
            <a:ext cx="800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1050" b="1">
                <a:solidFill>
                  <a:srgbClr val="146B66"/>
                </a:solidFill>
                <a:latin typeface="Aptos"/>
                <a:ea typeface="Aptos"/>
                <a:cs typeface="Aptos"/>
              </a:defRPr>
            </a:pPr>
            <a:r>
              <a:rPr sz="1050" b="1">
                <a:solidFill>
                  <a:srgbClr val="146B66"/>
                </a:solidFill>
                <a:latin typeface="Aptos"/>
                <a:ea typeface="Aptos"/>
                <a:cs typeface="Aptos"/>
              </a:rPr>
              <a:t>1. TEXTILES IN EVERYDAY LIFE</a:t>
            </a:r>
          </a:p>
        </p:txBody>
      </p:sp>
      <p:sp>
        <p:nvSpPr>
          <p:cNvPr id="3" name="title">
            <a:extLst xmlns:a="http://schemas.openxmlformats.org/drawingml/2006/main">
              <a:ext uri="{FF2B5EF4-FFF2-40B4-BE49-F238E27FC236}">
                <a16:creationId xmlns:a16="http://schemas.microsoft.com/office/drawing/2014/main" id="{5C8D46B1-2386-4351-8385-A0FD4DB666E7}"/>
              </a:ext>
            </a:extLst>
          </p:cNvPr>
          <p:cNvSpPr>
            <a:spLocks xmlns:a="http://schemas.openxmlformats.org/drawingml/2006/main" noGrp="1"/>
          </p:cNvSpPr>
          <p:nvPr/>
        </p:nvSpPr>
        <p:spPr>
          <a:xfrm xmlns:a="http://schemas.openxmlformats.org/drawingml/2006/main">
            <a:off x="533400" y="723900"/>
            <a:ext cx="11125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94000"/>
              </a:lnSpc>
              <a:buNone/>
              <a:defRPr sz="2850" b="1">
                <a:solidFill>
                  <a:srgbClr val="20302E"/>
                </a:solidFill>
                <a:latin typeface="Aptos Display"/>
                <a:ea typeface="Aptos Display"/>
                <a:cs typeface="Aptos Display"/>
              </a:defRPr>
            </a:pPr>
            <a:r>
              <a:rPr sz="2850" b="1">
                <a:solidFill>
                  <a:srgbClr val="20302E"/>
                </a:solidFill>
                <a:latin typeface="Aptos Display"/>
                <a:ea typeface="Aptos Display"/>
                <a:cs typeface="Aptos Display"/>
              </a:rPr>
              <a:t>Designer habit</a:t>
            </a:r>
          </a:p>
        </p:txBody>
      </p:sp>
      <p:pic>
        <p:nvPicPr>
          <p:cNvPr id="17" name="Teaching visual - Six textile items with different visible surfaces and forms are arranged for comparison."/>
          <p:cNvPicPr>
            <a:picLocks xmlns:a="http://schemas.openxmlformats.org/drawingml/2006/main" noChangeAspect="1"/>
          </p:cNvPicPr>
          <p:nvPr/>
        </p:nvPicPr>
        <p:blipFill>
          <a:blip xmlns:r="http://schemas.openxmlformats.org/officeDocument/2006/relationships" xmlns:a="http://schemas.openxmlformats.org/drawingml/2006/main" r:embed="Redbccba4669b4486"/>
          <a:stretch xmlns:a="http://schemas.openxmlformats.org/drawingml/2006/main"/>
        </p:blipFill>
        <p:spPr>
          <a:xfrm xmlns:a="http://schemas.openxmlformats.org/drawingml/2006/main">
            <a:off x="6657975" y="1524000"/>
            <a:ext cx="4953000" cy="3714750"/>
          </a:xfrm>
          <a:prstGeom xmlns:a="http://schemas.openxmlformats.org/drawingml/2006/main" prst="roundRect">
            <a:avLst>
              <a:gd name="adj" fmla="val 3077"/>
            </a:avLst>
          </a:prstGeom>
        </p:spPr>
      </p:pic>
      <p:sp>
        <p:nvSpPr>
          <p:cNvPr id="5" name="theory">
            <a:extLst xmlns:a="http://schemas.openxmlformats.org/drawingml/2006/main">
              <a:ext uri="{FF2B5EF4-FFF2-40B4-BE49-F238E27FC236}">
                <a16:creationId xmlns:a16="http://schemas.microsoft.com/office/drawing/2014/main" id="{4AC77E10-CF23-4EE5-93B5-ACC0272F07D4}"/>
              </a:ext>
            </a:extLst>
          </p:cNvPr>
          <p:cNvSpPr>
            <a:spLocks xmlns:a="http://schemas.openxmlformats.org/drawingml/2006/main" noGrp="1"/>
          </p:cNvSpPr>
          <p:nvPr/>
        </p:nvSpPr>
        <p:spPr>
          <a:xfrm xmlns:a="http://schemas.openxmlformats.org/drawingml/2006/main">
            <a:off x="533400" y="1562100"/>
            <a:ext cx="56388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6000"/>
              </a:lnSpc>
              <a:buNone/>
              <a:defRPr sz="1500">
                <a:solidFill>
                  <a:srgbClr val="20302E"/>
                </a:solidFill>
                <a:latin typeface="Aptos"/>
                <a:ea typeface="Aptos"/>
                <a:cs typeface="Aptos"/>
              </a:defRPr>
            </a:pPr>
            <a:r>
              <a:rPr sz="1500">
                <a:solidFill>
                  <a:srgbClr val="20302E"/>
                </a:solidFill>
                <a:latin typeface="Aptos"/>
                <a:ea typeface="Aptos"/>
                <a:cs typeface="Aptos"/>
              </a:rPr>
              <a:t>Textiles surround us because flexible materials can protect, carry, absorb, decorate and communicate. A designer looks beyond colour and asks what the textile must do for a particular user and situation. A textile is a flexible material made from fibres, yarns or fabric structures. Properties are observable or testable qualities such as strength, flexibility, thickness, absorbency, texture and resistance to wear.</a:t>
            </a:r>
          </a:p>
        </p:txBody>
      </p:sp>
      <p:sp>
        <p:nvSpPr>
          <p:cNvPr id="6" name="notice">
            <a:extLst xmlns:a="http://schemas.openxmlformats.org/drawingml/2006/main">
              <a:ext uri="{FF2B5EF4-FFF2-40B4-BE49-F238E27FC236}">
                <a16:creationId xmlns:a16="http://schemas.microsoft.com/office/drawing/2014/main" id="{D59CF1FF-721D-4160-895A-26E6FC51266A}"/>
              </a:ext>
            </a:extLst>
          </p:cNvPr>
          <p:cNvSpPr>
            <a:spLocks xmlns:a="http://schemas.openxmlformats.org/drawingml/2006/main" noGrp="1"/>
          </p:cNvSpPr>
          <p:nvPr/>
        </p:nvSpPr>
        <p:spPr>
          <a:xfrm xmlns:a="http://schemas.openxmlformats.org/drawingml/2006/main">
            <a:off x="533400" y="4095750"/>
            <a:ext cx="5638800" cy="1085850"/>
          </a:xfrm>
          <a:prstGeom xmlns:a="http://schemas.openxmlformats.org/drawingml/2006/main" prst="roundRect">
            <a:avLst>
              <a:gd name="adj" fmla="val 10526"/>
            </a:avLst>
          </a:prstGeom>
          <a:solidFill xmlns:a="http://schemas.openxmlformats.org/drawingml/2006/main">
            <a:srgbClr val="EEF5F1"/>
          </a:solidFill>
          <a:ln xmlns:a="http://schemas.openxmlformats.org/drawingml/2006/main" w="9525">
            <a:solidFill>
              <a:srgbClr val="B9CEC7"/>
            </a:solidFill>
            <a:prstDash val="solid"/>
          </a:ln>
        </p:spPr>
      </p:sp>
      <p:sp>
        <p:nvSpPr>
          <p:cNvPr id="7" name="notice-label">
            <a:extLst xmlns:a="http://schemas.openxmlformats.org/drawingml/2006/main">
              <a:ext uri="{FF2B5EF4-FFF2-40B4-BE49-F238E27FC236}">
                <a16:creationId xmlns:a16="http://schemas.microsoft.com/office/drawing/2014/main" id="{D1A44CBE-9915-4979-8DE7-6184848570E5}"/>
              </a:ext>
            </a:extLst>
          </p:cNvPr>
          <p:cNvSpPr>
            <a:spLocks xmlns:a="http://schemas.openxmlformats.org/drawingml/2006/main" noGrp="1"/>
          </p:cNvSpPr>
          <p:nvPr/>
        </p:nvSpPr>
        <p:spPr>
          <a:xfrm xmlns:a="http://schemas.openxmlformats.org/drawingml/2006/main">
            <a:off x="723900" y="424815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900" b="1">
                <a:solidFill>
                  <a:srgbClr val="BF4C5A"/>
                </a:solidFill>
                <a:latin typeface="Aptos"/>
                <a:ea typeface="Aptos"/>
                <a:cs typeface="Aptos"/>
              </a:defRPr>
            </a:pPr>
            <a:r>
              <a:rPr sz="900" b="1">
                <a:solidFill>
                  <a:srgbClr val="BF4C5A"/>
                </a:solidFill>
                <a:latin typeface="Aptos"/>
                <a:ea typeface="Aptos"/>
                <a:cs typeface="Aptos"/>
              </a:rPr>
              <a:t>LOOK AT THE VISUAL</a:t>
            </a:r>
          </a:p>
        </p:txBody>
      </p:sp>
      <p:sp>
        <p:nvSpPr>
          <p:cNvPr id="8" name="notice-text">
            <a:extLst xmlns:a="http://schemas.openxmlformats.org/drawingml/2006/main">
              <a:ext uri="{FF2B5EF4-FFF2-40B4-BE49-F238E27FC236}">
                <a16:creationId xmlns:a16="http://schemas.microsoft.com/office/drawing/2014/main" id="{7D76E889-EC2E-4601-A5B3-9C113DFB0C39}"/>
              </a:ext>
            </a:extLst>
          </p:cNvPr>
          <p:cNvSpPr>
            <a:spLocks xmlns:a="http://schemas.openxmlformats.org/drawingml/2006/main" noGrp="1"/>
          </p:cNvSpPr>
          <p:nvPr/>
        </p:nvSpPr>
        <p:spPr>
          <a:xfrm xmlns:a="http://schemas.openxmlformats.org/drawingml/2006/main">
            <a:off x="723900" y="4476750"/>
            <a:ext cx="525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b="1">
                <a:solidFill>
                  <a:srgbClr val="20302E"/>
                </a:solidFill>
                <a:latin typeface="Aptos"/>
                <a:ea typeface="Aptos"/>
                <a:cs typeface="Aptos"/>
              </a:defRPr>
            </a:pPr>
            <a:r>
              <a:rPr sz="1275" b="1">
                <a:solidFill>
                  <a:srgbClr val="20302E"/>
                </a:solidFill>
                <a:latin typeface="Aptos"/>
                <a:ea typeface="Aptos"/>
                <a:cs typeface="Aptos"/>
              </a:rPr>
              <a:t>Choose two items. What visible surface or structure difference could affect how each is used?</a:t>
            </a:r>
          </a:p>
        </p:txBody>
      </p:sp>
      <p:sp>
        <p:nvSpPr>
          <p:cNvPr id="9" name="prompt-band">
            <a:extLst xmlns:a="http://schemas.openxmlformats.org/drawingml/2006/main">
              <a:ext uri="{FF2B5EF4-FFF2-40B4-BE49-F238E27FC236}">
                <a16:creationId xmlns:a16="http://schemas.microsoft.com/office/drawing/2014/main" id="{526EE24A-6A31-4593-B374-66866860AD9A}"/>
              </a:ext>
            </a:extLst>
          </p:cNvPr>
          <p:cNvSpPr>
            <a:spLocks xmlns:a="http://schemas.openxmlformats.org/drawingml/2006/main" noGrp="1"/>
          </p:cNvSpPr>
          <p:nvPr/>
        </p:nvSpPr>
        <p:spPr>
          <a:xfrm xmlns:a="http://schemas.openxmlformats.org/drawingml/2006/main">
            <a:off x="533400" y="5467350"/>
            <a:ext cx="11125200" cy="628650"/>
          </a:xfrm>
          <a:prstGeom xmlns:a="http://schemas.openxmlformats.org/drawingml/2006/main" prst="roundRect">
            <a:avLst>
              <a:gd name="adj" fmla="val 18182"/>
            </a:avLst>
          </a:prstGeom>
          <a:solidFill xmlns:a="http://schemas.openxmlformats.org/drawingml/2006/main">
            <a:srgbClr val="F7E2E6"/>
          </a:solidFill>
          <a:ln xmlns:a="http://schemas.openxmlformats.org/drawingml/2006/main" w="9525">
            <a:solidFill>
              <a:srgbClr val="EBC2C9"/>
            </a:solidFill>
            <a:prstDash val="solid"/>
          </a:ln>
        </p:spPr>
      </p:sp>
      <p:sp>
        <p:nvSpPr>
          <p:cNvPr id="10" name="prompt-label">
            <a:extLst xmlns:a="http://schemas.openxmlformats.org/drawingml/2006/main">
              <a:ext uri="{FF2B5EF4-FFF2-40B4-BE49-F238E27FC236}">
                <a16:creationId xmlns:a16="http://schemas.microsoft.com/office/drawing/2014/main" id="{3E173507-439F-47FE-A585-321E45A2A40C}"/>
              </a:ext>
            </a:extLst>
          </p:cNvPr>
          <p:cNvSpPr>
            <a:spLocks xmlns:a="http://schemas.openxmlformats.org/drawingml/2006/main" noGrp="1"/>
          </p:cNvSpPr>
          <p:nvPr/>
        </p:nvSpPr>
        <p:spPr>
          <a:xfrm xmlns:a="http://schemas.openxmlformats.org/drawingml/2006/main">
            <a:off x="723900" y="5600700"/>
            <a:ext cx="742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975" b="1">
                <a:solidFill>
                  <a:srgbClr val="BF4C5A"/>
                </a:solidFill>
                <a:latin typeface="Aptos"/>
                <a:ea typeface="Aptos"/>
                <a:cs typeface="Aptos"/>
              </a:defRPr>
            </a:pPr>
            <a:r>
              <a:rPr sz="975" b="1">
                <a:solidFill>
                  <a:srgbClr val="BF4C5A"/>
                </a:solidFill>
                <a:latin typeface="Aptos"/>
                <a:ea typeface="Aptos"/>
                <a:cs typeface="Aptos"/>
              </a:rPr>
              <a:t>APPLY</a:t>
            </a:r>
          </a:p>
        </p:txBody>
      </p:sp>
      <p:sp>
        <p:nvSpPr>
          <p:cNvPr id="11" name="prompt-text">
            <a:extLst xmlns:a="http://schemas.openxmlformats.org/drawingml/2006/main">
              <a:ext uri="{FF2B5EF4-FFF2-40B4-BE49-F238E27FC236}">
                <a16:creationId xmlns:a16="http://schemas.microsoft.com/office/drawing/2014/main" id="{21F5E7F4-76E4-4BF4-A009-52725A777FD0}"/>
              </a:ext>
            </a:extLst>
          </p:cNvPr>
          <p:cNvSpPr>
            <a:spLocks xmlns:a="http://schemas.openxmlformats.org/drawingml/2006/main" noGrp="1"/>
          </p:cNvSpPr>
          <p:nvPr/>
        </p:nvSpPr>
        <p:spPr>
          <a:xfrm xmlns:a="http://schemas.openxmlformats.org/drawingml/2006/main">
            <a:off x="1466850" y="5581650"/>
            <a:ext cx="990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defRPr sz="1350" b="1">
                <a:solidFill>
                  <a:srgbClr val="20302E"/>
                </a:solidFill>
                <a:latin typeface="Aptos"/>
                <a:ea typeface="Aptos"/>
                <a:cs typeface="Aptos"/>
              </a:defRPr>
            </a:pPr>
            <a:r>
              <a:rPr sz="1350" b="1">
                <a:solidFill>
                  <a:srgbClr val="20302E"/>
                </a:solidFill>
                <a:latin typeface="Aptos"/>
                <a:ea typeface="Aptos"/>
                <a:cs typeface="Aptos"/>
              </a:rPr>
              <a:t>Inspect three nearby textile products and explain why their materials suit different jobs.</a:t>
            </a:r>
          </a:p>
        </p:txBody>
      </p:sp>
      <p:sp>
        <p:nvSpPr>
          <p:cNvPr id="12" name="footer-module">
            <a:extLst xmlns:a="http://schemas.openxmlformats.org/drawingml/2006/main">
              <a:ext uri="{FF2B5EF4-FFF2-40B4-BE49-F238E27FC236}">
                <a16:creationId xmlns:a16="http://schemas.microsoft.com/office/drawing/2014/main" id="{6CA9D012-B8BF-49D5-A784-518520180AFE}"/>
              </a:ext>
            </a:extLst>
          </p:cNvPr>
          <p:cNvSpPr>
            <a:spLocks xmlns:a="http://schemas.openxmlformats.org/drawingml/2006/main" noGrp="1"/>
          </p:cNvSpPr>
          <p:nvPr/>
        </p:nvSpPr>
        <p:spPr>
          <a:xfrm xmlns:a="http://schemas.openxmlformats.org/drawingml/2006/main">
            <a:off x="5334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900" b="1">
                <a:solidFill>
                  <a:srgbClr val="566662"/>
                </a:solidFill>
                <a:latin typeface="Aptos"/>
                <a:ea typeface="Aptos"/>
                <a:cs typeface="Aptos"/>
              </a:defRPr>
            </a:pPr>
            <a:r>
              <a:rPr sz="900" b="1">
                <a:solidFill>
                  <a:srgbClr val="566662"/>
                </a:solidFill>
                <a:latin typeface="Aptos"/>
                <a:ea typeface="Aptos"/>
                <a:cs typeface="Aptos"/>
              </a:rPr>
              <a:t>SEW AWESOME  •  MODULE 01</a:t>
            </a:r>
          </a:p>
        </p:txBody>
      </p:sp>
      <p:sp>
        <p:nvSpPr>
          <p:cNvPr id="13" name="footer-page">
            <a:extLst xmlns:a="http://schemas.openxmlformats.org/drawingml/2006/main">
              <a:ext uri="{FF2B5EF4-FFF2-40B4-BE49-F238E27FC236}">
                <a16:creationId xmlns:a16="http://schemas.microsoft.com/office/drawing/2014/main" id="{2733FD99-80D7-4EAD-93E1-CFB19697D9C6}"/>
              </a:ext>
            </a:extLst>
          </p:cNvPr>
          <p:cNvSpPr>
            <a:spLocks xmlns:a="http://schemas.openxmlformats.org/drawingml/2006/main" noGrp="1"/>
          </p:cNvSpPr>
          <p:nvPr/>
        </p:nvSpPr>
        <p:spPr>
          <a:xfrm xmlns:a="http://schemas.openxmlformats.org/drawingml/2006/main">
            <a:off x="11182350" y="6496050"/>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defRPr sz="900" b="1">
                <a:solidFill>
                  <a:srgbClr val="566662"/>
                </a:solidFill>
                <a:latin typeface="Aptos"/>
                <a:ea typeface="Aptos"/>
                <a:cs typeface="Aptos"/>
              </a:defRPr>
            </a:pPr>
            <a:r>
              <a:rPr sz="900" b="1">
                <a:solidFill>
                  <a:srgbClr val="566662"/>
                </a:solidFill>
                <a:latin typeface="Aptos"/>
                <a:ea typeface="Aptos"/>
                <a:cs typeface="Aptos"/>
              </a:rPr>
              <a:t>03</a:t>
            </a:r>
          </a:p>
        </p:txBody>
      </p:sp>
    </p:spTree>
    <p:extLst>
      <p:ext uri="{BB962C8B-B14F-4D97-AF65-F5344CB8AC3E}">
        <p14:creationId xmlns:p14="http://schemas.microsoft.com/office/powerpoint/2010/main" val="1868874895"/>
      </p:ext>
    </p:extLst>
  </p:cSld>
</p:sld>
</file>

<file path=ppt/slides/slide4.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4" name="top-rule">
            <a:extLst xmlns:a="http://schemas.openxmlformats.org/drawingml/2006/main">
              <a:ext uri="{FF2B5EF4-FFF2-40B4-BE49-F238E27FC236}">
                <a16:creationId xmlns:a16="http://schemas.microsoft.com/office/drawing/2014/main" id="{F20D7877-DDF2-42AB-BA63-417B0BEDAB02}"/>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BF4C5A"/>
          </a:solidFill>
          <a:ln xmlns:a="http://schemas.openxmlformats.org/drawingml/2006/main" w="0">
            <a:noFill/>
            <a:prstDash val="solid"/>
          </a:ln>
        </p:spPr>
      </p:sp>
      <p:sp>
        <p:nvSpPr>
          <p:cNvPr id="2" name="eyebrow">
            <a:extLst xmlns:a="http://schemas.openxmlformats.org/drawingml/2006/main">
              <a:ext uri="{FF2B5EF4-FFF2-40B4-BE49-F238E27FC236}">
                <a16:creationId xmlns:a16="http://schemas.microsoft.com/office/drawing/2014/main" id="{73E3894D-F7D8-461C-955B-6EADE23035FD}"/>
              </a:ext>
            </a:extLst>
          </p:cNvPr>
          <p:cNvSpPr>
            <a:spLocks xmlns:a="http://schemas.openxmlformats.org/drawingml/2006/main" noGrp="1"/>
          </p:cNvSpPr>
          <p:nvPr/>
        </p:nvSpPr>
        <p:spPr>
          <a:xfrm xmlns:a="http://schemas.openxmlformats.org/drawingml/2006/main">
            <a:off x="533400" y="285750"/>
            <a:ext cx="800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1050" b="1">
                <a:solidFill>
                  <a:srgbClr val="BF4C5A"/>
                </a:solidFill>
                <a:latin typeface="Aptos"/>
                <a:ea typeface="Aptos"/>
                <a:cs typeface="Aptos"/>
              </a:defRPr>
            </a:pPr>
            <a:r>
              <a:rPr sz="1050" b="1">
                <a:solidFill>
                  <a:srgbClr val="BF4C5A"/>
                </a:solidFill>
                <a:latin typeface="Aptos"/>
                <a:ea typeface="Aptos"/>
                <a:cs typeface="Aptos"/>
              </a:rPr>
              <a:t>2. FROM FIBRE TO YARN TO FABRIC</a:t>
            </a:r>
          </a:p>
        </p:txBody>
      </p:sp>
      <p:sp>
        <p:nvSpPr>
          <p:cNvPr id="3" name="title">
            <a:extLst xmlns:a="http://schemas.openxmlformats.org/drawingml/2006/main">
              <a:ext uri="{FF2B5EF4-FFF2-40B4-BE49-F238E27FC236}">
                <a16:creationId xmlns:a16="http://schemas.microsoft.com/office/drawing/2014/main" id="{FEB411AF-FFD8-4AB4-9175-AE3C22E3B1D8}"/>
              </a:ext>
            </a:extLst>
          </p:cNvPr>
          <p:cNvSpPr>
            <a:spLocks xmlns:a="http://schemas.openxmlformats.org/drawingml/2006/main" noGrp="1"/>
          </p:cNvSpPr>
          <p:nvPr/>
        </p:nvSpPr>
        <p:spPr>
          <a:xfrm xmlns:a="http://schemas.openxmlformats.org/drawingml/2006/main">
            <a:off x="533400" y="723900"/>
            <a:ext cx="11125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94000"/>
              </a:lnSpc>
              <a:buNone/>
              <a:defRPr sz="2850" b="1">
                <a:solidFill>
                  <a:srgbClr val="20302E"/>
                </a:solidFill>
                <a:latin typeface="Aptos Display"/>
                <a:ea typeface="Aptos Display"/>
                <a:cs typeface="Aptos Display"/>
              </a:defRPr>
            </a:pPr>
            <a:r>
              <a:rPr sz="2850" b="1">
                <a:solidFill>
                  <a:srgbClr val="20302E"/>
                </a:solidFill>
                <a:latin typeface="Aptos Display"/>
                <a:ea typeface="Aptos Display"/>
                <a:cs typeface="Aptos Display"/>
              </a:rPr>
              <a:t>Look closer</a:t>
            </a:r>
          </a:p>
        </p:txBody>
      </p:sp>
      <p:pic>
        <p:nvPicPr>
          <p:cNvPr id="17" name="Teaching visual - A close-up sequence shows loose textile fibres becoming twisted yarn and then a woven fabric surface."/>
          <p:cNvPicPr>
            <a:picLocks xmlns:a="http://schemas.openxmlformats.org/drawingml/2006/main" noChangeAspect="1"/>
          </p:cNvPicPr>
          <p:nvPr/>
        </p:nvPicPr>
        <p:blipFill>
          <a:blip xmlns:r="http://schemas.openxmlformats.org/officeDocument/2006/relationships" xmlns:a="http://schemas.openxmlformats.org/drawingml/2006/main" r:embed="R38a952dfeb734cdd"/>
          <a:stretch xmlns:a="http://schemas.openxmlformats.org/drawingml/2006/main"/>
        </p:blipFill>
        <p:spPr>
          <a:xfrm xmlns:a="http://schemas.openxmlformats.org/drawingml/2006/main">
            <a:off x="533400" y="1698625"/>
            <a:ext cx="5048250" cy="3365500"/>
          </a:xfrm>
          <a:prstGeom xmlns:a="http://schemas.openxmlformats.org/drawingml/2006/main" prst="roundRect">
            <a:avLst>
              <a:gd name="adj" fmla="val 3077"/>
            </a:avLst>
          </a:prstGeom>
        </p:spPr>
      </p:pic>
      <p:sp>
        <p:nvSpPr>
          <p:cNvPr id="5" name="theory">
            <a:extLst xmlns:a="http://schemas.openxmlformats.org/drawingml/2006/main">
              <a:ext uri="{FF2B5EF4-FFF2-40B4-BE49-F238E27FC236}">
                <a16:creationId xmlns:a16="http://schemas.microsoft.com/office/drawing/2014/main" id="{2DC10DD7-7103-48CB-80CF-BE72E726FC6C}"/>
              </a:ext>
            </a:extLst>
          </p:cNvPr>
          <p:cNvSpPr>
            <a:spLocks xmlns:a="http://schemas.openxmlformats.org/drawingml/2006/main" noGrp="1"/>
          </p:cNvSpPr>
          <p:nvPr/>
        </p:nvSpPr>
        <p:spPr>
          <a:xfrm xmlns:a="http://schemas.openxmlformats.org/drawingml/2006/main">
            <a:off x="6019800" y="1562100"/>
            <a:ext cx="56388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6000"/>
              </a:lnSpc>
              <a:buNone/>
              <a:defRPr sz="1500">
                <a:solidFill>
                  <a:srgbClr val="20302E"/>
                </a:solidFill>
                <a:latin typeface="Aptos"/>
                <a:ea typeface="Aptos"/>
                <a:cs typeface="Aptos"/>
              </a:defRPr>
            </a:pPr>
            <a:r>
              <a:rPr sz="1500">
                <a:solidFill>
                  <a:srgbClr val="20302E"/>
                </a:solidFill>
                <a:latin typeface="Aptos"/>
                <a:ea typeface="Aptos"/>
                <a:cs typeface="Aptos"/>
              </a:rPr>
              <a:t>A fabric's behaviour begins below the surface. Designers trace the material from fibres to yarns and fabric structures so that they can explain, test and compare rather than rely on appearance. Fibres are the small building units of textiles. Yarns are continuous strands made by grouping fibres or filaments.</a:t>
            </a:r>
          </a:p>
        </p:txBody>
      </p:sp>
      <p:sp>
        <p:nvSpPr>
          <p:cNvPr id="6" name="notice">
            <a:extLst xmlns:a="http://schemas.openxmlformats.org/drawingml/2006/main">
              <a:ext uri="{FF2B5EF4-FFF2-40B4-BE49-F238E27FC236}">
                <a16:creationId xmlns:a16="http://schemas.microsoft.com/office/drawing/2014/main" id="{A36C0D33-BDBC-463D-B042-528BF9F3CA34}"/>
              </a:ext>
            </a:extLst>
          </p:cNvPr>
          <p:cNvSpPr>
            <a:spLocks xmlns:a="http://schemas.openxmlformats.org/drawingml/2006/main" noGrp="1"/>
          </p:cNvSpPr>
          <p:nvPr/>
        </p:nvSpPr>
        <p:spPr>
          <a:xfrm xmlns:a="http://schemas.openxmlformats.org/drawingml/2006/main">
            <a:off x="6019800" y="4095750"/>
            <a:ext cx="5638800" cy="1085850"/>
          </a:xfrm>
          <a:prstGeom xmlns:a="http://schemas.openxmlformats.org/drawingml/2006/main" prst="roundRect">
            <a:avLst>
              <a:gd name="adj" fmla="val 10526"/>
            </a:avLst>
          </a:prstGeom>
          <a:solidFill xmlns:a="http://schemas.openxmlformats.org/drawingml/2006/main">
            <a:srgbClr val="EEF5F1"/>
          </a:solidFill>
          <a:ln xmlns:a="http://schemas.openxmlformats.org/drawingml/2006/main" w="9525">
            <a:solidFill>
              <a:srgbClr val="B9CEC7"/>
            </a:solidFill>
            <a:prstDash val="solid"/>
          </a:ln>
        </p:spPr>
      </p:sp>
      <p:sp>
        <p:nvSpPr>
          <p:cNvPr id="7" name="notice-label">
            <a:extLst xmlns:a="http://schemas.openxmlformats.org/drawingml/2006/main">
              <a:ext uri="{FF2B5EF4-FFF2-40B4-BE49-F238E27FC236}">
                <a16:creationId xmlns:a16="http://schemas.microsoft.com/office/drawing/2014/main" id="{8845D223-6DB9-4CE9-8F96-D8987D7E6585}"/>
              </a:ext>
            </a:extLst>
          </p:cNvPr>
          <p:cNvSpPr>
            <a:spLocks xmlns:a="http://schemas.openxmlformats.org/drawingml/2006/main" noGrp="1"/>
          </p:cNvSpPr>
          <p:nvPr/>
        </p:nvSpPr>
        <p:spPr>
          <a:xfrm xmlns:a="http://schemas.openxmlformats.org/drawingml/2006/main">
            <a:off x="6210300" y="424815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900" b="1">
                <a:solidFill>
                  <a:srgbClr val="BF4C5A"/>
                </a:solidFill>
                <a:latin typeface="Aptos"/>
                <a:ea typeface="Aptos"/>
                <a:cs typeface="Aptos"/>
              </a:defRPr>
            </a:pPr>
            <a:r>
              <a:rPr sz="900" b="1">
                <a:solidFill>
                  <a:srgbClr val="BF4C5A"/>
                </a:solidFill>
                <a:latin typeface="Aptos"/>
                <a:ea typeface="Aptos"/>
                <a:cs typeface="Aptos"/>
              </a:rPr>
              <a:t>LOOK AT THE VISUAL</a:t>
            </a:r>
          </a:p>
        </p:txBody>
      </p:sp>
      <p:sp>
        <p:nvSpPr>
          <p:cNvPr id="8" name="notice-text">
            <a:extLst xmlns:a="http://schemas.openxmlformats.org/drawingml/2006/main">
              <a:ext uri="{FF2B5EF4-FFF2-40B4-BE49-F238E27FC236}">
                <a16:creationId xmlns:a16="http://schemas.microsoft.com/office/drawing/2014/main" id="{2801441D-471E-40C7-946F-9F48CAF13311}"/>
              </a:ext>
            </a:extLst>
          </p:cNvPr>
          <p:cNvSpPr>
            <a:spLocks xmlns:a="http://schemas.openxmlformats.org/drawingml/2006/main" noGrp="1"/>
          </p:cNvSpPr>
          <p:nvPr/>
        </p:nvSpPr>
        <p:spPr>
          <a:xfrm xmlns:a="http://schemas.openxmlformats.org/drawingml/2006/main">
            <a:off x="6210300" y="4476750"/>
            <a:ext cx="525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b="1">
                <a:solidFill>
                  <a:srgbClr val="20302E"/>
                </a:solidFill>
                <a:latin typeface="Aptos"/>
                <a:ea typeface="Aptos"/>
                <a:cs typeface="Aptos"/>
              </a:defRPr>
            </a:pPr>
            <a:r>
              <a:rPr sz="1275" b="1">
                <a:solidFill>
                  <a:srgbClr val="20302E"/>
                </a:solidFill>
                <a:latin typeface="Aptos"/>
                <a:ea typeface="Aptos"/>
                <a:cs typeface="Aptos"/>
              </a:rPr>
              <a:t>Trace the three stages. When does the material become a continuous strand, and when does it become a surface?</a:t>
            </a:r>
          </a:p>
        </p:txBody>
      </p:sp>
      <p:sp>
        <p:nvSpPr>
          <p:cNvPr id="9" name="prompt-band">
            <a:extLst xmlns:a="http://schemas.openxmlformats.org/drawingml/2006/main">
              <a:ext uri="{FF2B5EF4-FFF2-40B4-BE49-F238E27FC236}">
                <a16:creationId xmlns:a16="http://schemas.microsoft.com/office/drawing/2014/main" id="{732DF2CD-E1F5-4634-8F38-3D597E23BA34}"/>
              </a:ext>
            </a:extLst>
          </p:cNvPr>
          <p:cNvSpPr>
            <a:spLocks xmlns:a="http://schemas.openxmlformats.org/drawingml/2006/main" noGrp="1"/>
          </p:cNvSpPr>
          <p:nvPr/>
        </p:nvSpPr>
        <p:spPr>
          <a:xfrm xmlns:a="http://schemas.openxmlformats.org/drawingml/2006/main">
            <a:off x="533400" y="5467350"/>
            <a:ext cx="11125200" cy="628650"/>
          </a:xfrm>
          <a:prstGeom xmlns:a="http://schemas.openxmlformats.org/drawingml/2006/main" prst="roundRect">
            <a:avLst>
              <a:gd name="adj" fmla="val 18182"/>
            </a:avLst>
          </a:prstGeom>
          <a:solidFill xmlns:a="http://schemas.openxmlformats.org/drawingml/2006/main">
            <a:srgbClr val="F7E2E6"/>
          </a:solidFill>
          <a:ln xmlns:a="http://schemas.openxmlformats.org/drawingml/2006/main" w="9525">
            <a:solidFill>
              <a:srgbClr val="EBC2C9"/>
            </a:solidFill>
            <a:prstDash val="solid"/>
          </a:ln>
        </p:spPr>
      </p:sp>
      <p:sp>
        <p:nvSpPr>
          <p:cNvPr id="10" name="prompt-label">
            <a:extLst xmlns:a="http://schemas.openxmlformats.org/drawingml/2006/main">
              <a:ext uri="{FF2B5EF4-FFF2-40B4-BE49-F238E27FC236}">
                <a16:creationId xmlns:a16="http://schemas.microsoft.com/office/drawing/2014/main" id="{696E5E50-BDDF-4DEA-BDF8-B651DDFE1501}"/>
              </a:ext>
            </a:extLst>
          </p:cNvPr>
          <p:cNvSpPr>
            <a:spLocks xmlns:a="http://schemas.openxmlformats.org/drawingml/2006/main" noGrp="1"/>
          </p:cNvSpPr>
          <p:nvPr/>
        </p:nvSpPr>
        <p:spPr>
          <a:xfrm xmlns:a="http://schemas.openxmlformats.org/drawingml/2006/main">
            <a:off x="723900" y="5600700"/>
            <a:ext cx="742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975" b="1">
                <a:solidFill>
                  <a:srgbClr val="BF4C5A"/>
                </a:solidFill>
                <a:latin typeface="Aptos"/>
                <a:ea typeface="Aptos"/>
                <a:cs typeface="Aptos"/>
              </a:defRPr>
            </a:pPr>
            <a:r>
              <a:rPr sz="975" b="1">
                <a:solidFill>
                  <a:srgbClr val="BF4C5A"/>
                </a:solidFill>
                <a:latin typeface="Aptos"/>
                <a:ea typeface="Aptos"/>
                <a:cs typeface="Aptos"/>
              </a:rPr>
              <a:t>APPLY</a:t>
            </a:r>
          </a:p>
        </p:txBody>
      </p:sp>
      <p:sp>
        <p:nvSpPr>
          <p:cNvPr id="11" name="prompt-text">
            <a:extLst xmlns:a="http://schemas.openxmlformats.org/drawingml/2006/main">
              <a:ext uri="{FF2B5EF4-FFF2-40B4-BE49-F238E27FC236}">
                <a16:creationId xmlns:a16="http://schemas.microsoft.com/office/drawing/2014/main" id="{23F53A8C-8841-4415-83C5-2363DD289C84}"/>
              </a:ext>
            </a:extLst>
          </p:cNvPr>
          <p:cNvSpPr>
            <a:spLocks xmlns:a="http://schemas.openxmlformats.org/drawingml/2006/main" noGrp="1"/>
          </p:cNvSpPr>
          <p:nvPr/>
        </p:nvSpPr>
        <p:spPr>
          <a:xfrm xmlns:a="http://schemas.openxmlformats.org/drawingml/2006/main">
            <a:off x="1466850" y="5581650"/>
            <a:ext cx="990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defRPr sz="1350" b="1">
                <a:solidFill>
                  <a:srgbClr val="20302E"/>
                </a:solidFill>
                <a:latin typeface="Aptos"/>
                <a:ea typeface="Aptos"/>
                <a:cs typeface="Aptos"/>
              </a:defRPr>
            </a:pPr>
            <a:r>
              <a:rPr sz="1350" b="1">
                <a:solidFill>
                  <a:srgbClr val="20302E"/>
                </a:solidFill>
                <a:latin typeface="Aptos"/>
                <a:ea typeface="Aptos"/>
                <a:cs typeface="Aptos"/>
              </a:rPr>
              <a:t>Use a magnifier or close camera view to classify and compare fabric structures.</a:t>
            </a:r>
          </a:p>
        </p:txBody>
      </p:sp>
      <p:sp>
        <p:nvSpPr>
          <p:cNvPr id="12" name="footer-module">
            <a:extLst xmlns:a="http://schemas.openxmlformats.org/drawingml/2006/main">
              <a:ext uri="{FF2B5EF4-FFF2-40B4-BE49-F238E27FC236}">
                <a16:creationId xmlns:a16="http://schemas.microsoft.com/office/drawing/2014/main" id="{409930B9-6F7B-4FB6-99CA-58B0FCA5366C}"/>
              </a:ext>
            </a:extLst>
          </p:cNvPr>
          <p:cNvSpPr>
            <a:spLocks xmlns:a="http://schemas.openxmlformats.org/drawingml/2006/main" noGrp="1"/>
          </p:cNvSpPr>
          <p:nvPr/>
        </p:nvSpPr>
        <p:spPr>
          <a:xfrm xmlns:a="http://schemas.openxmlformats.org/drawingml/2006/main">
            <a:off x="5334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900" b="1">
                <a:solidFill>
                  <a:srgbClr val="566662"/>
                </a:solidFill>
                <a:latin typeface="Aptos"/>
                <a:ea typeface="Aptos"/>
                <a:cs typeface="Aptos"/>
              </a:defRPr>
            </a:pPr>
            <a:r>
              <a:rPr sz="900" b="1">
                <a:solidFill>
                  <a:srgbClr val="566662"/>
                </a:solidFill>
                <a:latin typeface="Aptos"/>
                <a:ea typeface="Aptos"/>
                <a:cs typeface="Aptos"/>
              </a:rPr>
              <a:t>SEW AWESOME  •  MODULE 01</a:t>
            </a:r>
          </a:p>
        </p:txBody>
      </p:sp>
      <p:sp>
        <p:nvSpPr>
          <p:cNvPr id="13" name="footer-page">
            <a:extLst xmlns:a="http://schemas.openxmlformats.org/drawingml/2006/main">
              <a:ext uri="{FF2B5EF4-FFF2-40B4-BE49-F238E27FC236}">
                <a16:creationId xmlns:a16="http://schemas.microsoft.com/office/drawing/2014/main" id="{1BB98E2B-152B-42E2-A4A5-F2F6433983EF}"/>
              </a:ext>
            </a:extLst>
          </p:cNvPr>
          <p:cNvSpPr>
            <a:spLocks xmlns:a="http://schemas.openxmlformats.org/drawingml/2006/main" noGrp="1"/>
          </p:cNvSpPr>
          <p:nvPr/>
        </p:nvSpPr>
        <p:spPr>
          <a:xfrm xmlns:a="http://schemas.openxmlformats.org/drawingml/2006/main">
            <a:off x="11182350" y="6496050"/>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defRPr sz="900" b="1">
                <a:solidFill>
                  <a:srgbClr val="566662"/>
                </a:solidFill>
                <a:latin typeface="Aptos"/>
                <a:ea typeface="Aptos"/>
                <a:cs typeface="Aptos"/>
              </a:defRPr>
            </a:pPr>
            <a:r>
              <a:rPr sz="900" b="1">
                <a:solidFill>
                  <a:srgbClr val="566662"/>
                </a:solidFill>
                <a:latin typeface="Aptos"/>
                <a:ea typeface="Aptos"/>
                <a:cs typeface="Aptos"/>
              </a:rPr>
              <a:t>04</a:t>
            </a:r>
          </a:p>
        </p:txBody>
      </p:sp>
    </p:spTree>
    <p:extLst>
      <p:ext uri="{BB962C8B-B14F-4D97-AF65-F5344CB8AC3E}">
        <p14:creationId xmlns:p14="http://schemas.microsoft.com/office/powerpoint/2010/main" val="714712241"/>
      </p:ext>
    </p:extLst>
  </p:cSld>
</p:sld>
</file>

<file path=ppt/slides/slide5.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14" name="top-rule">
            <a:extLst xmlns:a="http://schemas.openxmlformats.org/drawingml/2006/main">
              <a:ext uri="{FF2B5EF4-FFF2-40B4-BE49-F238E27FC236}">
                <a16:creationId xmlns:a16="http://schemas.microsoft.com/office/drawing/2014/main" id="{DFC2EC40-1D16-420D-BE43-198A17622964}"/>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146B66"/>
          </a:solidFill>
          <a:ln xmlns:a="http://schemas.openxmlformats.org/drawingml/2006/main" w="0">
            <a:noFill/>
            <a:prstDash val="solid"/>
          </a:ln>
        </p:spPr>
      </p:sp>
      <p:sp>
        <p:nvSpPr>
          <p:cNvPr id="2" name="eyebrow">
            <a:extLst xmlns:a="http://schemas.openxmlformats.org/drawingml/2006/main">
              <a:ext uri="{FF2B5EF4-FFF2-40B4-BE49-F238E27FC236}">
                <a16:creationId xmlns:a16="http://schemas.microsoft.com/office/drawing/2014/main" id="{5510F20D-CD77-4742-99C9-AEF78DD80D04}"/>
              </a:ext>
            </a:extLst>
          </p:cNvPr>
          <p:cNvSpPr>
            <a:spLocks xmlns:a="http://schemas.openxmlformats.org/drawingml/2006/main" noGrp="1"/>
          </p:cNvSpPr>
          <p:nvPr/>
        </p:nvSpPr>
        <p:spPr>
          <a:xfrm xmlns:a="http://schemas.openxmlformats.org/drawingml/2006/main">
            <a:off x="533400" y="285750"/>
            <a:ext cx="800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1050" b="1">
                <a:solidFill>
                  <a:srgbClr val="146B66"/>
                </a:solidFill>
                <a:latin typeface="Aptos"/>
                <a:ea typeface="Aptos"/>
                <a:cs typeface="Aptos"/>
              </a:defRPr>
            </a:pPr>
            <a:r>
              <a:rPr sz="1050" b="1">
                <a:solidFill>
                  <a:srgbClr val="146B66"/>
                </a:solidFill>
                <a:latin typeface="Aptos"/>
                <a:ea typeface="Aptos"/>
                <a:cs typeface="Aptos"/>
              </a:rPr>
              <a:t>3. THE SEW AWESOME DESIGN CHALLENGE</a:t>
            </a:r>
          </a:p>
        </p:txBody>
      </p:sp>
      <p:sp>
        <p:nvSpPr>
          <p:cNvPr id="3" name="title">
            <a:extLst xmlns:a="http://schemas.openxmlformats.org/drawingml/2006/main">
              <a:ext uri="{FF2B5EF4-FFF2-40B4-BE49-F238E27FC236}">
                <a16:creationId xmlns:a16="http://schemas.microsoft.com/office/drawing/2014/main" id="{406E1EB1-262D-46C8-8A63-9B858D671272}"/>
              </a:ext>
            </a:extLst>
          </p:cNvPr>
          <p:cNvSpPr>
            <a:spLocks xmlns:a="http://schemas.openxmlformats.org/drawingml/2006/main" noGrp="1"/>
          </p:cNvSpPr>
          <p:nvPr/>
        </p:nvSpPr>
        <p:spPr>
          <a:xfrm xmlns:a="http://schemas.openxmlformats.org/drawingml/2006/main">
            <a:off x="533400" y="723900"/>
            <a:ext cx="111252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94000"/>
              </a:lnSpc>
              <a:buNone/>
              <a:defRPr sz="2850" b="1">
                <a:solidFill>
                  <a:srgbClr val="20302E"/>
                </a:solidFill>
                <a:latin typeface="Aptos Display"/>
                <a:ea typeface="Aptos Display"/>
                <a:cs typeface="Aptos Display"/>
              </a:defRPr>
            </a:pPr>
            <a:r>
              <a:rPr sz="2850" b="1">
                <a:solidFill>
                  <a:srgbClr val="20302E"/>
                </a:solidFill>
                <a:latin typeface="Aptos Display"/>
                <a:ea typeface="Aptos Display"/>
                <a:cs typeface="Aptos Display"/>
              </a:rPr>
              <a:t>Purpose before features</a:t>
            </a:r>
          </a:p>
        </p:txBody>
      </p:sp>
      <p:pic>
        <p:nvPicPr>
          <p:cNvPr id="17" name="Teaching visual - A design workspace connects discarded plastic bags, blank planning evidence, three carry-item concepts and a fabric prototype."/>
          <p:cNvPicPr>
            <a:picLocks xmlns:a="http://schemas.openxmlformats.org/drawingml/2006/main" noChangeAspect="1"/>
          </p:cNvPicPr>
          <p:nvPr/>
        </p:nvPicPr>
        <p:blipFill>
          <a:blip xmlns:r="http://schemas.openxmlformats.org/officeDocument/2006/relationships" xmlns:a="http://schemas.openxmlformats.org/drawingml/2006/main" r:embed="R2a6b710a315f4430"/>
          <a:stretch xmlns:a="http://schemas.openxmlformats.org/drawingml/2006/main"/>
        </p:blipFill>
        <p:spPr>
          <a:xfrm xmlns:a="http://schemas.openxmlformats.org/drawingml/2006/main">
            <a:off x="6610350" y="1698625"/>
            <a:ext cx="5048250" cy="3365500"/>
          </a:xfrm>
          <a:prstGeom xmlns:a="http://schemas.openxmlformats.org/drawingml/2006/main" prst="roundRect">
            <a:avLst>
              <a:gd name="adj" fmla="val 3077"/>
            </a:avLst>
          </a:prstGeom>
        </p:spPr>
      </p:pic>
      <p:sp>
        <p:nvSpPr>
          <p:cNvPr id="5" name="theory">
            <a:extLst xmlns:a="http://schemas.openxmlformats.org/drawingml/2006/main">
              <a:ext uri="{FF2B5EF4-FFF2-40B4-BE49-F238E27FC236}">
                <a16:creationId xmlns:a16="http://schemas.microsoft.com/office/drawing/2014/main" id="{2704D4BC-634A-4868-A907-4C76A3E6D5DC}"/>
              </a:ext>
            </a:extLst>
          </p:cNvPr>
          <p:cNvSpPr>
            <a:spLocks xmlns:a="http://schemas.openxmlformats.org/drawingml/2006/main" noGrp="1"/>
          </p:cNvSpPr>
          <p:nvPr/>
        </p:nvSpPr>
        <p:spPr>
          <a:xfrm xmlns:a="http://schemas.openxmlformats.org/drawingml/2006/main">
            <a:off x="533400" y="1562100"/>
            <a:ext cx="56388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106000"/>
              </a:lnSpc>
              <a:buNone/>
              <a:defRPr sz="1500">
                <a:solidFill>
                  <a:srgbClr val="20302E"/>
                </a:solidFill>
                <a:latin typeface="Aptos"/>
                <a:ea typeface="Aptos"/>
                <a:cs typeface="Aptos"/>
              </a:defRPr>
            </a:pPr>
            <a:r>
              <a:rPr sz="1500">
                <a:solidFill>
                  <a:srgbClr val="20302E"/>
                </a:solidFill>
                <a:latin typeface="Aptos"/>
                <a:ea typeface="Aptos"/>
                <a:cs typeface="Aptos"/>
              </a:rPr>
              <a:t>The Sew Awesome challenge is to design and produce a reusable personal carry item that responds to single-use plastics or another environmental problem. The challenge is not solved by making any bag; the solution needs a clear user, useful function and evidence that it can support repeated use. A design situation explains the wider problem and why a response is needed. A designer identifies who will use the carry item, what it will hold, where it will be used and which problems matter most.</a:t>
            </a:r>
          </a:p>
        </p:txBody>
      </p:sp>
      <p:sp>
        <p:nvSpPr>
          <p:cNvPr id="6" name="notice">
            <a:extLst xmlns:a="http://schemas.openxmlformats.org/drawingml/2006/main">
              <a:ext uri="{FF2B5EF4-FFF2-40B4-BE49-F238E27FC236}">
                <a16:creationId xmlns:a16="http://schemas.microsoft.com/office/drawing/2014/main" id="{BF81F91E-BCEC-4FCE-AB93-02C62FAB3F43}"/>
              </a:ext>
            </a:extLst>
          </p:cNvPr>
          <p:cNvSpPr>
            <a:spLocks xmlns:a="http://schemas.openxmlformats.org/drawingml/2006/main" noGrp="1"/>
          </p:cNvSpPr>
          <p:nvPr/>
        </p:nvSpPr>
        <p:spPr>
          <a:xfrm xmlns:a="http://schemas.openxmlformats.org/drawingml/2006/main">
            <a:off x="533400" y="4095750"/>
            <a:ext cx="5638800" cy="1085850"/>
          </a:xfrm>
          <a:prstGeom xmlns:a="http://schemas.openxmlformats.org/drawingml/2006/main" prst="roundRect">
            <a:avLst>
              <a:gd name="adj" fmla="val 10526"/>
            </a:avLst>
          </a:prstGeom>
          <a:solidFill xmlns:a="http://schemas.openxmlformats.org/drawingml/2006/main">
            <a:srgbClr val="EEF5F1"/>
          </a:solidFill>
          <a:ln xmlns:a="http://schemas.openxmlformats.org/drawingml/2006/main" w="9525">
            <a:solidFill>
              <a:srgbClr val="B9CEC7"/>
            </a:solidFill>
            <a:prstDash val="solid"/>
          </a:ln>
        </p:spPr>
      </p:sp>
      <p:sp>
        <p:nvSpPr>
          <p:cNvPr id="7" name="notice-label">
            <a:extLst xmlns:a="http://schemas.openxmlformats.org/drawingml/2006/main">
              <a:ext uri="{FF2B5EF4-FFF2-40B4-BE49-F238E27FC236}">
                <a16:creationId xmlns:a16="http://schemas.microsoft.com/office/drawing/2014/main" id="{8610ED41-AE3A-4267-BDB0-73CAC5B9468B}"/>
              </a:ext>
            </a:extLst>
          </p:cNvPr>
          <p:cNvSpPr>
            <a:spLocks xmlns:a="http://schemas.openxmlformats.org/drawingml/2006/main" noGrp="1"/>
          </p:cNvSpPr>
          <p:nvPr/>
        </p:nvSpPr>
        <p:spPr>
          <a:xfrm xmlns:a="http://schemas.openxmlformats.org/drawingml/2006/main">
            <a:off x="723900" y="4248150"/>
            <a:ext cx="171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900" b="1">
                <a:solidFill>
                  <a:srgbClr val="BF4C5A"/>
                </a:solidFill>
                <a:latin typeface="Aptos"/>
                <a:ea typeface="Aptos"/>
                <a:cs typeface="Aptos"/>
              </a:defRPr>
            </a:pPr>
            <a:r>
              <a:rPr sz="900" b="1">
                <a:solidFill>
                  <a:srgbClr val="BF4C5A"/>
                </a:solidFill>
                <a:latin typeface="Aptos"/>
                <a:ea typeface="Aptos"/>
                <a:cs typeface="Aptos"/>
              </a:rPr>
              <a:t>LOOK AT THE VISUAL</a:t>
            </a:r>
          </a:p>
        </p:txBody>
      </p:sp>
      <p:sp>
        <p:nvSpPr>
          <p:cNvPr id="8" name="notice-text">
            <a:extLst xmlns:a="http://schemas.openxmlformats.org/drawingml/2006/main">
              <a:ext uri="{FF2B5EF4-FFF2-40B4-BE49-F238E27FC236}">
                <a16:creationId xmlns:a16="http://schemas.microsoft.com/office/drawing/2014/main" id="{D929EAD3-5E57-4D4A-9212-3E29BAEC0262}"/>
              </a:ext>
            </a:extLst>
          </p:cNvPr>
          <p:cNvSpPr>
            <a:spLocks xmlns:a="http://schemas.openxmlformats.org/drawingml/2006/main" noGrp="1"/>
          </p:cNvSpPr>
          <p:nvPr/>
        </p:nvSpPr>
        <p:spPr>
          <a:xfrm xmlns:a="http://schemas.openxmlformats.org/drawingml/2006/main">
            <a:off x="723900" y="4476750"/>
            <a:ext cx="5257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275" b="1">
                <a:solidFill>
                  <a:srgbClr val="20302E"/>
                </a:solidFill>
                <a:latin typeface="Aptos"/>
                <a:ea typeface="Aptos"/>
                <a:cs typeface="Aptos"/>
              </a:defRPr>
            </a:pPr>
            <a:r>
              <a:rPr sz="1275" b="1">
                <a:solidFill>
                  <a:srgbClr val="20302E"/>
                </a:solidFill>
                <a:latin typeface="Aptos"/>
                <a:ea typeface="Aptos"/>
                <a:cs typeface="Aptos"/>
              </a:rPr>
              <a:t>Identify the problem evidence, planning records, alternative concepts and prototype. Which observable criterion would make the proposed solution testable?</a:t>
            </a:r>
          </a:p>
        </p:txBody>
      </p:sp>
      <p:sp>
        <p:nvSpPr>
          <p:cNvPr id="9" name="prompt-band">
            <a:extLst xmlns:a="http://schemas.openxmlformats.org/drawingml/2006/main">
              <a:ext uri="{FF2B5EF4-FFF2-40B4-BE49-F238E27FC236}">
                <a16:creationId xmlns:a16="http://schemas.microsoft.com/office/drawing/2014/main" id="{18778C25-F01C-4797-8B12-0EB66DC5810B}"/>
              </a:ext>
            </a:extLst>
          </p:cNvPr>
          <p:cNvSpPr>
            <a:spLocks xmlns:a="http://schemas.openxmlformats.org/drawingml/2006/main" noGrp="1"/>
          </p:cNvSpPr>
          <p:nvPr/>
        </p:nvSpPr>
        <p:spPr>
          <a:xfrm xmlns:a="http://schemas.openxmlformats.org/drawingml/2006/main">
            <a:off x="533400" y="5467350"/>
            <a:ext cx="11125200" cy="628650"/>
          </a:xfrm>
          <a:prstGeom xmlns:a="http://schemas.openxmlformats.org/drawingml/2006/main" prst="roundRect">
            <a:avLst>
              <a:gd name="adj" fmla="val 18182"/>
            </a:avLst>
          </a:prstGeom>
          <a:solidFill xmlns:a="http://schemas.openxmlformats.org/drawingml/2006/main">
            <a:srgbClr val="F7E2E6"/>
          </a:solidFill>
          <a:ln xmlns:a="http://schemas.openxmlformats.org/drawingml/2006/main" w="9525">
            <a:solidFill>
              <a:srgbClr val="EBC2C9"/>
            </a:solidFill>
            <a:prstDash val="solid"/>
          </a:ln>
        </p:spPr>
      </p:sp>
      <p:sp>
        <p:nvSpPr>
          <p:cNvPr id="10" name="prompt-label">
            <a:extLst xmlns:a="http://schemas.openxmlformats.org/drawingml/2006/main">
              <a:ext uri="{FF2B5EF4-FFF2-40B4-BE49-F238E27FC236}">
                <a16:creationId xmlns:a16="http://schemas.microsoft.com/office/drawing/2014/main" id="{0CC614CC-60ED-437A-A9EE-A90DD25DFF1C}"/>
              </a:ext>
            </a:extLst>
          </p:cNvPr>
          <p:cNvSpPr>
            <a:spLocks xmlns:a="http://schemas.openxmlformats.org/drawingml/2006/main" noGrp="1"/>
          </p:cNvSpPr>
          <p:nvPr/>
        </p:nvSpPr>
        <p:spPr>
          <a:xfrm xmlns:a="http://schemas.openxmlformats.org/drawingml/2006/main">
            <a:off x="723900" y="5600700"/>
            <a:ext cx="742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975" b="1">
                <a:solidFill>
                  <a:srgbClr val="BF4C5A"/>
                </a:solidFill>
                <a:latin typeface="Aptos"/>
                <a:ea typeface="Aptos"/>
                <a:cs typeface="Aptos"/>
              </a:defRPr>
            </a:pPr>
            <a:r>
              <a:rPr sz="975" b="1">
                <a:solidFill>
                  <a:srgbClr val="BF4C5A"/>
                </a:solidFill>
                <a:latin typeface="Aptos"/>
                <a:ea typeface="Aptos"/>
                <a:cs typeface="Aptos"/>
              </a:rPr>
              <a:t>APPLY</a:t>
            </a:r>
          </a:p>
        </p:txBody>
      </p:sp>
      <p:sp>
        <p:nvSpPr>
          <p:cNvPr id="11" name="prompt-text">
            <a:extLst xmlns:a="http://schemas.openxmlformats.org/drawingml/2006/main">
              <a:ext uri="{FF2B5EF4-FFF2-40B4-BE49-F238E27FC236}">
                <a16:creationId xmlns:a16="http://schemas.microsoft.com/office/drawing/2014/main" id="{25F35B23-E957-47C1-B377-F5EED597C553}"/>
              </a:ext>
            </a:extLst>
          </p:cNvPr>
          <p:cNvSpPr>
            <a:spLocks xmlns:a="http://schemas.openxmlformats.org/drawingml/2006/main" noGrp="1"/>
          </p:cNvSpPr>
          <p:nvPr/>
        </p:nvSpPr>
        <p:spPr>
          <a:xfrm xmlns:a="http://schemas.openxmlformats.org/drawingml/2006/main">
            <a:off x="1466850" y="5581650"/>
            <a:ext cx="990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defRPr sz="1350" b="1">
                <a:solidFill>
                  <a:srgbClr val="20302E"/>
                </a:solidFill>
                <a:latin typeface="Aptos"/>
                <a:ea typeface="Aptos"/>
                <a:cs typeface="Aptos"/>
              </a:defRPr>
            </a:pPr>
            <a:r>
              <a:rPr sz="1350" b="1">
                <a:solidFill>
                  <a:srgbClr val="20302E"/>
                </a:solidFill>
                <a:latin typeface="Aptos"/>
                <a:ea typeface="Aptos"/>
                <a:cs typeface="Aptos"/>
              </a:rPr>
              <a:t>Sort design statements into situation, brief, criterion, constraint or evidence, then defend two choices.</a:t>
            </a:r>
          </a:p>
        </p:txBody>
      </p:sp>
      <p:sp>
        <p:nvSpPr>
          <p:cNvPr id="12" name="footer-module">
            <a:extLst xmlns:a="http://schemas.openxmlformats.org/drawingml/2006/main">
              <a:ext uri="{FF2B5EF4-FFF2-40B4-BE49-F238E27FC236}">
                <a16:creationId xmlns:a16="http://schemas.microsoft.com/office/drawing/2014/main" id="{363221E6-7E0E-4610-90E3-824291422719}"/>
              </a:ext>
            </a:extLst>
          </p:cNvPr>
          <p:cNvSpPr>
            <a:spLocks xmlns:a="http://schemas.openxmlformats.org/drawingml/2006/main" noGrp="1"/>
          </p:cNvSpPr>
          <p:nvPr/>
        </p:nvSpPr>
        <p:spPr>
          <a:xfrm xmlns:a="http://schemas.openxmlformats.org/drawingml/2006/main">
            <a:off x="5334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900" b="1">
                <a:solidFill>
                  <a:srgbClr val="566662"/>
                </a:solidFill>
                <a:latin typeface="Aptos"/>
                <a:ea typeface="Aptos"/>
                <a:cs typeface="Aptos"/>
              </a:defRPr>
            </a:pPr>
            <a:r>
              <a:rPr sz="900" b="1">
                <a:solidFill>
                  <a:srgbClr val="566662"/>
                </a:solidFill>
                <a:latin typeface="Aptos"/>
                <a:ea typeface="Aptos"/>
                <a:cs typeface="Aptos"/>
              </a:rPr>
              <a:t>SEW AWESOME  •  MODULE 01</a:t>
            </a:r>
          </a:p>
        </p:txBody>
      </p:sp>
      <p:sp>
        <p:nvSpPr>
          <p:cNvPr id="13" name="footer-page">
            <a:extLst xmlns:a="http://schemas.openxmlformats.org/drawingml/2006/main">
              <a:ext uri="{FF2B5EF4-FFF2-40B4-BE49-F238E27FC236}">
                <a16:creationId xmlns:a16="http://schemas.microsoft.com/office/drawing/2014/main" id="{E5281E37-D3DF-4B4D-BABB-7D6F9BDDC5D0}"/>
              </a:ext>
            </a:extLst>
          </p:cNvPr>
          <p:cNvSpPr>
            <a:spLocks xmlns:a="http://schemas.openxmlformats.org/drawingml/2006/main" noGrp="1"/>
          </p:cNvSpPr>
          <p:nvPr/>
        </p:nvSpPr>
        <p:spPr>
          <a:xfrm xmlns:a="http://schemas.openxmlformats.org/drawingml/2006/main">
            <a:off x="11182350" y="6496050"/>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defRPr sz="900" b="1">
                <a:solidFill>
                  <a:srgbClr val="566662"/>
                </a:solidFill>
                <a:latin typeface="Aptos"/>
                <a:ea typeface="Aptos"/>
                <a:cs typeface="Aptos"/>
              </a:defRPr>
            </a:pPr>
            <a:r>
              <a:rPr sz="900" b="1">
                <a:solidFill>
                  <a:srgbClr val="566662"/>
                </a:solidFill>
                <a:latin typeface="Aptos"/>
                <a:ea typeface="Aptos"/>
                <a:cs typeface="Aptos"/>
              </a:rPr>
              <a:t>05</a:t>
            </a:r>
          </a:p>
        </p:txBody>
      </p:sp>
    </p:spTree>
    <p:extLst>
      <p:ext uri="{BB962C8B-B14F-4D97-AF65-F5344CB8AC3E}">
        <p14:creationId xmlns:p14="http://schemas.microsoft.com/office/powerpoint/2010/main" val="1235069464"/>
      </p:ext>
    </p:extLst>
  </p:cSld>
</p:sld>
</file>

<file path=ppt/slides/slide6.xml><?xml version="1.0" encoding="utf-8"?>
<p:sld xmlns:p="http://schemas.openxmlformats.org/presentationml/2006/main">
  <p:cSld>
    <p:bg>
      <p:bgPr>
        <a:solidFill xmlns:a="http://schemas.openxmlformats.org/drawingml/2006/main">
          <a:srgbClr val="0C4E4A"/>
        </a:solidFill>
      </p:bgPr>
    </p:bg>
    <p:spTree>
      <p:nvGrpSpPr>
        <p:cNvPr id="1" name=""/>
        <p:cNvGrpSpPr/>
        <p:nvPr/>
      </p:nvGrpSpPr>
      <p:grpSpPr>
        <a:xfrm xmlns:a="http://schemas.openxmlformats.org/drawingml/2006/main"/>
      </p:grpSpPr>
      <p:sp>
        <p:nvSpPr>
          <p:cNvPr id="19" name="top-rule">
            <a:extLst xmlns:a="http://schemas.openxmlformats.org/drawingml/2006/main">
              <a:ext uri="{FF2B5EF4-FFF2-40B4-BE49-F238E27FC236}">
                <a16:creationId xmlns:a16="http://schemas.microsoft.com/office/drawing/2014/main" id="{8F5C7D4F-379F-463D-9FB3-6DAE26A57C4E}"/>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D49A34"/>
          </a:solidFill>
          <a:ln xmlns:a="http://schemas.openxmlformats.org/drawingml/2006/main" w="0">
            <a:noFill/>
            <a:prstDash val="solid"/>
          </a:ln>
        </p:spPr>
      </p:sp>
      <p:sp>
        <p:nvSpPr>
          <p:cNvPr id="2" name="eyebrow">
            <a:extLst xmlns:a="http://schemas.openxmlformats.org/drawingml/2006/main">
              <a:ext uri="{FF2B5EF4-FFF2-40B4-BE49-F238E27FC236}">
                <a16:creationId xmlns:a16="http://schemas.microsoft.com/office/drawing/2014/main" id="{FF242036-1603-4064-96A7-6F2741EA2C45}"/>
              </a:ext>
            </a:extLst>
          </p:cNvPr>
          <p:cNvSpPr>
            <a:spLocks xmlns:a="http://schemas.openxmlformats.org/drawingml/2006/main" noGrp="1"/>
          </p:cNvSpPr>
          <p:nvPr/>
        </p:nvSpPr>
        <p:spPr>
          <a:xfrm xmlns:a="http://schemas.openxmlformats.org/drawingml/2006/main">
            <a:off x="533400" y="3048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1050" b="1">
                <a:solidFill>
                  <a:srgbClr val="FFE4A4"/>
                </a:solidFill>
                <a:latin typeface="Aptos"/>
                <a:ea typeface="Aptos"/>
                <a:cs typeface="Aptos"/>
              </a:defRPr>
            </a:pPr>
            <a:r>
              <a:rPr sz="1050" b="1">
                <a:solidFill>
                  <a:srgbClr val="FFE4A4"/>
                </a:solidFill>
                <a:latin typeface="Aptos"/>
                <a:ea typeface="Aptos"/>
                <a:cs typeface="Aptos"/>
              </a:rPr>
              <a:t>CHECK YOUR UNDERSTANDING</a:t>
            </a:r>
          </a:p>
        </p:txBody>
      </p:sp>
      <p:sp>
        <p:nvSpPr>
          <p:cNvPr id="3" name="title">
            <a:extLst xmlns:a="http://schemas.openxmlformats.org/drawingml/2006/main">
              <a:ext uri="{FF2B5EF4-FFF2-40B4-BE49-F238E27FC236}">
                <a16:creationId xmlns:a16="http://schemas.microsoft.com/office/drawing/2014/main" id="{0F70917D-0505-4DB6-9741-F20D194EF5C1}"/>
              </a:ext>
            </a:extLst>
          </p:cNvPr>
          <p:cNvSpPr>
            <a:spLocks xmlns:a="http://schemas.openxmlformats.org/drawingml/2006/main" noGrp="1"/>
          </p:cNvSpPr>
          <p:nvPr/>
        </p:nvSpPr>
        <p:spPr>
          <a:xfrm xmlns:a="http://schemas.openxmlformats.org/drawingml/2006/main">
            <a:off x="533400" y="800100"/>
            <a:ext cx="7620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94000"/>
              </a:lnSpc>
              <a:buNone/>
              <a:defRPr sz="3150" b="1">
                <a:solidFill>
                  <a:srgbClr val="FFFFFF"/>
                </a:solidFill>
                <a:latin typeface="Aptos Display"/>
                <a:ea typeface="Aptos Display"/>
                <a:cs typeface="Aptos Display"/>
              </a:defRPr>
            </a:pPr>
            <a:r>
              <a:rPr sz="3150" b="1">
                <a:solidFill>
                  <a:srgbClr val="FFFFFF"/>
                </a:solidFill>
                <a:latin typeface="Aptos Display"/>
                <a:ea typeface="Aptos Display"/>
                <a:cs typeface="Aptos Display"/>
              </a:rPr>
              <a:t>Stop. Think. Explain.</a:t>
            </a:r>
          </a:p>
        </p:txBody>
      </p:sp>
      <p:sp>
        <p:nvSpPr>
          <p:cNvPr id="4" name="instruction">
            <a:extLst xmlns:a="http://schemas.openxmlformats.org/drawingml/2006/main">
              <a:ext uri="{FF2B5EF4-FFF2-40B4-BE49-F238E27FC236}">
                <a16:creationId xmlns:a16="http://schemas.microsoft.com/office/drawing/2014/main" id="{98198F97-EA7A-40D2-8AF9-84DA1BD68B1F}"/>
              </a:ext>
            </a:extLst>
          </p:cNvPr>
          <p:cNvSpPr>
            <a:spLocks xmlns:a="http://schemas.openxmlformats.org/drawingml/2006/main" noGrp="1"/>
          </p:cNvSpPr>
          <p:nvPr/>
        </p:nvSpPr>
        <p:spPr>
          <a:xfrm xmlns:a="http://schemas.openxmlformats.org/drawingml/2006/main">
            <a:off x="533400" y="1428750"/>
            <a:ext cx="7239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425">
                <a:solidFill>
                  <a:srgbClr val="C8D6D2"/>
                </a:solidFill>
                <a:latin typeface="Aptos"/>
                <a:ea typeface="Aptos"/>
                <a:cs typeface="Aptos"/>
              </a:defRPr>
            </a:pPr>
            <a:r>
              <a:rPr sz="1425">
                <a:solidFill>
                  <a:srgbClr val="C8D6D2"/>
                </a:solidFill>
                <a:latin typeface="Aptos"/>
                <a:ea typeface="Aptos"/>
                <a:cs typeface="Aptos"/>
              </a:rPr>
              <a:t>Answer silently first. Then justify one answer with a partner.</a:t>
            </a:r>
          </a:p>
        </p:txBody>
      </p:sp>
      <p:sp>
        <p:nvSpPr>
          <p:cNvPr id="5" name="check-number-1">
            <a:extLst xmlns:a="http://schemas.openxmlformats.org/drawingml/2006/main">
              <a:ext uri="{FF2B5EF4-FFF2-40B4-BE49-F238E27FC236}">
                <a16:creationId xmlns:a16="http://schemas.microsoft.com/office/drawing/2014/main" id="{2C3D7F1E-4FD3-46AE-B7D0-6FBE1313DE97}"/>
              </a:ext>
            </a:extLst>
          </p:cNvPr>
          <p:cNvSpPr>
            <a:spLocks xmlns:a="http://schemas.openxmlformats.org/drawingml/2006/main" noGrp="1"/>
          </p:cNvSpPr>
          <p:nvPr/>
        </p:nvSpPr>
        <p:spPr>
          <a:xfrm xmlns:a="http://schemas.openxmlformats.org/drawingml/2006/main">
            <a:off x="685800" y="2238375"/>
            <a:ext cx="419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1500" b="1">
                <a:solidFill>
                  <a:srgbClr val="FFE4A4"/>
                </a:solidFill>
                <a:latin typeface="Aptos"/>
                <a:ea typeface="Aptos"/>
                <a:cs typeface="Aptos"/>
              </a:defRPr>
            </a:pPr>
            <a:r>
              <a:rPr sz="1500" b="1">
                <a:solidFill>
                  <a:srgbClr val="FFE4A4"/>
                </a:solidFill>
                <a:latin typeface="Aptos"/>
                <a:ea typeface="Aptos"/>
                <a:cs typeface="Aptos"/>
              </a:rPr>
              <a:t>1</a:t>
            </a:r>
          </a:p>
        </p:txBody>
      </p:sp>
      <p:sp>
        <p:nvSpPr>
          <p:cNvPr id="6" name="check-line-1">
            <a:extLst xmlns:a="http://schemas.openxmlformats.org/drawingml/2006/main">
              <a:ext uri="{FF2B5EF4-FFF2-40B4-BE49-F238E27FC236}">
                <a16:creationId xmlns:a16="http://schemas.microsoft.com/office/drawing/2014/main" id="{AC35C5E9-F034-423F-B141-96CDED1E5115}"/>
              </a:ext>
            </a:extLst>
          </p:cNvPr>
          <p:cNvSpPr>
            <a:spLocks xmlns:a="http://schemas.openxmlformats.org/drawingml/2006/main" noGrp="1"/>
          </p:cNvSpPr>
          <p:nvPr/>
        </p:nvSpPr>
        <p:spPr>
          <a:xfrm xmlns:a="http://schemas.openxmlformats.org/drawingml/2006/main">
            <a:off x="1257300" y="2438400"/>
            <a:ext cx="9906000" cy="0"/>
          </a:xfrm>
          <a:prstGeom xmlns:a="http://schemas.openxmlformats.org/drawingml/2006/main" prst="line">
            <a:avLst/>
          </a:prstGeom>
          <a:noFill xmlns:a="http://schemas.openxmlformats.org/drawingml/2006/main"/>
          <a:ln xmlns:a="http://schemas.openxmlformats.org/drawingml/2006/main" w="9525">
            <a:solidFill>
              <a:srgbClr val="5E807A"/>
            </a:solidFill>
            <a:prstDash val="solid"/>
          </a:ln>
        </p:spPr>
      </p:sp>
      <p:sp>
        <p:nvSpPr>
          <p:cNvPr id="7" name="check-1">
            <a:extLst xmlns:a="http://schemas.openxmlformats.org/drawingml/2006/main">
              <a:ext uri="{FF2B5EF4-FFF2-40B4-BE49-F238E27FC236}">
                <a16:creationId xmlns:a16="http://schemas.microsoft.com/office/drawing/2014/main" id="{09D1A046-D5CE-4FBD-A2F0-D3D5D8E7FF9A}"/>
              </a:ext>
            </a:extLst>
          </p:cNvPr>
          <p:cNvSpPr>
            <a:spLocks xmlns:a="http://schemas.openxmlformats.org/drawingml/2006/main" noGrp="1"/>
          </p:cNvSpPr>
          <p:nvPr/>
        </p:nvSpPr>
        <p:spPr>
          <a:xfrm xmlns:a="http://schemas.openxmlformats.org/drawingml/2006/main">
            <a:off x="1524000" y="2143125"/>
            <a:ext cx="9525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defRPr sz="1500" b="1">
                <a:solidFill>
                  <a:srgbClr val="FFFFFF"/>
                </a:solidFill>
                <a:latin typeface="Aptos"/>
                <a:ea typeface="Aptos"/>
                <a:cs typeface="Aptos"/>
              </a:defRPr>
            </a:pPr>
            <a:r>
              <a:rPr sz="1500" b="1">
                <a:solidFill>
                  <a:srgbClr val="FFFFFF"/>
                </a:solidFill>
                <a:latin typeface="Aptos"/>
                <a:ea typeface="Aptos"/>
                <a:cs typeface="Aptos"/>
              </a:rPr>
              <a:t>Which description best identifies a textile?</a:t>
            </a:r>
          </a:p>
        </p:txBody>
      </p:sp>
      <p:sp>
        <p:nvSpPr>
          <p:cNvPr id="8" name="check-number-2">
            <a:extLst xmlns:a="http://schemas.openxmlformats.org/drawingml/2006/main">
              <a:ext uri="{FF2B5EF4-FFF2-40B4-BE49-F238E27FC236}">
                <a16:creationId xmlns:a16="http://schemas.microsoft.com/office/drawing/2014/main" id="{7B94E76A-33C9-4AA5-824C-6DD4253047CA}"/>
              </a:ext>
            </a:extLst>
          </p:cNvPr>
          <p:cNvSpPr>
            <a:spLocks xmlns:a="http://schemas.openxmlformats.org/drawingml/2006/main" noGrp="1"/>
          </p:cNvSpPr>
          <p:nvPr/>
        </p:nvSpPr>
        <p:spPr>
          <a:xfrm xmlns:a="http://schemas.openxmlformats.org/drawingml/2006/main">
            <a:off x="685800" y="3209925"/>
            <a:ext cx="419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1500" b="1">
                <a:solidFill>
                  <a:srgbClr val="FFE4A4"/>
                </a:solidFill>
                <a:latin typeface="Aptos"/>
                <a:ea typeface="Aptos"/>
                <a:cs typeface="Aptos"/>
              </a:defRPr>
            </a:pPr>
            <a:r>
              <a:rPr sz="1500" b="1">
                <a:solidFill>
                  <a:srgbClr val="FFE4A4"/>
                </a:solidFill>
                <a:latin typeface="Aptos"/>
                <a:ea typeface="Aptos"/>
                <a:cs typeface="Aptos"/>
              </a:rPr>
              <a:t>2</a:t>
            </a:r>
          </a:p>
        </p:txBody>
      </p:sp>
      <p:sp>
        <p:nvSpPr>
          <p:cNvPr id="9" name="check-line-2">
            <a:extLst xmlns:a="http://schemas.openxmlformats.org/drawingml/2006/main">
              <a:ext uri="{FF2B5EF4-FFF2-40B4-BE49-F238E27FC236}">
                <a16:creationId xmlns:a16="http://schemas.microsoft.com/office/drawing/2014/main" id="{FFC10374-59D8-45EA-AA6F-FD8459952528}"/>
              </a:ext>
            </a:extLst>
          </p:cNvPr>
          <p:cNvSpPr>
            <a:spLocks xmlns:a="http://schemas.openxmlformats.org/drawingml/2006/main" noGrp="1"/>
          </p:cNvSpPr>
          <p:nvPr/>
        </p:nvSpPr>
        <p:spPr>
          <a:xfrm xmlns:a="http://schemas.openxmlformats.org/drawingml/2006/main">
            <a:off x="1257300" y="3409950"/>
            <a:ext cx="9906000" cy="0"/>
          </a:xfrm>
          <a:prstGeom xmlns:a="http://schemas.openxmlformats.org/drawingml/2006/main" prst="line">
            <a:avLst/>
          </a:prstGeom>
          <a:noFill xmlns:a="http://schemas.openxmlformats.org/drawingml/2006/main"/>
          <a:ln xmlns:a="http://schemas.openxmlformats.org/drawingml/2006/main" w="9525">
            <a:solidFill>
              <a:srgbClr val="5E807A"/>
            </a:solidFill>
            <a:prstDash val="solid"/>
          </a:ln>
        </p:spPr>
      </p:sp>
      <p:sp>
        <p:nvSpPr>
          <p:cNvPr id="10" name="check-2">
            <a:extLst xmlns:a="http://schemas.openxmlformats.org/drawingml/2006/main">
              <a:ext uri="{FF2B5EF4-FFF2-40B4-BE49-F238E27FC236}">
                <a16:creationId xmlns:a16="http://schemas.microsoft.com/office/drawing/2014/main" id="{3BC1FFD4-196A-42AA-A031-52DFDE16933A}"/>
              </a:ext>
            </a:extLst>
          </p:cNvPr>
          <p:cNvSpPr>
            <a:spLocks xmlns:a="http://schemas.openxmlformats.org/drawingml/2006/main" noGrp="1"/>
          </p:cNvSpPr>
          <p:nvPr/>
        </p:nvSpPr>
        <p:spPr>
          <a:xfrm xmlns:a="http://schemas.openxmlformats.org/drawingml/2006/main">
            <a:off x="1524000" y="3114675"/>
            <a:ext cx="9525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defRPr sz="1500" b="1">
                <a:solidFill>
                  <a:srgbClr val="FFFFFF"/>
                </a:solidFill>
                <a:latin typeface="Aptos"/>
                <a:ea typeface="Aptos"/>
                <a:cs typeface="Aptos"/>
              </a:defRPr>
            </a:pPr>
            <a:r>
              <a:rPr sz="1500" b="1">
                <a:solidFill>
                  <a:srgbClr val="FFFFFF"/>
                </a:solidFill>
                <a:latin typeface="Aptos"/>
                <a:ea typeface="Aptos"/>
                <a:cs typeface="Aptos"/>
              </a:rPr>
              <a:t>Which order moves from the smallest textile building unit to a larger material structure?</a:t>
            </a:r>
          </a:p>
        </p:txBody>
      </p:sp>
      <p:sp>
        <p:nvSpPr>
          <p:cNvPr id="11" name="check-number-3">
            <a:extLst xmlns:a="http://schemas.openxmlformats.org/drawingml/2006/main">
              <a:ext uri="{FF2B5EF4-FFF2-40B4-BE49-F238E27FC236}">
                <a16:creationId xmlns:a16="http://schemas.microsoft.com/office/drawing/2014/main" id="{32AC4D76-D166-4206-A2EC-5C1FBA764210}"/>
              </a:ext>
            </a:extLst>
          </p:cNvPr>
          <p:cNvSpPr>
            <a:spLocks xmlns:a="http://schemas.openxmlformats.org/drawingml/2006/main" noGrp="1"/>
          </p:cNvSpPr>
          <p:nvPr/>
        </p:nvSpPr>
        <p:spPr>
          <a:xfrm xmlns:a="http://schemas.openxmlformats.org/drawingml/2006/main">
            <a:off x="685800" y="4181475"/>
            <a:ext cx="419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1500" b="1">
                <a:solidFill>
                  <a:srgbClr val="FFE4A4"/>
                </a:solidFill>
                <a:latin typeface="Aptos"/>
                <a:ea typeface="Aptos"/>
                <a:cs typeface="Aptos"/>
              </a:defRPr>
            </a:pPr>
            <a:r>
              <a:rPr sz="1500" b="1">
                <a:solidFill>
                  <a:srgbClr val="FFE4A4"/>
                </a:solidFill>
                <a:latin typeface="Aptos"/>
                <a:ea typeface="Aptos"/>
                <a:cs typeface="Aptos"/>
              </a:rPr>
              <a:t>3</a:t>
            </a:r>
          </a:p>
        </p:txBody>
      </p:sp>
      <p:sp>
        <p:nvSpPr>
          <p:cNvPr id="12" name="check-line-3">
            <a:extLst xmlns:a="http://schemas.openxmlformats.org/drawingml/2006/main">
              <a:ext uri="{FF2B5EF4-FFF2-40B4-BE49-F238E27FC236}">
                <a16:creationId xmlns:a16="http://schemas.microsoft.com/office/drawing/2014/main" id="{6E46E29C-6398-4369-9F66-66666D8E83C3}"/>
              </a:ext>
            </a:extLst>
          </p:cNvPr>
          <p:cNvSpPr>
            <a:spLocks xmlns:a="http://schemas.openxmlformats.org/drawingml/2006/main" noGrp="1"/>
          </p:cNvSpPr>
          <p:nvPr/>
        </p:nvSpPr>
        <p:spPr>
          <a:xfrm xmlns:a="http://schemas.openxmlformats.org/drawingml/2006/main">
            <a:off x="1257300" y="4381500"/>
            <a:ext cx="9906000" cy="0"/>
          </a:xfrm>
          <a:prstGeom xmlns:a="http://schemas.openxmlformats.org/drawingml/2006/main" prst="line">
            <a:avLst/>
          </a:prstGeom>
          <a:noFill xmlns:a="http://schemas.openxmlformats.org/drawingml/2006/main"/>
          <a:ln xmlns:a="http://schemas.openxmlformats.org/drawingml/2006/main" w="9525">
            <a:solidFill>
              <a:srgbClr val="5E807A"/>
            </a:solidFill>
            <a:prstDash val="solid"/>
          </a:ln>
        </p:spPr>
      </p:sp>
      <p:sp>
        <p:nvSpPr>
          <p:cNvPr id="13" name="check-3">
            <a:extLst xmlns:a="http://schemas.openxmlformats.org/drawingml/2006/main">
              <a:ext uri="{FF2B5EF4-FFF2-40B4-BE49-F238E27FC236}">
                <a16:creationId xmlns:a16="http://schemas.microsoft.com/office/drawing/2014/main" id="{34420DD6-87E3-4C4B-94CE-11DCFD9DFB93}"/>
              </a:ext>
            </a:extLst>
          </p:cNvPr>
          <p:cNvSpPr>
            <a:spLocks xmlns:a="http://schemas.openxmlformats.org/drawingml/2006/main" noGrp="1"/>
          </p:cNvSpPr>
          <p:nvPr/>
        </p:nvSpPr>
        <p:spPr>
          <a:xfrm xmlns:a="http://schemas.openxmlformats.org/drawingml/2006/main">
            <a:off x="1524000" y="4086225"/>
            <a:ext cx="9525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defRPr sz="1500" b="1">
                <a:solidFill>
                  <a:srgbClr val="FFFFFF"/>
                </a:solidFill>
                <a:latin typeface="Aptos"/>
                <a:ea typeface="Aptos"/>
                <a:cs typeface="Aptos"/>
              </a:defRPr>
            </a:pPr>
            <a:r>
              <a:rPr sz="1500" b="1">
                <a:solidFill>
                  <a:srgbClr val="FFFFFF"/>
                </a:solidFill>
                <a:latin typeface="Aptos"/>
                <a:ea typeface="Aptos"/>
                <a:cs typeface="Aptos"/>
              </a:rPr>
              <a:t>What is the main role of a design situation?</a:t>
            </a:r>
          </a:p>
        </p:txBody>
      </p:sp>
      <p:sp>
        <p:nvSpPr>
          <p:cNvPr id="14" name="check-number-4">
            <a:extLst xmlns:a="http://schemas.openxmlformats.org/drawingml/2006/main">
              <a:ext uri="{FF2B5EF4-FFF2-40B4-BE49-F238E27FC236}">
                <a16:creationId xmlns:a16="http://schemas.microsoft.com/office/drawing/2014/main" id="{2835383E-331B-45FB-93A4-67F5D1843E85}"/>
              </a:ext>
            </a:extLst>
          </p:cNvPr>
          <p:cNvSpPr>
            <a:spLocks xmlns:a="http://schemas.openxmlformats.org/drawingml/2006/main" noGrp="1"/>
          </p:cNvSpPr>
          <p:nvPr/>
        </p:nvSpPr>
        <p:spPr>
          <a:xfrm xmlns:a="http://schemas.openxmlformats.org/drawingml/2006/main">
            <a:off x="685800" y="5153025"/>
            <a:ext cx="4191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Autofit/>
          </a:bodyPr>
          <a:lstStyle xmlns:a="http://schemas.openxmlformats.org/drawingml/2006/main"/>
          <a:p xmlns:a="http://schemas.openxmlformats.org/drawingml/2006/main">
            <a:pPr algn="ctr">
              <a:defRPr sz="1500" b="1">
                <a:solidFill>
                  <a:srgbClr val="FFE4A4"/>
                </a:solidFill>
                <a:latin typeface="Aptos"/>
                <a:ea typeface="Aptos"/>
                <a:cs typeface="Aptos"/>
              </a:defRPr>
            </a:pPr>
            <a:r>
              <a:rPr sz="1500" b="1">
                <a:solidFill>
                  <a:srgbClr val="FFE4A4"/>
                </a:solidFill>
                <a:latin typeface="Aptos"/>
                <a:ea typeface="Aptos"/>
                <a:cs typeface="Aptos"/>
              </a:rPr>
              <a:t>4</a:t>
            </a:r>
          </a:p>
        </p:txBody>
      </p:sp>
      <p:sp>
        <p:nvSpPr>
          <p:cNvPr id="15" name="check-line-4">
            <a:extLst xmlns:a="http://schemas.openxmlformats.org/drawingml/2006/main">
              <a:ext uri="{FF2B5EF4-FFF2-40B4-BE49-F238E27FC236}">
                <a16:creationId xmlns:a16="http://schemas.microsoft.com/office/drawing/2014/main" id="{F110213A-356E-4594-8F6B-03549761405E}"/>
              </a:ext>
            </a:extLst>
          </p:cNvPr>
          <p:cNvSpPr>
            <a:spLocks xmlns:a="http://schemas.openxmlformats.org/drawingml/2006/main" noGrp="1"/>
          </p:cNvSpPr>
          <p:nvPr/>
        </p:nvSpPr>
        <p:spPr>
          <a:xfrm xmlns:a="http://schemas.openxmlformats.org/drawingml/2006/main">
            <a:off x="1257300" y="5353050"/>
            <a:ext cx="9906000" cy="0"/>
          </a:xfrm>
          <a:prstGeom xmlns:a="http://schemas.openxmlformats.org/drawingml/2006/main" prst="line">
            <a:avLst/>
          </a:prstGeom>
          <a:noFill xmlns:a="http://schemas.openxmlformats.org/drawingml/2006/main"/>
          <a:ln xmlns:a="http://schemas.openxmlformats.org/drawingml/2006/main" w="9525">
            <a:solidFill>
              <a:srgbClr val="5E807A"/>
            </a:solidFill>
            <a:prstDash val="solid"/>
          </a:ln>
        </p:spPr>
      </p:sp>
      <p:sp>
        <p:nvSpPr>
          <p:cNvPr id="16" name="check-4">
            <a:extLst xmlns:a="http://schemas.openxmlformats.org/drawingml/2006/main">
              <a:ext uri="{FF2B5EF4-FFF2-40B4-BE49-F238E27FC236}">
                <a16:creationId xmlns:a16="http://schemas.microsoft.com/office/drawing/2014/main" id="{1BD37347-00D0-4012-9FFA-4386D6592C21}"/>
              </a:ext>
            </a:extLst>
          </p:cNvPr>
          <p:cNvSpPr>
            <a:spLocks xmlns:a="http://schemas.openxmlformats.org/drawingml/2006/main" noGrp="1"/>
          </p:cNvSpPr>
          <p:nvPr/>
        </p:nvSpPr>
        <p:spPr>
          <a:xfrm xmlns:a="http://schemas.openxmlformats.org/drawingml/2006/main">
            <a:off x="1524000" y="5057775"/>
            <a:ext cx="9525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defRPr sz="1500" b="1">
                <a:solidFill>
                  <a:srgbClr val="FFFFFF"/>
                </a:solidFill>
                <a:latin typeface="Aptos"/>
                <a:ea typeface="Aptos"/>
                <a:cs typeface="Aptos"/>
              </a:defRPr>
            </a:pPr>
            <a:r>
              <a:rPr sz="1500" b="1">
                <a:solidFill>
                  <a:srgbClr val="FFFFFF"/>
                </a:solidFill>
                <a:latin typeface="Aptos"/>
                <a:ea typeface="Aptos"/>
                <a:cs typeface="Aptos"/>
              </a:rPr>
              <a:t>Which idea from this module most changes your next design or production decision?</a:t>
            </a:r>
          </a:p>
        </p:txBody>
      </p:sp>
      <p:sp>
        <p:nvSpPr>
          <p:cNvPr id="17" name="footer-module">
            <a:extLst xmlns:a="http://schemas.openxmlformats.org/drawingml/2006/main">
              <a:ext uri="{FF2B5EF4-FFF2-40B4-BE49-F238E27FC236}">
                <a16:creationId xmlns:a16="http://schemas.microsoft.com/office/drawing/2014/main" id="{11B952B7-C7B9-4148-8A6C-6A75B4B77E3A}"/>
              </a:ext>
            </a:extLst>
          </p:cNvPr>
          <p:cNvSpPr>
            <a:spLocks xmlns:a="http://schemas.openxmlformats.org/drawingml/2006/main" noGrp="1"/>
          </p:cNvSpPr>
          <p:nvPr/>
        </p:nvSpPr>
        <p:spPr>
          <a:xfrm xmlns:a="http://schemas.openxmlformats.org/drawingml/2006/main">
            <a:off x="5334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900" b="1">
                <a:solidFill>
                  <a:srgbClr val="C8D6D2"/>
                </a:solidFill>
                <a:latin typeface="Aptos"/>
                <a:ea typeface="Aptos"/>
                <a:cs typeface="Aptos"/>
              </a:defRPr>
            </a:pPr>
            <a:r>
              <a:rPr sz="900" b="1">
                <a:solidFill>
                  <a:srgbClr val="C8D6D2"/>
                </a:solidFill>
                <a:latin typeface="Aptos"/>
                <a:ea typeface="Aptos"/>
                <a:cs typeface="Aptos"/>
              </a:rPr>
              <a:t>SEW AWESOME  •  MODULE 01</a:t>
            </a:r>
          </a:p>
        </p:txBody>
      </p:sp>
      <p:sp>
        <p:nvSpPr>
          <p:cNvPr id="18" name="footer-page">
            <a:extLst xmlns:a="http://schemas.openxmlformats.org/drawingml/2006/main">
              <a:ext uri="{FF2B5EF4-FFF2-40B4-BE49-F238E27FC236}">
                <a16:creationId xmlns:a16="http://schemas.microsoft.com/office/drawing/2014/main" id="{E849970D-F12B-464E-8F7C-EC8E57FEA16A}"/>
              </a:ext>
            </a:extLst>
          </p:cNvPr>
          <p:cNvSpPr>
            <a:spLocks xmlns:a="http://schemas.openxmlformats.org/drawingml/2006/main" noGrp="1"/>
          </p:cNvSpPr>
          <p:nvPr/>
        </p:nvSpPr>
        <p:spPr>
          <a:xfrm xmlns:a="http://schemas.openxmlformats.org/drawingml/2006/main">
            <a:off x="11182350" y="6496050"/>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defRPr sz="900" b="1">
                <a:solidFill>
                  <a:srgbClr val="C8D6D2"/>
                </a:solidFill>
                <a:latin typeface="Aptos"/>
                <a:ea typeface="Aptos"/>
                <a:cs typeface="Aptos"/>
              </a:defRPr>
            </a:pPr>
            <a:r>
              <a:rPr sz="900" b="1">
                <a:solidFill>
                  <a:srgbClr val="C8D6D2"/>
                </a:solidFill>
                <a:latin typeface="Aptos"/>
                <a:ea typeface="Aptos"/>
                <a:cs typeface="Aptos"/>
              </a:rPr>
              <a:t>06</a:t>
            </a:r>
          </a:p>
        </p:txBody>
      </p:sp>
    </p:spTree>
    <p:extLst>
      <p:ext uri="{BB962C8B-B14F-4D97-AF65-F5344CB8AC3E}">
        <p14:creationId xmlns:p14="http://schemas.microsoft.com/office/powerpoint/2010/main" val="908729769"/>
      </p:ext>
    </p:extLst>
  </p:cSld>
</p:sld>
</file>

<file path=ppt/slides/slide7.xml><?xml version="1.0" encoding="utf-8"?>
<p:sld xmlns:p="http://schemas.openxmlformats.org/presentationml/2006/main">
  <p:cSld>
    <p:bg>
      <p:bgPr>
        <a:solidFill xmlns:a="http://schemas.openxmlformats.org/drawingml/2006/main">
          <a:srgbClr val="FFFDF8"/>
        </a:solidFill>
      </p:bgPr>
    </p:bg>
    <p:spTree>
      <p:nvGrpSpPr>
        <p:cNvPr id="1" name=""/>
        <p:cNvGrpSpPr/>
        <p:nvPr/>
      </p:nvGrpSpPr>
      <p:grpSpPr>
        <a:xfrm xmlns:a="http://schemas.openxmlformats.org/drawingml/2006/main"/>
      </p:grpSpPr>
      <p:sp>
        <p:nvSpPr>
          <p:cNvPr id="23" name="top-rule">
            <a:extLst xmlns:a="http://schemas.openxmlformats.org/drawingml/2006/main">
              <a:ext uri="{FF2B5EF4-FFF2-40B4-BE49-F238E27FC236}">
                <a16:creationId xmlns:a16="http://schemas.microsoft.com/office/drawing/2014/main" id="{65550F3F-367D-4972-8D04-612151193EC2}"/>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BF4C5A"/>
          </a:solidFill>
          <a:ln xmlns:a="http://schemas.openxmlformats.org/drawingml/2006/main" w="0">
            <a:noFill/>
            <a:prstDash val="solid"/>
          </a:ln>
        </p:spPr>
      </p:sp>
      <p:sp>
        <p:nvSpPr>
          <p:cNvPr id="2" name="eyebrow">
            <a:extLst xmlns:a="http://schemas.openxmlformats.org/drawingml/2006/main">
              <a:ext uri="{FF2B5EF4-FFF2-40B4-BE49-F238E27FC236}">
                <a16:creationId xmlns:a16="http://schemas.microsoft.com/office/drawing/2014/main" id="{199519C8-1F3D-44B3-82DD-744726E1893E}"/>
              </a:ext>
            </a:extLst>
          </p:cNvPr>
          <p:cNvSpPr>
            <a:spLocks xmlns:a="http://schemas.openxmlformats.org/drawingml/2006/main" noGrp="1"/>
          </p:cNvSpPr>
          <p:nvPr/>
        </p:nvSpPr>
        <p:spPr>
          <a:xfrm xmlns:a="http://schemas.openxmlformats.org/drawingml/2006/main">
            <a:off x="533400" y="285750"/>
            <a:ext cx="800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1050" b="1">
                <a:solidFill>
                  <a:srgbClr val="BF4C5A"/>
                </a:solidFill>
                <a:latin typeface="Aptos"/>
                <a:ea typeface="Aptos"/>
                <a:cs typeface="Aptos"/>
              </a:defRPr>
            </a:pPr>
            <a:r>
              <a:rPr sz="1050" b="1">
                <a:solidFill>
                  <a:srgbClr val="BF4C5A"/>
                </a:solidFill>
                <a:latin typeface="Aptos"/>
                <a:ea typeface="Aptos"/>
                <a:cs typeface="Aptos"/>
              </a:rPr>
              <a:t>MODEL A LONGER RESPONSE</a:t>
            </a:r>
          </a:p>
        </p:txBody>
      </p:sp>
      <p:sp>
        <p:nvSpPr>
          <p:cNvPr id="3" name="title">
            <a:extLst xmlns:a="http://schemas.openxmlformats.org/drawingml/2006/main">
              <a:ext uri="{FF2B5EF4-FFF2-40B4-BE49-F238E27FC236}">
                <a16:creationId xmlns:a16="http://schemas.microsoft.com/office/drawing/2014/main" id="{775E90C1-5D40-40C6-A78B-C26400912876}"/>
              </a:ext>
            </a:extLst>
          </p:cNvPr>
          <p:cNvSpPr>
            <a:spLocks xmlns:a="http://schemas.openxmlformats.org/drawingml/2006/main" noGrp="1"/>
          </p:cNvSpPr>
          <p:nvPr/>
        </p:nvSpPr>
        <p:spPr>
          <a:xfrm xmlns:a="http://schemas.openxmlformats.org/drawingml/2006/main">
            <a:off x="533400" y="723900"/>
            <a:ext cx="8572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94000"/>
              </a:lnSpc>
              <a:buNone/>
              <a:defRPr sz="2850" b="1">
                <a:solidFill>
                  <a:srgbClr val="20302E"/>
                </a:solidFill>
                <a:latin typeface="Aptos Display"/>
                <a:ea typeface="Aptos Display"/>
                <a:cs typeface="Aptos Display"/>
              </a:defRPr>
            </a:pPr>
            <a:r>
              <a:rPr sz="2850" b="1">
                <a:solidFill>
                  <a:srgbClr val="20302E"/>
                </a:solidFill>
                <a:latin typeface="Aptos Display"/>
                <a:ea typeface="Aptos Display"/>
                <a:cs typeface="Aptos Display"/>
              </a:rPr>
              <a:t>Read → Select → Explain → Check</a:t>
            </a:r>
          </a:p>
        </p:txBody>
      </p:sp>
      <p:sp>
        <p:nvSpPr>
          <p:cNvPr id="4" name="question-surface">
            <a:extLst xmlns:a="http://schemas.openxmlformats.org/drawingml/2006/main">
              <a:ext uri="{FF2B5EF4-FFF2-40B4-BE49-F238E27FC236}">
                <a16:creationId xmlns:a16="http://schemas.microsoft.com/office/drawing/2014/main" id="{56EE9846-5559-4698-888C-A33ADF5ABBF3}"/>
              </a:ext>
            </a:extLst>
          </p:cNvPr>
          <p:cNvSpPr>
            <a:spLocks xmlns:a="http://schemas.openxmlformats.org/drawingml/2006/main" noGrp="1"/>
          </p:cNvSpPr>
          <p:nvPr/>
        </p:nvSpPr>
        <p:spPr>
          <a:xfrm xmlns:a="http://schemas.openxmlformats.org/drawingml/2006/main">
            <a:off x="533400" y="1562100"/>
            <a:ext cx="11125200" cy="1485900"/>
          </a:xfrm>
          <a:prstGeom xmlns:a="http://schemas.openxmlformats.org/drawingml/2006/main" prst="roundRect">
            <a:avLst>
              <a:gd name="adj" fmla="val 7692"/>
            </a:avLst>
          </a:prstGeom>
          <a:solidFill xmlns:a="http://schemas.openxmlformats.org/drawingml/2006/main">
            <a:srgbClr val="FFFFFF"/>
          </a:solidFill>
          <a:ln xmlns:a="http://schemas.openxmlformats.org/drawingml/2006/main" w="9525">
            <a:solidFill>
              <a:srgbClr val="D8D6CC"/>
            </a:solidFill>
            <a:prstDash val="solid"/>
          </a:ln>
        </p:spPr>
      </p:sp>
      <p:sp>
        <p:nvSpPr>
          <p:cNvPr id="5" name="question-label">
            <a:extLst xmlns:a="http://schemas.openxmlformats.org/drawingml/2006/main">
              <a:ext uri="{FF2B5EF4-FFF2-40B4-BE49-F238E27FC236}">
                <a16:creationId xmlns:a16="http://schemas.microsoft.com/office/drawing/2014/main" id="{CC89E030-F06D-4AFA-97F2-CD52C75DCE3E}"/>
              </a:ext>
            </a:extLst>
          </p:cNvPr>
          <p:cNvSpPr>
            <a:spLocks xmlns:a="http://schemas.openxmlformats.org/drawingml/2006/main" noGrp="1"/>
          </p:cNvSpPr>
          <p:nvPr/>
        </p:nvSpPr>
        <p:spPr>
          <a:xfrm xmlns:a="http://schemas.openxmlformats.org/drawingml/2006/main">
            <a:off x="762000" y="1771650"/>
            <a:ext cx="1333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975" b="1">
                <a:solidFill>
                  <a:srgbClr val="BF4C5A"/>
                </a:solidFill>
                <a:latin typeface="Aptos"/>
                <a:ea typeface="Aptos"/>
                <a:cs typeface="Aptos"/>
              </a:defRPr>
            </a:pPr>
            <a:r>
              <a:rPr sz="975" b="1">
                <a:solidFill>
                  <a:srgbClr val="BF4C5A"/>
                </a:solidFill>
                <a:latin typeface="Aptos"/>
                <a:ea typeface="Aptos"/>
                <a:cs typeface="Aptos"/>
              </a:rPr>
              <a:t>THE QUESTION</a:t>
            </a:r>
          </a:p>
        </p:txBody>
      </p:sp>
      <p:sp>
        <p:nvSpPr>
          <p:cNvPr id="6" name="question">
            <a:extLst xmlns:a="http://schemas.openxmlformats.org/drawingml/2006/main">
              <a:ext uri="{FF2B5EF4-FFF2-40B4-BE49-F238E27FC236}">
                <a16:creationId xmlns:a16="http://schemas.microsoft.com/office/drawing/2014/main" id="{F6B407E2-B26D-4DA9-B032-92EA34DDA0A3}"/>
              </a:ext>
            </a:extLst>
          </p:cNvPr>
          <p:cNvSpPr>
            <a:spLocks xmlns:a="http://schemas.openxmlformats.org/drawingml/2006/main" noGrp="1"/>
          </p:cNvSpPr>
          <p:nvPr/>
        </p:nvSpPr>
        <p:spPr>
          <a:xfrm xmlns:a="http://schemas.openxmlformats.org/drawingml/2006/main">
            <a:off x="762000" y="2076450"/>
            <a:ext cx="106299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defRPr sz="1650" b="1">
                <a:solidFill>
                  <a:srgbClr val="20302E"/>
                </a:solidFill>
                <a:latin typeface="Aptos"/>
                <a:ea typeface="Aptos"/>
                <a:cs typeface="Aptos"/>
              </a:defRPr>
            </a:pPr>
            <a:r>
              <a:rPr sz="1650" b="1">
                <a:solidFill>
                  <a:srgbClr val="20302E"/>
                </a:solidFill>
                <a:latin typeface="Aptos"/>
                <a:ea typeface="Aptos"/>
                <a:cs typeface="Aptos"/>
              </a:rPr>
              <a:t>Explain how an Awesome Bag concept could respond to the environmental design situation while meeting the needs of a particular user. Justify the evidence you would collect.</a:t>
            </a:r>
          </a:p>
        </p:txBody>
      </p:sp>
      <p:sp>
        <p:nvSpPr>
          <p:cNvPr id="7" name="arrow-1">
            <a:extLst xmlns:a="http://schemas.openxmlformats.org/drawingml/2006/main">
              <a:ext uri="{FF2B5EF4-FFF2-40B4-BE49-F238E27FC236}">
                <a16:creationId xmlns:a16="http://schemas.microsoft.com/office/drawing/2014/main" id="{3D8C3A63-ABD6-4195-B3DC-418BCA710EE5}"/>
              </a:ext>
            </a:extLst>
          </p:cNvPr>
          <p:cNvSpPr>
            <a:spLocks xmlns:a="http://schemas.openxmlformats.org/drawingml/2006/main" noGrp="1"/>
          </p:cNvSpPr>
          <p:nvPr/>
        </p:nvSpPr>
        <p:spPr>
          <a:xfrm xmlns:a="http://schemas.openxmlformats.org/drawingml/2006/main">
            <a:off x="2914650" y="4038600"/>
            <a:ext cx="342900" cy="323850"/>
          </a:xfrm>
          <a:prstGeom xmlns:a="http://schemas.openxmlformats.org/drawingml/2006/main" prst="rightArrow">
            <a:avLst/>
          </a:prstGeom>
          <a:solidFill xmlns:a="http://schemas.openxmlformats.org/drawingml/2006/main">
            <a:srgbClr val="146B66"/>
          </a:solidFill>
          <a:ln xmlns:a="http://schemas.openxmlformats.org/drawingml/2006/main" w="0">
            <a:noFill/>
            <a:prstDash val="solid"/>
          </a:ln>
        </p:spPr>
      </p:sp>
      <p:sp>
        <p:nvSpPr>
          <p:cNvPr id="8" name="step-label-1">
            <a:extLst xmlns:a="http://schemas.openxmlformats.org/drawingml/2006/main">
              <a:ext uri="{FF2B5EF4-FFF2-40B4-BE49-F238E27FC236}">
                <a16:creationId xmlns:a16="http://schemas.microsoft.com/office/drawing/2014/main" id="{5654A8D2-9125-4314-AFC5-4B15E04A057C}"/>
              </a:ext>
            </a:extLst>
          </p:cNvPr>
          <p:cNvSpPr>
            <a:spLocks xmlns:a="http://schemas.openxmlformats.org/drawingml/2006/main" noGrp="1"/>
          </p:cNvSpPr>
          <p:nvPr/>
        </p:nvSpPr>
        <p:spPr>
          <a:xfrm xmlns:a="http://schemas.openxmlformats.org/drawingml/2006/main">
            <a:off x="533400" y="35433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1200" b="1">
                <a:solidFill>
                  <a:srgbClr val="146B66"/>
                </a:solidFill>
                <a:latin typeface="Aptos"/>
                <a:ea typeface="Aptos"/>
                <a:cs typeface="Aptos"/>
              </a:defRPr>
            </a:pPr>
            <a:r>
              <a:rPr sz="1200" b="1">
                <a:solidFill>
                  <a:srgbClr val="146B66"/>
                </a:solidFill>
                <a:latin typeface="Aptos"/>
                <a:ea typeface="Aptos"/>
                <a:cs typeface="Aptos"/>
              </a:rPr>
              <a:t>1  READ</a:t>
            </a:r>
          </a:p>
        </p:txBody>
      </p:sp>
      <p:sp>
        <p:nvSpPr>
          <p:cNvPr id="9" name="step-text-1">
            <a:extLst xmlns:a="http://schemas.openxmlformats.org/drawingml/2006/main">
              <a:ext uri="{FF2B5EF4-FFF2-40B4-BE49-F238E27FC236}">
                <a16:creationId xmlns:a16="http://schemas.microsoft.com/office/drawing/2014/main" id="{FA4D4333-ADDD-4FEA-AC87-2EB67BAB5D9B}"/>
              </a:ext>
            </a:extLst>
          </p:cNvPr>
          <p:cNvSpPr>
            <a:spLocks xmlns:a="http://schemas.openxmlformats.org/drawingml/2006/main" noGrp="1"/>
          </p:cNvSpPr>
          <p:nvPr/>
        </p:nvSpPr>
        <p:spPr>
          <a:xfrm xmlns:a="http://schemas.openxmlformats.org/drawingml/2006/main">
            <a:off x="533400" y="3981450"/>
            <a:ext cx="23431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a:solidFill>
                  <a:srgbClr val="20302E"/>
                </a:solidFill>
                <a:latin typeface="Aptos"/>
                <a:ea typeface="Aptos"/>
                <a:cs typeface="Aptos"/>
              </a:defRPr>
            </a:pPr>
            <a:r>
              <a:rPr sz="1350">
                <a:solidFill>
                  <a:srgbClr val="20302E"/>
                </a:solidFill>
                <a:latin typeface="Aptos"/>
                <a:ea typeface="Aptos"/>
                <a:cs typeface="Aptos"/>
              </a:rPr>
              <a:t>Define the user, use context and environmental problem.</a:t>
            </a:r>
          </a:p>
        </p:txBody>
      </p:sp>
      <p:sp>
        <p:nvSpPr>
          <p:cNvPr id="10" name="arrow-2">
            <a:extLst xmlns:a="http://schemas.openxmlformats.org/drawingml/2006/main">
              <a:ext uri="{FF2B5EF4-FFF2-40B4-BE49-F238E27FC236}">
                <a16:creationId xmlns:a16="http://schemas.microsoft.com/office/drawing/2014/main" id="{C67E1461-4ADC-4A36-9721-FBE9EDB5287A}"/>
              </a:ext>
            </a:extLst>
          </p:cNvPr>
          <p:cNvSpPr>
            <a:spLocks xmlns:a="http://schemas.openxmlformats.org/drawingml/2006/main" noGrp="1"/>
          </p:cNvSpPr>
          <p:nvPr/>
        </p:nvSpPr>
        <p:spPr>
          <a:xfrm xmlns:a="http://schemas.openxmlformats.org/drawingml/2006/main">
            <a:off x="5695950" y="4038600"/>
            <a:ext cx="342900" cy="323850"/>
          </a:xfrm>
          <a:prstGeom xmlns:a="http://schemas.openxmlformats.org/drawingml/2006/main" prst="rightArrow">
            <a:avLst/>
          </a:prstGeom>
          <a:solidFill xmlns:a="http://schemas.openxmlformats.org/drawingml/2006/main">
            <a:srgbClr val="BF4C5A"/>
          </a:solidFill>
          <a:ln xmlns:a="http://schemas.openxmlformats.org/drawingml/2006/main" w="0">
            <a:noFill/>
            <a:prstDash val="solid"/>
          </a:ln>
        </p:spPr>
      </p:sp>
      <p:sp>
        <p:nvSpPr>
          <p:cNvPr id="11" name="step-label-2">
            <a:extLst xmlns:a="http://schemas.openxmlformats.org/drawingml/2006/main">
              <a:ext uri="{FF2B5EF4-FFF2-40B4-BE49-F238E27FC236}">
                <a16:creationId xmlns:a16="http://schemas.microsoft.com/office/drawing/2014/main" id="{36854380-23C3-4FCC-98AF-A9AE6B6C0AD9}"/>
              </a:ext>
            </a:extLst>
          </p:cNvPr>
          <p:cNvSpPr>
            <a:spLocks xmlns:a="http://schemas.openxmlformats.org/drawingml/2006/main" noGrp="1"/>
          </p:cNvSpPr>
          <p:nvPr/>
        </p:nvSpPr>
        <p:spPr>
          <a:xfrm xmlns:a="http://schemas.openxmlformats.org/drawingml/2006/main">
            <a:off x="3314700" y="35433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1200" b="1">
                <a:solidFill>
                  <a:srgbClr val="BF4C5A"/>
                </a:solidFill>
                <a:latin typeface="Aptos"/>
                <a:ea typeface="Aptos"/>
                <a:cs typeface="Aptos"/>
              </a:defRPr>
            </a:pPr>
            <a:r>
              <a:rPr sz="1200" b="1">
                <a:solidFill>
                  <a:srgbClr val="BF4C5A"/>
                </a:solidFill>
                <a:latin typeface="Aptos"/>
                <a:ea typeface="Aptos"/>
                <a:cs typeface="Aptos"/>
              </a:rPr>
              <a:t>2  SELECT</a:t>
            </a:r>
          </a:p>
        </p:txBody>
      </p:sp>
      <p:sp>
        <p:nvSpPr>
          <p:cNvPr id="12" name="step-text-2">
            <a:extLst xmlns:a="http://schemas.openxmlformats.org/drawingml/2006/main">
              <a:ext uri="{FF2B5EF4-FFF2-40B4-BE49-F238E27FC236}">
                <a16:creationId xmlns:a16="http://schemas.microsoft.com/office/drawing/2014/main" id="{9D919E28-7BA4-4283-BFE5-12BB7F635274}"/>
              </a:ext>
            </a:extLst>
          </p:cNvPr>
          <p:cNvSpPr>
            <a:spLocks xmlns:a="http://schemas.openxmlformats.org/drawingml/2006/main" noGrp="1"/>
          </p:cNvSpPr>
          <p:nvPr/>
        </p:nvSpPr>
        <p:spPr>
          <a:xfrm xmlns:a="http://schemas.openxmlformats.org/drawingml/2006/main">
            <a:off x="3314700" y="3981450"/>
            <a:ext cx="23431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a:solidFill>
                  <a:srgbClr val="20302E"/>
                </a:solidFill>
                <a:latin typeface="Aptos"/>
                <a:ea typeface="Aptos"/>
                <a:cs typeface="Aptos"/>
              </a:defRPr>
            </a:pPr>
            <a:r>
              <a:rPr sz="1350">
                <a:solidFill>
                  <a:srgbClr val="20302E"/>
                </a:solidFill>
                <a:latin typeface="Aptos"/>
                <a:ea typeface="Aptos"/>
                <a:cs typeface="Aptos"/>
              </a:rPr>
              <a:t>Propose at least three linked criteria covering function, user experience and responsible use.</a:t>
            </a:r>
          </a:p>
        </p:txBody>
      </p:sp>
      <p:sp>
        <p:nvSpPr>
          <p:cNvPr id="13" name="arrow-3">
            <a:extLst xmlns:a="http://schemas.openxmlformats.org/drawingml/2006/main">
              <a:ext uri="{FF2B5EF4-FFF2-40B4-BE49-F238E27FC236}">
                <a16:creationId xmlns:a16="http://schemas.microsoft.com/office/drawing/2014/main" id="{600203CC-240D-49E6-82D2-1ADE376BD8FE}"/>
              </a:ext>
            </a:extLst>
          </p:cNvPr>
          <p:cNvSpPr>
            <a:spLocks xmlns:a="http://schemas.openxmlformats.org/drawingml/2006/main" noGrp="1"/>
          </p:cNvSpPr>
          <p:nvPr/>
        </p:nvSpPr>
        <p:spPr>
          <a:xfrm xmlns:a="http://schemas.openxmlformats.org/drawingml/2006/main">
            <a:off x="8477250" y="4038600"/>
            <a:ext cx="342900" cy="323850"/>
          </a:xfrm>
          <a:prstGeom xmlns:a="http://schemas.openxmlformats.org/drawingml/2006/main" prst="rightArrow">
            <a:avLst/>
          </a:prstGeom>
          <a:solidFill xmlns:a="http://schemas.openxmlformats.org/drawingml/2006/main">
            <a:srgbClr val="D49A34"/>
          </a:solidFill>
          <a:ln xmlns:a="http://schemas.openxmlformats.org/drawingml/2006/main" w="0">
            <a:noFill/>
            <a:prstDash val="solid"/>
          </a:ln>
        </p:spPr>
      </p:sp>
      <p:sp>
        <p:nvSpPr>
          <p:cNvPr id="14" name="step-label-3">
            <a:extLst xmlns:a="http://schemas.openxmlformats.org/drawingml/2006/main">
              <a:ext uri="{FF2B5EF4-FFF2-40B4-BE49-F238E27FC236}">
                <a16:creationId xmlns:a16="http://schemas.microsoft.com/office/drawing/2014/main" id="{BD30E9F9-4D66-4EF3-8A0D-32B5A1345109}"/>
              </a:ext>
            </a:extLst>
          </p:cNvPr>
          <p:cNvSpPr>
            <a:spLocks xmlns:a="http://schemas.openxmlformats.org/drawingml/2006/main" noGrp="1"/>
          </p:cNvSpPr>
          <p:nvPr/>
        </p:nvSpPr>
        <p:spPr>
          <a:xfrm xmlns:a="http://schemas.openxmlformats.org/drawingml/2006/main">
            <a:off x="6096000" y="35433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1200" b="1">
                <a:solidFill>
                  <a:srgbClr val="D49A34"/>
                </a:solidFill>
                <a:latin typeface="Aptos"/>
                <a:ea typeface="Aptos"/>
                <a:cs typeface="Aptos"/>
              </a:defRPr>
            </a:pPr>
            <a:r>
              <a:rPr sz="1200" b="1">
                <a:solidFill>
                  <a:srgbClr val="D49A34"/>
                </a:solidFill>
                <a:latin typeface="Aptos"/>
                <a:ea typeface="Aptos"/>
                <a:cs typeface="Aptos"/>
              </a:rPr>
              <a:t>3  EXPLAIN</a:t>
            </a:r>
          </a:p>
        </p:txBody>
      </p:sp>
      <p:sp>
        <p:nvSpPr>
          <p:cNvPr id="15" name="step-text-3">
            <a:extLst xmlns:a="http://schemas.openxmlformats.org/drawingml/2006/main">
              <a:ext uri="{FF2B5EF4-FFF2-40B4-BE49-F238E27FC236}">
                <a16:creationId xmlns:a16="http://schemas.microsoft.com/office/drawing/2014/main" id="{4958438B-0D5C-4BB8-AAE0-E28166FA6B93}"/>
              </a:ext>
            </a:extLst>
          </p:cNvPr>
          <p:cNvSpPr>
            <a:spLocks xmlns:a="http://schemas.openxmlformats.org/drawingml/2006/main" noGrp="1"/>
          </p:cNvSpPr>
          <p:nvPr/>
        </p:nvSpPr>
        <p:spPr>
          <a:xfrm xmlns:a="http://schemas.openxmlformats.org/drawingml/2006/main">
            <a:off x="6096000" y="3981450"/>
            <a:ext cx="23431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a:solidFill>
                  <a:srgbClr val="20302E"/>
                </a:solidFill>
                <a:latin typeface="Aptos"/>
                <a:ea typeface="Aptos"/>
                <a:cs typeface="Aptos"/>
              </a:defRPr>
            </a:pPr>
            <a:r>
              <a:rPr sz="1350">
                <a:solidFill>
                  <a:srgbClr val="20302E"/>
                </a:solidFill>
                <a:latin typeface="Aptos"/>
                <a:ea typeface="Aptos"/>
                <a:cs typeface="Aptos"/>
              </a:rPr>
              <a:t>Explain which design decisions would address those criteria.</a:t>
            </a:r>
          </a:p>
        </p:txBody>
      </p:sp>
      <p:sp>
        <p:nvSpPr>
          <p:cNvPr id="16" name="step-label-4">
            <a:extLst xmlns:a="http://schemas.openxmlformats.org/drawingml/2006/main">
              <a:ext uri="{FF2B5EF4-FFF2-40B4-BE49-F238E27FC236}">
                <a16:creationId xmlns:a16="http://schemas.microsoft.com/office/drawing/2014/main" id="{2F49BAC1-4181-47FD-A695-F482E96F70ED}"/>
              </a:ext>
            </a:extLst>
          </p:cNvPr>
          <p:cNvSpPr>
            <a:spLocks xmlns:a="http://schemas.openxmlformats.org/drawingml/2006/main" noGrp="1"/>
          </p:cNvSpPr>
          <p:nvPr/>
        </p:nvSpPr>
        <p:spPr>
          <a:xfrm xmlns:a="http://schemas.openxmlformats.org/drawingml/2006/main">
            <a:off x="8877300" y="35433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1200" b="1">
                <a:solidFill>
                  <a:srgbClr val="0C4E4A"/>
                </a:solidFill>
                <a:latin typeface="Aptos"/>
                <a:ea typeface="Aptos"/>
                <a:cs typeface="Aptos"/>
              </a:defRPr>
            </a:pPr>
            <a:r>
              <a:rPr sz="1200" b="1">
                <a:solidFill>
                  <a:srgbClr val="0C4E4A"/>
                </a:solidFill>
                <a:latin typeface="Aptos"/>
                <a:ea typeface="Aptos"/>
                <a:cs typeface="Aptos"/>
              </a:rPr>
              <a:t>4  CHECK</a:t>
            </a:r>
          </a:p>
        </p:txBody>
      </p:sp>
      <p:sp>
        <p:nvSpPr>
          <p:cNvPr id="17" name="step-text-4">
            <a:extLst xmlns:a="http://schemas.openxmlformats.org/drawingml/2006/main">
              <a:ext uri="{FF2B5EF4-FFF2-40B4-BE49-F238E27FC236}">
                <a16:creationId xmlns:a16="http://schemas.microsoft.com/office/drawing/2014/main" id="{B20CBEA4-93E1-4A52-BAB2-67C6F4439293}"/>
              </a:ext>
            </a:extLst>
          </p:cNvPr>
          <p:cNvSpPr>
            <a:spLocks xmlns:a="http://schemas.openxmlformats.org/drawingml/2006/main" noGrp="1"/>
          </p:cNvSpPr>
          <p:nvPr/>
        </p:nvSpPr>
        <p:spPr>
          <a:xfrm xmlns:a="http://schemas.openxmlformats.org/drawingml/2006/main">
            <a:off x="8877300" y="3981450"/>
            <a:ext cx="23431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defRPr sz="1350">
                <a:solidFill>
                  <a:srgbClr val="20302E"/>
                </a:solidFill>
                <a:latin typeface="Aptos"/>
                <a:ea typeface="Aptos"/>
                <a:cs typeface="Aptos"/>
              </a:defRPr>
            </a:pPr>
            <a:r>
              <a:rPr sz="1350">
                <a:solidFill>
                  <a:srgbClr val="20302E"/>
                </a:solidFill>
                <a:latin typeface="Aptos"/>
                <a:ea typeface="Aptos"/>
                <a:cs typeface="Aptos"/>
              </a:rPr>
              <a:t>Describe tests or records that would show whether the solution succeeded.</a:t>
            </a:r>
          </a:p>
        </p:txBody>
      </p:sp>
      <p:sp>
        <p:nvSpPr>
          <p:cNvPr id="18" name="starter">
            <a:extLst xmlns:a="http://schemas.openxmlformats.org/drawingml/2006/main">
              <a:ext uri="{FF2B5EF4-FFF2-40B4-BE49-F238E27FC236}">
                <a16:creationId xmlns:a16="http://schemas.microsoft.com/office/drawing/2014/main" id="{4DE21733-2EB0-48C3-84BB-3286497FC204}"/>
              </a:ext>
            </a:extLst>
          </p:cNvPr>
          <p:cNvSpPr>
            <a:spLocks xmlns:a="http://schemas.openxmlformats.org/drawingml/2006/main" noGrp="1"/>
          </p:cNvSpPr>
          <p:nvPr/>
        </p:nvSpPr>
        <p:spPr>
          <a:xfrm xmlns:a="http://schemas.openxmlformats.org/drawingml/2006/main">
            <a:off x="533400" y="5429250"/>
            <a:ext cx="11125200" cy="704850"/>
          </a:xfrm>
          <a:prstGeom xmlns:a="http://schemas.openxmlformats.org/drawingml/2006/main" prst="roundRect">
            <a:avLst>
              <a:gd name="adj" fmla="val 16216"/>
            </a:avLst>
          </a:prstGeom>
          <a:solidFill xmlns:a="http://schemas.openxmlformats.org/drawingml/2006/main">
            <a:srgbClr val="FFF4D5"/>
          </a:solidFill>
          <a:ln xmlns:a="http://schemas.openxmlformats.org/drawingml/2006/main" w="9525">
            <a:solidFill>
              <a:srgbClr val="E7C87E"/>
            </a:solidFill>
            <a:prstDash val="solid"/>
          </a:ln>
        </p:spPr>
      </p:sp>
      <p:sp>
        <p:nvSpPr>
          <p:cNvPr id="19" name="starter-label">
            <a:extLst xmlns:a="http://schemas.openxmlformats.org/drawingml/2006/main">
              <a:ext uri="{FF2B5EF4-FFF2-40B4-BE49-F238E27FC236}">
                <a16:creationId xmlns:a16="http://schemas.microsoft.com/office/drawing/2014/main" id="{C8283A18-5648-455D-82C8-9D77C664D570}"/>
              </a:ext>
            </a:extLst>
          </p:cNvPr>
          <p:cNvSpPr>
            <a:spLocks xmlns:a="http://schemas.openxmlformats.org/drawingml/2006/main" noGrp="1"/>
          </p:cNvSpPr>
          <p:nvPr/>
        </p:nvSpPr>
        <p:spPr>
          <a:xfrm xmlns:a="http://schemas.openxmlformats.org/drawingml/2006/main">
            <a:off x="742950" y="5581650"/>
            <a:ext cx="1524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900" b="1">
                <a:solidFill>
                  <a:srgbClr val="BF4C5A"/>
                </a:solidFill>
                <a:latin typeface="Aptos"/>
                <a:ea typeface="Aptos"/>
                <a:cs typeface="Aptos"/>
              </a:defRPr>
            </a:pPr>
            <a:r>
              <a:rPr sz="900" b="1">
                <a:solidFill>
                  <a:srgbClr val="BF4C5A"/>
                </a:solidFill>
                <a:latin typeface="Aptos"/>
                <a:ea typeface="Aptos"/>
                <a:cs typeface="Aptos"/>
              </a:rPr>
              <a:t>SENTENCE STARTER</a:t>
            </a:r>
          </a:p>
        </p:txBody>
      </p:sp>
      <p:sp>
        <p:nvSpPr>
          <p:cNvPr id="20" name="starter-text">
            <a:extLst xmlns:a="http://schemas.openxmlformats.org/drawingml/2006/main">
              <a:ext uri="{FF2B5EF4-FFF2-40B4-BE49-F238E27FC236}">
                <a16:creationId xmlns:a16="http://schemas.microsoft.com/office/drawing/2014/main" id="{70E335CD-FEB4-41CE-93FE-394F77101895}"/>
              </a:ext>
            </a:extLst>
          </p:cNvPr>
          <p:cNvSpPr>
            <a:spLocks xmlns:a="http://schemas.openxmlformats.org/drawingml/2006/main" noGrp="1"/>
          </p:cNvSpPr>
          <p:nvPr/>
        </p:nvSpPr>
        <p:spPr>
          <a:xfrm xmlns:a="http://schemas.openxmlformats.org/drawingml/2006/main">
            <a:off x="2381250" y="5553075"/>
            <a:ext cx="895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defRPr sz="1350" b="1">
                <a:solidFill>
                  <a:srgbClr val="20302E"/>
                </a:solidFill>
                <a:latin typeface="Aptos"/>
                <a:ea typeface="Aptos"/>
                <a:cs typeface="Aptos"/>
              </a:defRPr>
            </a:pPr>
            <a:r>
              <a:rPr sz="1350" b="1">
                <a:solidFill>
                  <a:srgbClr val="20302E"/>
                </a:solidFill>
                <a:latin typeface="Aptos"/>
                <a:ea typeface="Aptos"/>
                <a:cs typeface="Aptos"/>
              </a:rPr>
              <a:t>The strongest evidence is … because it shows … This changes my decision by …</a:t>
            </a:r>
          </a:p>
        </p:txBody>
      </p:sp>
      <p:sp>
        <p:nvSpPr>
          <p:cNvPr id="21" name="footer-module">
            <a:extLst xmlns:a="http://schemas.openxmlformats.org/drawingml/2006/main">
              <a:ext uri="{FF2B5EF4-FFF2-40B4-BE49-F238E27FC236}">
                <a16:creationId xmlns:a16="http://schemas.microsoft.com/office/drawing/2014/main" id="{366A6EBF-0A6F-489F-A018-E0CB86F2E899}"/>
              </a:ext>
            </a:extLst>
          </p:cNvPr>
          <p:cNvSpPr>
            <a:spLocks xmlns:a="http://schemas.openxmlformats.org/drawingml/2006/main" noGrp="1"/>
          </p:cNvSpPr>
          <p:nvPr/>
        </p:nvSpPr>
        <p:spPr>
          <a:xfrm xmlns:a="http://schemas.openxmlformats.org/drawingml/2006/main">
            <a:off x="533400" y="6496050"/>
            <a:ext cx="4000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900" b="1">
                <a:solidFill>
                  <a:srgbClr val="566662"/>
                </a:solidFill>
                <a:latin typeface="Aptos"/>
                <a:ea typeface="Aptos"/>
                <a:cs typeface="Aptos"/>
              </a:defRPr>
            </a:pPr>
            <a:r>
              <a:rPr sz="900" b="1">
                <a:solidFill>
                  <a:srgbClr val="566662"/>
                </a:solidFill>
                <a:latin typeface="Aptos"/>
                <a:ea typeface="Aptos"/>
                <a:cs typeface="Aptos"/>
              </a:rPr>
              <a:t>SEW AWESOME  •  MODULE 01</a:t>
            </a:r>
          </a:p>
        </p:txBody>
      </p:sp>
      <p:sp>
        <p:nvSpPr>
          <p:cNvPr id="22" name="footer-page">
            <a:extLst xmlns:a="http://schemas.openxmlformats.org/drawingml/2006/main">
              <a:ext uri="{FF2B5EF4-FFF2-40B4-BE49-F238E27FC236}">
                <a16:creationId xmlns:a16="http://schemas.microsoft.com/office/drawing/2014/main" id="{A8C389C1-10EB-40B8-BDB8-8B94995A38EC}"/>
              </a:ext>
            </a:extLst>
          </p:cNvPr>
          <p:cNvSpPr>
            <a:spLocks xmlns:a="http://schemas.openxmlformats.org/drawingml/2006/main" noGrp="1"/>
          </p:cNvSpPr>
          <p:nvPr/>
        </p:nvSpPr>
        <p:spPr>
          <a:xfrm xmlns:a="http://schemas.openxmlformats.org/drawingml/2006/main">
            <a:off x="11182350" y="6496050"/>
            <a:ext cx="476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defRPr sz="900" b="1">
                <a:solidFill>
                  <a:srgbClr val="566662"/>
                </a:solidFill>
                <a:latin typeface="Aptos"/>
                <a:ea typeface="Aptos"/>
                <a:cs typeface="Aptos"/>
              </a:defRPr>
            </a:pPr>
            <a:r>
              <a:rPr sz="900" b="1">
                <a:solidFill>
                  <a:srgbClr val="566662"/>
                </a:solidFill>
                <a:latin typeface="Aptos"/>
                <a:ea typeface="Aptos"/>
                <a:cs typeface="Aptos"/>
              </a:rPr>
              <a:t>07</a:t>
            </a:r>
          </a:p>
        </p:txBody>
      </p:sp>
    </p:spTree>
    <p:extLst>
      <p:ext uri="{BB962C8B-B14F-4D97-AF65-F5344CB8AC3E}">
        <p14:creationId xmlns:p14="http://schemas.microsoft.com/office/powerpoint/2010/main" val="571889850"/>
      </p:ext>
    </p:extLst>
  </p:cSld>
</p:sld>
</file>

<file path=ppt/slides/slide8.xml><?xml version="1.0" encoding="utf-8"?>
<p:sld xmlns:p="http://schemas.openxmlformats.org/presentationml/2006/main">
  <p:cSld>
    <p:bg>
      <p:bgPr>
        <a:solidFill xmlns:a="http://schemas.openxmlformats.org/drawingml/2006/main">
          <a:srgbClr val="BF4C5A"/>
        </a:solidFill>
      </p:bgPr>
    </p:bg>
    <p:spTree>
      <p:nvGrpSpPr>
        <p:cNvPr id="1" name=""/>
        <p:cNvGrpSpPr/>
        <p:nvPr/>
      </p:nvGrpSpPr>
      <p:grpSpPr>
        <a:xfrm xmlns:a="http://schemas.openxmlformats.org/drawingml/2006/main"/>
      </p:grpSpPr>
      <p:sp>
        <p:nvSpPr>
          <p:cNvPr id="18" name="top-rule">
            <a:extLst xmlns:a="http://schemas.openxmlformats.org/drawingml/2006/main">
              <a:ext uri="{FF2B5EF4-FFF2-40B4-BE49-F238E27FC236}">
                <a16:creationId xmlns:a16="http://schemas.microsoft.com/office/drawing/2014/main" id="{4E1C1FDE-9D42-4DFF-A40D-5D10BBD1DE33}"/>
              </a:ext>
            </a:extLst>
          </p:cNvPr>
          <p:cNvSpPr>
            <a:spLocks xmlns:a="http://schemas.openxmlformats.org/drawingml/2006/main" noGrp="1"/>
          </p:cNvSpPr>
          <p:nvPr/>
        </p:nvSpPr>
        <p:spPr>
          <a:xfrm xmlns:a="http://schemas.openxmlformats.org/drawingml/2006/main">
            <a:off x="0" y="0"/>
            <a:ext cx="12192000" cy="95250"/>
          </a:xfrm>
          <a:prstGeom xmlns:a="http://schemas.openxmlformats.org/drawingml/2006/main" prst="rect">
            <a:avLst/>
          </a:prstGeom>
          <a:solidFill xmlns:a="http://schemas.openxmlformats.org/drawingml/2006/main">
            <a:srgbClr val="D49A34"/>
          </a:solidFill>
          <a:ln xmlns:a="http://schemas.openxmlformats.org/drawingml/2006/main" w="0">
            <a:noFill/>
            <a:prstDash val="solid"/>
          </a:ln>
        </p:spPr>
      </p:sp>
      <p:sp>
        <p:nvSpPr>
          <p:cNvPr id="2" name="eyebrow">
            <a:extLst xmlns:a="http://schemas.openxmlformats.org/drawingml/2006/main">
              <a:ext uri="{FF2B5EF4-FFF2-40B4-BE49-F238E27FC236}">
                <a16:creationId xmlns:a16="http://schemas.microsoft.com/office/drawing/2014/main" id="{26D65375-CED5-42B4-B4C0-6AEC0703B2A2}"/>
              </a:ext>
            </a:extLst>
          </p:cNvPr>
          <p:cNvSpPr>
            <a:spLocks xmlns:a="http://schemas.openxmlformats.org/drawingml/2006/main" noGrp="1"/>
          </p:cNvSpPr>
          <p:nvPr/>
        </p:nvSpPr>
        <p:spPr>
          <a:xfrm xmlns:a="http://schemas.openxmlformats.org/drawingml/2006/main">
            <a:off x="533400" y="323850"/>
            <a:ext cx="4000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1050" b="1">
                <a:solidFill>
                  <a:srgbClr val="FFF0BF"/>
                </a:solidFill>
                <a:latin typeface="Aptos"/>
                <a:ea typeface="Aptos"/>
                <a:cs typeface="Aptos"/>
              </a:defRPr>
            </a:pPr>
            <a:r>
              <a:rPr sz="1050" b="1">
                <a:solidFill>
                  <a:srgbClr val="FFF0BF"/>
                </a:solidFill>
                <a:latin typeface="Aptos"/>
                <a:ea typeface="Aptos"/>
                <a:cs typeface="Aptos"/>
              </a:rPr>
              <a:t>CLOSE THE LOOP</a:t>
            </a:r>
          </a:p>
        </p:txBody>
      </p:sp>
      <p:sp>
        <p:nvSpPr>
          <p:cNvPr id="3" name="title">
            <a:extLst xmlns:a="http://schemas.openxmlformats.org/drawingml/2006/main">
              <a:ext uri="{FF2B5EF4-FFF2-40B4-BE49-F238E27FC236}">
                <a16:creationId xmlns:a16="http://schemas.microsoft.com/office/drawing/2014/main" id="{782DA32A-C966-4EE3-97BA-4C64961D8F2D}"/>
              </a:ext>
            </a:extLst>
          </p:cNvPr>
          <p:cNvSpPr>
            <a:spLocks xmlns:a="http://schemas.openxmlformats.org/drawingml/2006/main" noGrp="1"/>
          </p:cNvSpPr>
          <p:nvPr/>
        </p:nvSpPr>
        <p:spPr>
          <a:xfrm xmlns:a="http://schemas.openxmlformats.org/drawingml/2006/main">
            <a:off x="533400" y="819150"/>
            <a:ext cx="7429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nSpc>
                <a:spcPct val="94000"/>
              </a:lnSpc>
              <a:buNone/>
              <a:defRPr sz="3150" b="1">
                <a:solidFill>
                  <a:srgbClr val="FFFFFF"/>
                </a:solidFill>
                <a:latin typeface="Aptos Display"/>
                <a:ea typeface="Aptos Display"/>
                <a:cs typeface="Aptos Display"/>
              </a:defRPr>
            </a:pPr>
            <a:r>
              <a:rPr sz="3150" b="1">
                <a:solidFill>
                  <a:srgbClr val="FFFFFF"/>
                </a:solidFill>
                <a:latin typeface="Aptos Display"/>
                <a:ea typeface="Aptos Display"/>
                <a:cs typeface="Aptos Display"/>
              </a:rPr>
              <a:t>Before you pack up…</a:t>
            </a:r>
          </a:p>
        </p:txBody>
      </p:sp>
      <p:sp>
        <p:nvSpPr>
          <p:cNvPr id="4" name="exit-1">
            <a:extLst xmlns:a="http://schemas.openxmlformats.org/drawingml/2006/main">
              <a:ext uri="{FF2B5EF4-FFF2-40B4-BE49-F238E27FC236}">
                <a16:creationId xmlns:a16="http://schemas.microsoft.com/office/drawing/2014/main" id="{E4E5B334-5855-41B8-B796-04D6E0CAA3CF}"/>
              </a:ext>
            </a:extLst>
          </p:cNvPr>
          <p:cNvSpPr>
            <a:spLocks xmlns:a="http://schemas.openxmlformats.org/drawingml/2006/main" noGrp="1"/>
          </p:cNvSpPr>
          <p:nvPr/>
        </p:nvSpPr>
        <p:spPr>
          <a:xfrm xmlns:a="http://schemas.openxmlformats.org/drawingml/2006/main">
            <a:off x="533400" y="1790700"/>
            <a:ext cx="8096250" cy="609600"/>
          </a:xfrm>
          <a:prstGeom xmlns:a="http://schemas.openxmlformats.org/drawingml/2006/main" prst="roundRect">
            <a:avLst>
              <a:gd name="adj" fmla="val 18750"/>
            </a:avLst>
          </a:prstGeom>
          <a:solidFill xmlns:a="http://schemas.openxmlformats.org/drawingml/2006/main">
            <a:srgbClr val="FFFFFF"/>
          </a:solidFill>
          <a:ln xmlns:a="http://schemas.openxmlformats.org/drawingml/2006/main" w="9525">
            <a:solidFill>
              <a:srgbClr val="EAC2C8"/>
            </a:solidFill>
            <a:prstDash val="solid"/>
          </a:ln>
        </p:spPr>
      </p:sp>
      <p:sp>
        <p:nvSpPr>
          <p:cNvPr id="5" name="exit-text-1">
            <a:extLst xmlns:a="http://schemas.openxmlformats.org/drawingml/2006/main">
              <a:ext uri="{FF2B5EF4-FFF2-40B4-BE49-F238E27FC236}">
                <a16:creationId xmlns:a16="http://schemas.microsoft.com/office/drawing/2014/main" id="{2F5D3D50-9374-418B-AF10-AAAB98962F10}"/>
              </a:ext>
            </a:extLst>
          </p:cNvPr>
          <p:cNvSpPr>
            <a:spLocks xmlns:a="http://schemas.openxmlformats.org/drawingml/2006/main" noGrp="1"/>
          </p:cNvSpPr>
          <p:nvPr/>
        </p:nvSpPr>
        <p:spPr>
          <a:xfrm xmlns:a="http://schemas.openxmlformats.org/drawingml/2006/main">
            <a:off x="781050" y="1933575"/>
            <a:ext cx="7620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defRPr sz="1500" b="1">
                <a:solidFill>
                  <a:srgbClr val="20302E"/>
                </a:solidFill>
                <a:latin typeface="Aptos"/>
                <a:ea typeface="Aptos"/>
                <a:cs typeface="Aptos"/>
              </a:defRPr>
            </a:pPr>
            <a:r>
              <a:rPr sz="1500" b="1">
                <a:solidFill>
                  <a:srgbClr val="20302E"/>
                </a:solidFill>
                <a:latin typeface="Aptos"/>
                <a:ea typeface="Aptos"/>
                <a:cs typeface="Aptos"/>
              </a:rPr>
              <a:t>1. One idea I can now explain is…</a:t>
            </a:r>
          </a:p>
        </p:txBody>
      </p:sp>
      <p:sp>
        <p:nvSpPr>
          <p:cNvPr id="6" name="exit-2">
            <a:extLst xmlns:a="http://schemas.openxmlformats.org/drawingml/2006/main">
              <a:ext uri="{FF2B5EF4-FFF2-40B4-BE49-F238E27FC236}">
                <a16:creationId xmlns:a16="http://schemas.microsoft.com/office/drawing/2014/main" id="{524C7202-CF4F-4925-9B48-9713E5457FDC}"/>
              </a:ext>
            </a:extLst>
          </p:cNvPr>
          <p:cNvSpPr>
            <a:spLocks xmlns:a="http://schemas.openxmlformats.org/drawingml/2006/main" noGrp="1"/>
          </p:cNvSpPr>
          <p:nvPr/>
        </p:nvSpPr>
        <p:spPr>
          <a:xfrm xmlns:a="http://schemas.openxmlformats.org/drawingml/2006/main">
            <a:off x="533400" y="2628900"/>
            <a:ext cx="8096250" cy="609600"/>
          </a:xfrm>
          <a:prstGeom xmlns:a="http://schemas.openxmlformats.org/drawingml/2006/main" prst="roundRect">
            <a:avLst>
              <a:gd name="adj" fmla="val 18750"/>
            </a:avLst>
          </a:prstGeom>
          <a:solidFill xmlns:a="http://schemas.openxmlformats.org/drawingml/2006/main">
            <a:srgbClr val="FFFFFF"/>
          </a:solidFill>
          <a:ln xmlns:a="http://schemas.openxmlformats.org/drawingml/2006/main" w="9525">
            <a:solidFill>
              <a:srgbClr val="EAC2C8"/>
            </a:solidFill>
            <a:prstDash val="solid"/>
          </a:ln>
        </p:spPr>
      </p:sp>
      <p:sp>
        <p:nvSpPr>
          <p:cNvPr id="7" name="exit-text-2">
            <a:extLst xmlns:a="http://schemas.openxmlformats.org/drawingml/2006/main">
              <a:ext uri="{FF2B5EF4-FFF2-40B4-BE49-F238E27FC236}">
                <a16:creationId xmlns:a16="http://schemas.microsoft.com/office/drawing/2014/main" id="{5AA08F53-1199-493F-A4D2-83FCB3D17D7C}"/>
              </a:ext>
            </a:extLst>
          </p:cNvPr>
          <p:cNvSpPr>
            <a:spLocks xmlns:a="http://schemas.openxmlformats.org/drawingml/2006/main" noGrp="1"/>
          </p:cNvSpPr>
          <p:nvPr/>
        </p:nvSpPr>
        <p:spPr>
          <a:xfrm xmlns:a="http://schemas.openxmlformats.org/drawingml/2006/main">
            <a:off x="781050" y="2771775"/>
            <a:ext cx="7620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defRPr sz="1500" b="1">
                <a:solidFill>
                  <a:srgbClr val="20302E"/>
                </a:solidFill>
                <a:latin typeface="Aptos"/>
                <a:ea typeface="Aptos"/>
                <a:cs typeface="Aptos"/>
              </a:defRPr>
            </a:pPr>
            <a:r>
              <a:rPr sz="1500" b="1">
                <a:solidFill>
                  <a:srgbClr val="20302E"/>
                </a:solidFill>
                <a:latin typeface="Aptos"/>
                <a:ea typeface="Aptos"/>
                <a:cs typeface="Aptos"/>
              </a:rPr>
              <a:t>2. One decision or practical action this changes is…</a:t>
            </a:r>
          </a:p>
        </p:txBody>
      </p:sp>
      <p:sp>
        <p:nvSpPr>
          <p:cNvPr id="8" name="exit-3">
            <a:extLst xmlns:a="http://schemas.openxmlformats.org/drawingml/2006/main">
              <a:ext uri="{FF2B5EF4-FFF2-40B4-BE49-F238E27FC236}">
                <a16:creationId xmlns:a16="http://schemas.microsoft.com/office/drawing/2014/main" id="{66A92048-173F-422D-B699-202DF50D080A}"/>
              </a:ext>
            </a:extLst>
          </p:cNvPr>
          <p:cNvSpPr>
            <a:spLocks xmlns:a="http://schemas.openxmlformats.org/drawingml/2006/main" noGrp="1"/>
          </p:cNvSpPr>
          <p:nvPr/>
        </p:nvSpPr>
        <p:spPr>
          <a:xfrm xmlns:a="http://schemas.openxmlformats.org/drawingml/2006/main">
            <a:off x="533400" y="3467100"/>
            <a:ext cx="8096250" cy="609600"/>
          </a:xfrm>
          <a:prstGeom xmlns:a="http://schemas.openxmlformats.org/drawingml/2006/main" prst="roundRect">
            <a:avLst>
              <a:gd name="adj" fmla="val 18750"/>
            </a:avLst>
          </a:prstGeom>
          <a:solidFill xmlns:a="http://schemas.openxmlformats.org/drawingml/2006/main">
            <a:srgbClr val="FFFFFF"/>
          </a:solidFill>
          <a:ln xmlns:a="http://schemas.openxmlformats.org/drawingml/2006/main" w="9525">
            <a:solidFill>
              <a:srgbClr val="EAC2C8"/>
            </a:solidFill>
            <a:prstDash val="solid"/>
          </a:ln>
        </p:spPr>
      </p:sp>
      <p:sp>
        <p:nvSpPr>
          <p:cNvPr id="9" name="exit-text-3">
            <a:extLst xmlns:a="http://schemas.openxmlformats.org/drawingml/2006/main">
              <a:ext uri="{FF2B5EF4-FFF2-40B4-BE49-F238E27FC236}">
                <a16:creationId xmlns:a16="http://schemas.microsoft.com/office/drawing/2014/main" id="{D015AB46-6E14-49A6-AE41-ADE3F2F84ABA}"/>
              </a:ext>
            </a:extLst>
          </p:cNvPr>
          <p:cNvSpPr>
            <a:spLocks xmlns:a="http://schemas.openxmlformats.org/drawingml/2006/main" noGrp="1"/>
          </p:cNvSpPr>
          <p:nvPr/>
        </p:nvSpPr>
        <p:spPr>
          <a:xfrm xmlns:a="http://schemas.openxmlformats.org/drawingml/2006/main">
            <a:off x="781050" y="3609975"/>
            <a:ext cx="7620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defRPr sz="1500" b="1">
                <a:solidFill>
                  <a:srgbClr val="20302E"/>
                </a:solidFill>
                <a:latin typeface="Aptos"/>
                <a:ea typeface="Aptos"/>
                <a:cs typeface="Aptos"/>
              </a:defRPr>
            </a:pPr>
            <a:r>
              <a:rPr sz="1500" b="1">
                <a:solidFill>
                  <a:srgbClr val="20302E"/>
                </a:solidFill>
                <a:latin typeface="Aptos"/>
                <a:ea typeface="Aptos"/>
                <a:cs typeface="Aptos"/>
              </a:rPr>
              <a:t>3. One question I still need answered is…</a:t>
            </a:r>
          </a:p>
        </p:txBody>
      </p:sp>
      <p:sp>
        <p:nvSpPr>
          <p:cNvPr id="10" name="evidence-circle">
            <a:extLst xmlns:a="http://schemas.openxmlformats.org/drawingml/2006/main">
              <a:ext uri="{FF2B5EF4-FFF2-40B4-BE49-F238E27FC236}">
                <a16:creationId xmlns:a16="http://schemas.microsoft.com/office/drawing/2014/main" id="{B0A88A45-50A0-41AF-9B32-049636EEF0CB}"/>
              </a:ext>
            </a:extLst>
          </p:cNvPr>
          <p:cNvSpPr>
            <a:spLocks xmlns:a="http://schemas.openxmlformats.org/drawingml/2006/main" noGrp="1"/>
          </p:cNvSpPr>
          <p:nvPr/>
        </p:nvSpPr>
        <p:spPr>
          <a:xfrm xmlns:a="http://schemas.openxmlformats.org/drawingml/2006/main">
            <a:off x="9277350" y="2019300"/>
            <a:ext cx="1676400" cy="1676400"/>
          </a:xfrm>
          <a:prstGeom xmlns:a="http://schemas.openxmlformats.org/drawingml/2006/main" prst="ellipse">
            <a:avLst/>
          </a:prstGeom>
          <a:solidFill xmlns:a="http://schemas.openxmlformats.org/drawingml/2006/main">
            <a:srgbClr val="D49A34"/>
          </a:solidFill>
          <a:ln xmlns:a="http://schemas.openxmlformats.org/drawingml/2006/main" w="9525">
            <a:solidFill>
              <a:srgbClr val="D49A34"/>
            </a:solidFill>
            <a:prstDash val="solid"/>
          </a:ln>
        </p:spPr>
      </p:sp>
      <p:sp>
        <p:nvSpPr>
          <p:cNvPr id="11" name="evidence-destination">
            <a:extLst xmlns:a="http://schemas.openxmlformats.org/drawingml/2006/main">
              <a:ext uri="{FF2B5EF4-FFF2-40B4-BE49-F238E27FC236}">
                <a16:creationId xmlns:a16="http://schemas.microsoft.com/office/drawing/2014/main" id="{183E3AA6-3C01-4EB1-BF08-E4D5EC095855}"/>
              </a:ext>
            </a:extLst>
          </p:cNvPr>
          <p:cNvSpPr>
            <a:spLocks xmlns:a="http://schemas.openxmlformats.org/drawingml/2006/main" noGrp="1"/>
          </p:cNvSpPr>
          <p:nvPr/>
        </p:nvSpPr>
        <p:spPr>
          <a:xfrm xmlns:a="http://schemas.openxmlformats.org/drawingml/2006/main">
            <a:off x="9496425" y="2362200"/>
            <a:ext cx="12382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00" b="1">
                <a:solidFill>
                  <a:srgbClr val="0C4E4A"/>
                </a:solidFill>
                <a:latin typeface="Aptos"/>
                <a:ea typeface="Aptos"/>
                <a:cs typeface="Aptos"/>
              </a:defRPr>
            </a:pPr>
            <a:r>
              <a:rPr sz="1500" b="1">
                <a:solidFill>
                  <a:srgbClr val="0C4E4A"/>
                </a:solidFill>
                <a:latin typeface="Aptos"/>
                <a:ea typeface="Aptos"/>
                <a:cs typeface="Aptos"/>
              </a:rPr>
              <a:t>SAVE</a:t>
            </a:r>
          </a:p>
          <a:p xmlns:a="http://schemas.openxmlformats.org/drawingml/2006/main">
            <a:pPr algn="ctr">
              <a:defRPr sz="1500" b="1">
                <a:solidFill>
                  <a:srgbClr val="0C4E4A"/>
                </a:solidFill>
                <a:latin typeface="Aptos"/>
                <a:ea typeface="Aptos"/>
                <a:cs typeface="Aptos"/>
              </a:defRPr>
            </a:pPr>
            <a:r>
              <a:rPr sz="1500" b="1">
                <a:solidFill>
                  <a:srgbClr val="0C4E4A"/>
                </a:solidFill>
                <a:latin typeface="Aptos"/>
                <a:ea typeface="Aptos"/>
                <a:cs typeface="Aptos"/>
              </a:rPr>
              <a:t>MY FOLIO</a:t>
            </a:r>
          </a:p>
          <a:p xmlns:a="http://schemas.openxmlformats.org/drawingml/2006/main">
            <a:pPr algn="ctr">
              <a:defRPr sz="1500" b="1">
                <a:solidFill>
                  <a:srgbClr val="0C4E4A"/>
                </a:solidFill>
                <a:latin typeface="Aptos"/>
                <a:ea typeface="Aptos"/>
                <a:cs typeface="Aptos"/>
              </a:defRPr>
            </a:pPr>
            <a:r>
              <a:rPr sz="1500" b="1">
                <a:solidFill>
                  <a:srgbClr val="0C4E4A"/>
                </a:solidFill>
                <a:latin typeface="Aptos"/>
                <a:ea typeface="Aptos"/>
                <a:cs typeface="Aptos"/>
              </a:rPr>
              <a:t>MODULE 1</a:t>
            </a:r>
          </a:p>
        </p:txBody>
      </p:sp>
      <p:sp>
        <p:nvSpPr>
          <p:cNvPr id="12" name="teacher-confirm">
            <a:extLst xmlns:a="http://schemas.openxmlformats.org/drawingml/2006/main">
              <a:ext uri="{FF2B5EF4-FFF2-40B4-BE49-F238E27FC236}">
                <a16:creationId xmlns:a16="http://schemas.microsoft.com/office/drawing/2014/main" id="{6B189EEB-4682-4192-AA92-0390615DB58E}"/>
              </a:ext>
            </a:extLst>
          </p:cNvPr>
          <p:cNvSpPr>
            <a:spLocks xmlns:a="http://schemas.openxmlformats.org/drawingml/2006/main" noGrp="1"/>
          </p:cNvSpPr>
          <p:nvPr/>
        </p:nvSpPr>
        <p:spPr>
          <a:xfrm xmlns:a="http://schemas.openxmlformats.org/drawingml/2006/main">
            <a:off x="533400" y="4438650"/>
            <a:ext cx="11125200" cy="819150"/>
          </a:xfrm>
          <a:prstGeom xmlns:a="http://schemas.openxmlformats.org/drawingml/2006/main" prst="roundRect">
            <a:avLst>
              <a:gd name="adj" fmla="val 13953"/>
            </a:avLst>
          </a:prstGeom>
          <a:solidFill xmlns:a="http://schemas.openxmlformats.org/drawingml/2006/main">
            <a:srgbClr val="8F3340"/>
          </a:solidFill>
          <a:ln xmlns:a="http://schemas.openxmlformats.org/drawingml/2006/main" w="9525">
            <a:solidFill>
              <a:srgbClr val="D9828E"/>
            </a:solidFill>
            <a:prstDash val="solid"/>
          </a:ln>
        </p:spPr>
      </p:sp>
      <p:sp>
        <p:nvSpPr>
          <p:cNvPr id="13" name="teacher-confirm-text">
            <a:extLst xmlns:a="http://schemas.openxmlformats.org/drawingml/2006/main">
              <a:ext uri="{FF2B5EF4-FFF2-40B4-BE49-F238E27FC236}">
                <a16:creationId xmlns:a16="http://schemas.microsoft.com/office/drawing/2014/main" id="{FA288D7C-2A20-4805-9C92-345835D593C7}"/>
              </a:ext>
            </a:extLst>
          </p:cNvPr>
          <p:cNvSpPr>
            <a:spLocks xmlns:a="http://schemas.openxmlformats.org/drawingml/2006/main" noGrp="1"/>
          </p:cNvSpPr>
          <p:nvPr/>
        </p:nvSpPr>
        <p:spPr>
          <a:xfrm xmlns:a="http://schemas.openxmlformats.org/drawingml/2006/main">
            <a:off x="742950" y="4572000"/>
            <a:ext cx="10706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defRPr sz="1275" b="1">
                <a:solidFill>
                  <a:srgbClr val="FFFFFF"/>
                </a:solidFill>
                <a:latin typeface="Aptos"/>
                <a:ea typeface="Aptos"/>
                <a:cs typeface="Aptos"/>
              </a:defRPr>
            </a:pPr>
            <a:r>
              <a:rPr sz="1275" b="1">
                <a:solidFill>
                  <a:srgbClr val="FFFFFF"/>
                </a:solidFill>
                <a:latin typeface="Aptos"/>
                <a:ea typeface="Aptos"/>
                <a:cs typeface="Aptos"/>
              </a:rPr>
              <a:t>TEACHER TO CONFIRM  •  Exact local project wording; Required bag pathway and dimensions</a:t>
            </a:r>
          </a:p>
        </p:txBody>
      </p:sp>
      <p:sp>
        <p:nvSpPr>
          <p:cNvPr id="14" name="next-step-label">
            <a:extLst xmlns:a="http://schemas.openxmlformats.org/drawingml/2006/main">
              <a:ext uri="{FF2B5EF4-FFF2-40B4-BE49-F238E27FC236}">
                <a16:creationId xmlns:a16="http://schemas.microsoft.com/office/drawing/2014/main" id="{0FF69FEB-4672-48E8-A692-B237FBF7372F}"/>
              </a:ext>
            </a:extLst>
          </p:cNvPr>
          <p:cNvSpPr>
            <a:spLocks xmlns:a="http://schemas.openxmlformats.org/drawingml/2006/main" noGrp="1"/>
          </p:cNvSpPr>
          <p:nvPr/>
        </p:nvSpPr>
        <p:spPr>
          <a:xfrm xmlns:a="http://schemas.openxmlformats.org/drawingml/2006/main">
            <a:off x="533400" y="5543550"/>
            <a:ext cx="1143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900" b="1">
                <a:solidFill>
                  <a:srgbClr val="FFF0BF"/>
                </a:solidFill>
                <a:latin typeface="Aptos"/>
                <a:ea typeface="Aptos"/>
                <a:cs typeface="Aptos"/>
              </a:defRPr>
            </a:pPr>
            <a:r>
              <a:rPr sz="900" b="1">
                <a:solidFill>
                  <a:srgbClr val="FFF0BF"/>
                </a:solidFill>
                <a:latin typeface="Aptos"/>
                <a:ea typeface="Aptos"/>
                <a:cs typeface="Aptos"/>
              </a:rPr>
              <a:t>NEXT STEP</a:t>
            </a:r>
          </a:p>
        </p:txBody>
      </p:sp>
      <p:sp>
        <p:nvSpPr>
          <p:cNvPr id="15" name="next-step">
            <a:extLst xmlns:a="http://schemas.openxmlformats.org/drawingml/2006/main">
              <a:ext uri="{FF2B5EF4-FFF2-40B4-BE49-F238E27FC236}">
                <a16:creationId xmlns:a16="http://schemas.microsoft.com/office/drawing/2014/main" id="{CB3B7233-A3DB-4EA5-8FD4-B22BDAF61291}"/>
              </a:ext>
            </a:extLst>
          </p:cNvPr>
          <p:cNvSpPr>
            <a:spLocks xmlns:a="http://schemas.openxmlformats.org/drawingml/2006/main" noGrp="1"/>
          </p:cNvSpPr>
          <p:nvPr/>
        </p:nvSpPr>
        <p:spPr>
          <a:xfrm xmlns:a="http://schemas.openxmlformats.org/drawingml/2006/main">
            <a:off x="1676400" y="5486400"/>
            <a:ext cx="99822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defRPr sz="1350" b="1">
                <a:solidFill>
                  <a:srgbClr val="FFFFFF"/>
                </a:solidFill>
                <a:latin typeface="Aptos"/>
                <a:ea typeface="Aptos"/>
                <a:cs typeface="Aptos"/>
              </a:defRPr>
            </a:pPr>
            <a:r>
              <a:rPr sz="1350" b="1">
                <a:solidFill>
                  <a:srgbClr val="FFFFFF"/>
                </a:solidFill>
                <a:latin typeface="Aptos"/>
                <a:ea typeface="Aptos"/>
                <a:cs typeface="Aptos"/>
              </a:rPr>
              <a:t>Students will learn safe textile-room practices before practical work.</a:t>
            </a:r>
          </a:p>
        </p:txBody>
      </p:sp>
      <p:sp>
        <p:nvSpPr>
          <p:cNvPr id="16" name="status-boundary">
            <a:extLst xmlns:a="http://schemas.openxmlformats.org/drawingml/2006/main">
              <a:ext uri="{FF2B5EF4-FFF2-40B4-BE49-F238E27FC236}">
                <a16:creationId xmlns:a16="http://schemas.microsoft.com/office/drawing/2014/main" id="{74F7E98E-62C0-4D9E-95A4-903418D4550F}"/>
              </a:ext>
            </a:extLst>
          </p:cNvPr>
          <p:cNvSpPr>
            <a:spLocks xmlns:a="http://schemas.openxmlformats.org/drawingml/2006/main" noGrp="1"/>
          </p:cNvSpPr>
          <p:nvPr/>
        </p:nvSpPr>
        <p:spPr>
          <a:xfrm xmlns:a="http://schemas.openxmlformats.org/drawingml/2006/main">
            <a:off x="533400" y="6191250"/>
            <a:ext cx="8858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defRPr sz="975">
                <a:solidFill>
                  <a:srgbClr val="FBE5E8"/>
                </a:solidFill>
                <a:latin typeface="Aptos"/>
                <a:ea typeface="Aptos"/>
                <a:cs typeface="Aptos"/>
              </a:defRPr>
            </a:pPr>
            <a:r>
              <a:rPr sz="975">
                <a:solidFill>
                  <a:srgbClr val="FBE5E8"/>
                </a:solidFill>
                <a:latin typeface="Aptos"/>
                <a:ea typeface="Aptos"/>
                <a:cs typeface="Aptos"/>
              </a:rPr>
              <a:t>Formative classroom evidence only — follow your teacher’s current submission process.</a:t>
            </a:r>
          </a:p>
        </p:txBody>
      </p:sp>
      <p:sp>
        <p:nvSpPr>
          <p:cNvPr id="17" name="page">
            <a:extLst xmlns:a="http://schemas.openxmlformats.org/drawingml/2006/main">
              <a:ext uri="{FF2B5EF4-FFF2-40B4-BE49-F238E27FC236}">
                <a16:creationId xmlns:a16="http://schemas.microsoft.com/office/drawing/2014/main" id="{F849908C-FA10-4B92-899B-E14609344092}"/>
              </a:ext>
            </a:extLst>
          </p:cNvPr>
          <p:cNvSpPr>
            <a:spLocks xmlns:a="http://schemas.openxmlformats.org/drawingml/2006/main" noGrp="1"/>
          </p:cNvSpPr>
          <p:nvPr/>
        </p:nvSpPr>
        <p:spPr>
          <a:xfrm xmlns:a="http://schemas.openxmlformats.org/drawingml/2006/main">
            <a:off x="11182350" y="619125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Autofit/>
          </a:bodyPr>
          <a:lstStyle xmlns:a="http://schemas.openxmlformats.org/drawingml/2006/main"/>
          <a:p xmlns:a="http://schemas.openxmlformats.org/drawingml/2006/main">
            <a:pPr algn="r">
              <a:defRPr sz="900" b="1">
                <a:solidFill>
                  <a:srgbClr val="FBE5E8"/>
                </a:solidFill>
                <a:latin typeface="Aptos"/>
                <a:ea typeface="Aptos"/>
                <a:cs typeface="Aptos"/>
              </a:defRPr>
            </a:pPr>
            <a:r>
              <a:rPr sz="900" b="1">
                <a:solidFill>
                  <a:srgbClr val="FBE5E8"/>
                </a:solidFill>
                <a:latin typeface="Aptos"/>
                <a:ea typeface="Aptos"/>
                <a:cs typeface="Aptos"/>
              </a:rPr>
              <a:t>08</a:t>
            </a:r>
          </a:p>
        </p:txBody>
      </p:sp>
    </p:spTree>
    <p:extLst>
      <p:ext uri="{BB962C8B-B14F-4D97-AF65-F5344CB8AC3E}">
        <p14:creationId xmlns:p14="http://schemas.microsoft.com/office/powerpoint/2010/main" val="130413150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2026-08-27T08:40:30.7400000Z</dcterms:created>
  <dcterms:modified xsi:type="dcterms:W3CDTF">2026-08-27T08:40:30.7400000Z</dcterms:modified>
</coreProperties>
</file>