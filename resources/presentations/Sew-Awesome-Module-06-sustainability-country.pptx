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c8164305c741fd" /><Relationship Type="http://schemas.openxmlformats.org/officeDocument/2006/relationships/extended-properties" Target="/docProps/app.xml" Id="Rab961062e48f44f6" /><Relationship Type="http://schemas.openxmlformats.org/officeDocument/2006/relationships/officeDocument" Target="/ppt/presentation.xml" Id="Rab6280c2863e48bf" /></Relationships>
</file>

<file path=ppt/presentation.xml><?xml version="1.0" encoding="utf-8"?>
<p:presentation xmlns:p="http://schemas.openxmlformats.org/presentationml/2006/main">
  <p:sldMasterIdLst>
    <p:sldMasterId xmlns:r="http://schemas.openxmlformats.org/officeDocument/2006/relationships" id="2147483648" r:id="R53e7ef87f9fe49d9"/>
  </p:sldMasterIdLst>
  <p:notesMasterIdLst>
    <p:notesMasterId xmlns:r="http://schemas.openxmlformats.org/officeDocument/2006/relationships" r:id="R066d96dd330045d8"/>
  </p:notesMasterIdLst>
  <p:sldIdLst>
    <p:sldId xmlns:r="http://schemas.openxmlformats.org/officeDocument/2006/relationships" id="256" r:id="R1b88f646393147b4"/>
    <p:sldId xmlns:r="http://schemas.openxmlformats.org/officeDocument/2006/relationships" id="257" r:id="Reef2f8d8f0d9497f"/>
    <p:sldId xmlns:r="http://schemas.openxmlformats.org/officeDocument/2006/relationships" id="258" r:id="Rac55293045ac4970"/>
    <p:sldId xmlns:r="http://schemas.openxmlformats.org/officeDocument/2006/relationships" id="259" r:id="Rb421e0a23b174591"/>
    <p:sldId xmlns:r="http://schemas.openxmlformats.org/officeDocument/2006/relationships" id="260" r:id="R15f1ffe142cf4051"/>
    <p:sldId xmlns:r="http://schemas.openxmlformats.org/officeDocument/2006/relationships" id="261" r:id="R09bfafd02bd048a1"/>
    <p:sldId xmlns:r="http://schemas.openxmlformats.org/officeDocument/2006/relationships" id="262" r:id="Rcf1c2b6649b4457a"/>
    <p:sldId xmlns:r="http://schemas.openxmlformats.org/officeDocument/2006/relationships" id="263" r:id="R037abdabdf0142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083a85c80e4e3a" /><Relationship Type="http://schemas.openxmlformats.org/officeDocument/2006/relationships/slideMaster" Target="/ppt/slideMasters/slideMaster1.xml" Id="R53e7ef87f9fe49d9" /><Relationship Type="http://schemas.openxmlformats.org/officeDocument/2006/relationships/notesMaster" Target="/ppt/notesMasters/notesMaster1.xml" Id="R066d96dd330045d8" /><Relationship Type="http://schemas.openxmlformats.org/officeDocument/2006/relationships/presProps" Target="/ppt/presProps.xml" Id="R65caa546a4a7436c" /><Relationship Type="http://schemas.openxmlformats.org/officeDocument/2006/relationships/tableStyles" Target="/ppt/tableStyles.xml" Id="Ra938128228f7480d" /><Relationship Type="http://schemas.openxmlformats.org/officeDocument/2006/relationships/slide" Target="/ppt/slides/slide1.xml" Id="R1b88f646393147b4" /><Relationship Type="http://schemas.openxmlformats.org/officeDocument/2006/relationships/slide" Target="/ppt/slides/slide2.xml" Id="Reef2f8d8f0d9497f" /><Relationship Type="http://schemas.openxmlformats.org/officeDocument/2006/relationships/slide" Target="/ppt/slides/slide3.xml" Id="Rac55293045ac4970" /><Relationship Type="http://schemas.openxmlformats.org/officeDocument/2006/relationships/slide" Target="/ppt/slides/slide4.xml" Id="Rb421e0a23b174591" /><Relationship Type="http://schemas.openxmlformats.org/officeDocument/2006/relationships/slide" Target="/ppt/slides/slide5.xml" Id="R15f1ffe142cf4051" /><Relationship Type="http://schemas.openxmlformats.org/officeDocument/2006/relationships/slide" Target="/ppt/slides/slide6.xml" Id="R09bfafd02bd048a1" /><Relationship Type="http://schemas.openxmlformats.org/officeDocument/2006/relationships/slide" Target="/ppt/slides/slide7.xml" Id="Rcf1c2b6649b4457a" /><Relationship Type="http://schemas.openxmlformats.org/officeDocument/2006/relationships/slide" Target="/ppt/slides/slide8.xml" Id="R037abdabdf0142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5a55a4c67a43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e71dcfd45d40ac" /><Relationship Type="http://schemas.openxmlformats.org/officeDocument/2006/relationships/notesMaster" Target="/ppt/notesMasters/notesMaster1.xml" Id="R24598de814f548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af360539044a15" /><Relationship Type="http://schemas.openxmlformats.org/officeDocument/2006/relationships/notesMaster" Target="/ppt/notesMasters/notesMaster1.xml" Id="R68a83f7305b640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eeb094b9b41a5" /><Relationship Type="http://schemas.openxmlformats.org/officeDocument/2006/relationships/notesMaster" Target="/ppt/notesMasters/notesMaster1.xml" Id="R722aaa7c488446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aa936b10e467b" /><Relationship Type="http://schemas.openxmlformats.org/officeDocument/2006/relationships/notesMaster" Target="/ppt/notesMasters/notesMaster1.xml" Id="R58c228d6ae3041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76ca99d59847d4" /><Relationship Type="http://schemas.openxmlformats.org/officeDocument/2006/relationships/notesMaster" Target="/ppt/notesMasters/notesMaster1.xml" Id="R2e7c5a1a46ba45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9407509c8a482c" /><Relationship Type="http://schemas.openxmlformats.org/officeDocument/2006/relationships/notesMaster" Target="/ppt/notesMasters/notesMaster1.xml" Id="Re566448138a449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2660bfbf574384" /><Relationship Type="http://schemas.openxmlformats.org/officeDocument/2006/relationships/notesMaster" Target="/ppt/notesMasters/notesMaster1.xml" Id="R0e41955a617e41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97c3e4e2d7441f" /><Relationship Type="http://schemas.openxmlformats.org/officeDocument/2006/relationships/notesMaster" Target="/ppt/notesMasters/notesMaster1.xml" Id="Re8a9cafa983c45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outcome: Examine textile and plastic impacts across a life cycle, learn respectful responsibilities around Country and ICIP, and design a reusable carry item that communicates environmental intent honestly.</a:t>
            </a:r>
          </a:p>
          <a:p xmlns:a="http://schemas.openxmlformats.org/drawingml/2006/main">
            <a:r>
              <a:t>Invite one student example or prediction before showing the learning map.</a:t>
            </a:r>
          </a:p>
          <a:p xmlns:a="http://schemas.openxmlformats.org/drawingml/2006/main">
            <a:r>
              <a:t>Transition: the module has three connected ideas, and each will end in a decision or evidence action.</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Matched teaching visual: sew-awesome-hero.png;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ideas as one learning pathway, not three disconnected topics.</a:t>
            </a:r>
          </a:p>
          <a:p xmlns:a="http://schemas.openxmlformats.org/drawingml/2006/main">
            <a:r>
              <a:t>Warm-up prompt: Students have used samples to compare material processes and justify one controlled improvement.</a:t>
            </a:r>
          </a:p>
          <a:p xmlns:a="http://schemas.openxmlformats.org/drawingml/2006/main">
            <a:r>
              <a:t>Ask one student to connect prior knowledge to the first section, then signpost the later evidence response.</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Develop life-cycle thinking so students can identify environmental trade-offs and propose realistic design responses rather than label a reusable item impact-free.</a:t>
            </a:r>
          </a:p>
          <a:p xmlns:a="http://schemas.openxmlformats.org/drawingml/2006/main">
            <a:r>
              <a:t>Visual purpose: Challenge appearance-only sustainability claims by prompting a whole-life evidence check.</a:t>
            </a:r>
          </a:p>
          <a:p xmlns:a="http://schemas.openxmlformats.org/drawingml/2006/main">
            <a:r>
              <a:t>Explain only what is shown: A still life places a reusable textile tote beside single-use bags and other carry items, creating a comparison without proving lower impact.</a:t>
            </a:r>
          </a:p>
          <a:p xmlns:a="http://schemas.openxmlformats.org/drawingml/2006/main">
            <a:r>
              <a:t>Student observation prompt: The tote looks reusable. What evidence about sourcing, production, repeated use, care, repair and end of life is still missing?</a:t>
            </a:r>
          </a:p>
          <a:p xmlns:a="http://schemas.openxmlformats.org/drawingml/2006/main">
            <a:r>
              <a:t>Applied activity: Trace one proposed bag feature through its likely life-cycle effects and identify an honest design response.</a:t>
            </a:r>
          </a:p>
          <a:p xmlns:a="http://schemas.openxmlformats.org/drawingml/2006/main">
            <a:r>
              <a:t>Transition: Students will broaden responsible design by considering Country, cultural context and ICIP.</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Matched teaching visual: visual-m06-s1.png;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Introduce diversity, context, Caring for Country and Indigenous Cultural and Intellectual Property so students respond respectfully without copying cultural expressions.</a:t>
            </a:r>
          </a:p>
          <a:p xmlns:a="http://schemas.openxmlformats.org/drawingml/2006/main">
            <a:r>
              <a:t>Visual purpose: Make respectful consultation, provenance and a paused design decision visible without inventing cultural authority.</a:t>
            </a:r>
          </a:p>
          <a:p xmlns:a="http://schemas.openxmlformats.org/drawingml/2006/main">
            <a:r>
              <a:t>Explain only what is shown: A respectful consultation workspace shows hands reviewing a plain carry-item prototype with blank source and design records while a decision remains paused.</a:t>
            </a:r>
          </a:p>
          <a:p xmlns:a="http://schemas.openxmlformats.org/drawingml/2006/main">
            <a:r>
              <a:t>Student observation prompt: What evidence shows the design decision is paused? What authority, permission or attribution must be confirmed before it continues?</a:t>
            </a:r>
          </a:p>
          <a:p xmlns:a="http://schemas.openxmlformats.org/drawingml/2006/main">
            <a:r>
              <a:t>Applied activity: Evaluate a fictional online image-source card and decide whether it provides enough authority for reuse.</a:t>
            </a:r>
          </a:p>
          <a:p xmlns:a="http://schemas.openxmlformats.org/drawingml/2006/main">
            <a:r>
              <a:t>Transition: Students will develop an original reusable design and communicate its environmental purpose honestly.</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Matched teaching visual: visual-m06-s2.png;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Connect user-centred function, useful life and truthful communication so students can develop an original reusable carry-item concept with testable intentions.</a:t>
            </a:r>
          </a:p>
          <a:p xmlns:a="http://schemas.openxmlformats.org/drawingml/2006/main">
            <a:r>
              <a:t>Visual purpose: Connect material choice, durable construction, repeated use, care and end-of-life review in a longer-use cycle.</a:t>
            </a:r>
          </a:p>
          <a:p xmlns:a="http://schemas.openxmlformats.org/drawingml/2006/main">
            <a:r>
              <a:t>Explain only what is shown: A durable carry bag is surrounded by material selection, repeated use, repair, clean offcuts and reusable end-of-life components.</a:t>
            </a:r>
          </a:p>
          <a:p xmlns:a="http://schemas.openxmlformats.org/drawingml/2006/main">
            <a:r>
              <a:t>Student observation prompt: Which part of the cycle would most reduce early replacement, and what project evidence would support that claim?</a:t>
            </a:r>
          </a:p>
          <a:p xmlns:a="http://schemas.openxmlformats.org/drawingml/2006/main">
            <a:r>
              <a:t>Applied activity: Transform a vague environmental slogan into a coherent and testable carry-item concept.</a:t>
            </a:r>
          </a:p>
          <a:p xmlns:a="http://schemas.openxmlformats.org/drawingml/2006/main">
            <a:r>
              <a:t>Transition: Students will convert these intentions into design factors and draft criteria for success.</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Matched teaching visual: visual-m06-s3.png;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silent thinking before pair talk so every student retrieves independently.</a:t>
            </a:r>
          </a:p>
          <a:p xmlns:a="http://schemas.openxmlformats.org/drawingml/2006/main">
            <a:r>
              <a:t>Ask students to justify, not merely name, one response.</a:t>
            </a:r>
          </a:p>
          <a:p xmlns:a="http://schemas.openxmlformats.org/drawingml/2006/main">
            <a:r>
              <a:t>Listen for whether students connect each answer to its module idea and evidence.</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response prompt aloud: Develop and justify a responsible concept for a reusable personal carry item that combines useful function with honest environmental communication.</a:t>
            </a:r>
          </a:p>
          <a:p xmlns:a="http://schemas.openxmlformats.org/drawingml/2006/main">
            <a:r>
              <a:t>Model one sentence that selects evidence and explains its significance.</a:t>
            </a:r>
          </a:p>
          <a:p xmlns:a="http://schemas.openxmlformats.org/drawingml/2006/main">
            <a:r>
              <a:t>Success criteria: Integrates user-centred function, useful life and original communication in a coherent concept. | Uses testable intentions and bounded environmental reasoning rather than unsupported claims.</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write all three exit statements before discussion.</a:t>
            </a:r>
          </a:p>
          <a:p xmlns:a="http://schemas.openxmlformats.org/drawingml/2006/main">
            <a:r>
              <a:t>Evidence destination: My folio, Module 6; this is formative browser-local evidence, not proof of formal submission.</a:t>
            </a:r>
          </a:p>
          <a:p xmlns:a="http://schemas.openxmlformats.org/drawingml/2006/main">
            <a:r>
              <a:t>Next learning link: Students will convert these intentions into design factors and draft criteria for success.</a:t>
            </a:r>
          </a:p>
          <a:p xmlns:a="http://schemas.openxmlformats.org/drawingml/2006/main">
            <a:r>
              <a:t>Likely misconceptions: Any reusable product automatically has no environmental impact. | Environmental impact occurs only when a product is thrown away.</a:t>
            </a:r>
          </a:p>
          <a:p xmlns:a="http://schemas.openxmlformats.org/drawingml/2006/main">
            <a:r>
              <a:t>Teacher to confirm: local Aboriginal community consultation pathway, preferred terminology and any approved imagery; approved cultural authority and source set for local learning; current local environmental design emphasis and final project wording.</a:t>
            </a:r>
          </a:p>
          <a:p xmlns:a="http://schemas.openxmlformats.org/drawingml/2006/main">
            <a:r>
              <a:t>[Sources]</a:t>
            </a:r>
          </a:p>
          <a:p xmlns:a="http://schemas.openxmlformats.org/drawingml/2006/main">
            <a:r>
              <a:t>- Authoritative course records: nesa-technology-7-8-2023,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ba9d5cfdb148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859ac80ac145d2" /><Relationship Type="http://schemas.openxmlformats.org/officeDocument/2006/relationships/slideLayout" Target="/ppt/slideLayouts/slideLayout1.xml" Id="R5b0c58316fcb43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0c58316fcb43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ac181372e74f83" /><Relationship Type="http://schemas.openxmlformats.org/officeDocument/2006/relationships/image" Target="/ppt/media/image.png" Id="R2040a194af6e4da8" /><Relationship Type="http://schemas.openxmlformats.org/officeDocument/2006/relationships/notesSlide" Target="/ppt/notesSlides/notesSlide1.xml" Id="R90f60d32f2ca4c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1459f1dffa44ad" /><Relationship Type="http://schemas.openxmlformats.org/officeDocument/2006/relationships/notesSlide" Target="/ppt/notesSlides/notesSlide2.xml" Id="R5808877bc67e42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c77a4db0ce4489" /><Relationship Type="http://schemas.openxmlformats.org/officeDocument/2006/relationships/image" Target="/ppt/media/image2.png" Id="R4d5b5737d64549d6" /><Relationship Type="http://schemas.openxmlformats.org/officeDocument/2006/relationships/notesSlide" Target="/ppt/notesSlides/notesSlide3.xml" Id="Rb593cecad24544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7db824cb8642c3" /><Relationship Type="http://schemas.openxmlformats.org/officeDocument/2006/relationships/image" Target="/ppt/media/image3.png" Id="Rc84772940659433c" /><Relationship Type="http://schemas.openxmlformats.org/officeDocument/2006/relationships/notesSlide" Target="/ppt/notesSlides/notesSlide4.xml" Id="Rd076d7cec58b4a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abd694ee7245e4" /><Relationship Type="http://schemas.openxmlformats.org/officeDocument/2006/relationships/image" Target="/ppt/media/image4.png" Id="Rcbf7d6468ecf4e71" /><Relationship Type="http://schemas.openxmlformats.org/officeDocument/2006/relationships/notesSlide" Target="/ppt/notesSlides/notesSlide5.xml" Id="R38614d6f7be741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8a6919e2ad4f89" /><Relationship Type="http://schemas.openxmlformats.org/officeDocument/2006/relationships/notesSlide" Target="/ppt/notesSlides/notesSlide6.xml" Id="Rcd3c6e76fb3045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a1edcb20ba45fd" /><Relationship Type="http://schemas.openxmlformats.org/officeDocument/2006/relationships/notesSlide" Target="/ppt/notesSlides/notesSlide7.xml" Id="R51abbdbd844944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a97dde41b048dd" /><Relationship Type="http://schemas.openxmlformats.org/officeDocument/2006/relationships/notesSlide" Target="/ppt/notesSlides/notesSlide8.xml" Id="R70259674ecce4443" /></Relationships>
</file>

<file path=ppt/slides/slide1.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pic>
        <p:nvPicPr>
          <p:cNvPr id="9" name="Teaching visual - Sew Awesome course identity: reusable textile carry items and sewing materials"/>
          <p:cNvPicPr>
            <a:picLocks xmlns:a="http://schemas.openxmlformats.org/drawingml/2006/main" noChangeAspect="1"/>
          </p:cNvPicPr>
          <p:nvPr/>
        </p:nvPicPr>
        <p:blipFill>
          <a:blip xmlns:r="http://schemas.openxmlformats.org/officeDocument/2006/relationships" xmlns:a="http://schemas.openxmlformats.org/drawingml/2006/main" r:embed="R2040a194af6e4da8"/>
          <a:srcRect xmlns:a="http://schemas.openxmlformats.org/drawingml/2006/main" l="26389" t="0" r="26389"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image-wash">
            <a:extLst xmlns:a="http://schemas.openxmlformats.org/drawingml/2006/main">
              <a:ext uri="{FF2B5EF4-FFF2-40B4-BE49-F238E27FC236}">
                <a16:creationId xmlns:a16="http://schemas.microsoft.com/office/drawing/2014/main" id="{346A1FDC-82A6-42B5-9B8D-321EF306CE24}"/>
              </a:ext>
            </a:extLst>
          </p:cNvPr>
          <p:cNvSpPr>
            <a:spLocks xmlns:a="http://schemas.openxmlformats.org/drawingml/2006/main" noGrp="1"/>
          </p:cNvSpPr>
          <p:nvPr/>
        </p:nvSpPr>
        <p:spPr>
          <a:xfrm xmlns:a="http://schemas.openxmlformats.org/drawingml/2006/main">
            <a:off x="7067550" y="0"/>
            <a:ext cx="857250" cy="6858000"/>
          </a:xfrm>
          <a:prstGeom xmlns:a="http://schemas.openxmlformats.org/drawingml/2006/main" prst="rect">
            <a:avLst/>
          </a:prstGeom>
          <a:gradFill xmlns:a="http://schemas.openxmlformats.org/drawingml/2006/main">
            <a:gsLst>
              <a:gs pos="0">
                <a:srgbClr val="0C4E4A"/>
              </a:gs>
              <a:gs pos="100000">
                <a:srgbClr val="0C4E4A">
                  <a:alpha val="0"/>
                </a:srgbClr>
              </a:gs>
            </a:gsLst>
            <a:lin ang="0"/>
          </a:gradFill>
          <a:ln xmlns:a="http://schemas.openxmlformats.org/drawingml/2006/main" w="0">
            <a:noFill/>
            <a:prstDash val="solid"/>
          </a:ln>
        </p:spPr>
      </p:sp>
      <p:sp>
        <p:nvSpPr>
          <p:cNvPr id="3" name="accent-rule">
            <a:extLst xmlns:a="http://schemas.openxmlformats.org/drawingml/2006/main">
              <a:ext uri="{FF2B5EF4-FFF2-40B4-BE49-F238E27FC236}">
                <a16:creationId xmlns:a16="http://schemas.microsoft.com/office/drawing/2014/main" id="{3CF79176-3297-4068-859F-CD2129EE4206}"/>
              </a:ext>
            </a:extLst>
          </p:cNvPr>
          <p:cNvSpPr>
            <a:spLocks xmlns:a="http://schemas.openxmlformats.org/drawingml/2006/main" noGrp="1"/>
          </p:cNvSpPr>
          <p:nvPr/>
        </p:nvSpPr>
        <p:spPr>
          <a:xfrm xmlns:a="http://schemas.openxmlformats.org/drawingml/2006/main">
            <a:off x="533400" y="628650"/>
            <a:ext cx="685800" cy="85725"/>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4" name="course-label">
            <a:extLst xmlns:a="http://schemas.openxmlformats.org/drawingml/2006/main">
              <a:ext uri="{FF2B5EF4-FFF2-40B4-BE49-F238E27FC236}">
                <a16:creationId xmlns:a16="http://schemas.microsoft.com/office/drawing/2014/main" id="{08BA1BC2-2AAD-4EC9-BE9E-F2514A14184D}"/>
              </a:ext>
            </a:extLst>
          </p:cNvPr>
          <p:cNvSpPr>
            <a:spLocks xmlns:a="http://schemas.openxmlformats.org/drawingml/2006/main" noGrp="1"/>
          </p:cNvSpPr>
          <p:nvPr/>
        </p:nvSpPr>
        <p:spPr>
          <a:xfrm xmlns:a="http://schemas.openxmlformats.org/drawingml/2006/main">
            <a:off x="533400" y="990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E4A4"/>
                </a:solidFill>
                <a:latin typeface="Aptos"/>
                <a:ea typeface="Aptos"/>
                <a:cs typeface="Aptos"/>
              </a:defRPr>
            </a:pPr>
            <a:r>
              <a:rPr sz="1200" b="1">
                <a:solidFill>
                  <a:srgbClr val="FFE4A4"/>
                </a:solidFill>
                <a:latin typeface="Aptos"/>
                <a:ea typeface="Aptos"/>
                <a:cs typeface="Aptos"/>
              </a:rPr>
              <a:t>SEW AWESOME  •  MODULE 06</a:t>
            </a:r>
          </a:p>
        </p:txBody>
      </p:sp>
      <p:sp>
        <p:nvSpPr>
          <p:cNvPr id="5" name="title">
            <a:extLst xmlns:a="http://schemas.openxmlformats.org/drawingml/2006/main">
              <a:ext uri="{FF2B5EF4-FFF2-40B4-BE49-F238E27FC236}">
                <a16:creationId xmlns:a16="http://schemas.microsoft.com/office/drawing/2014/main" id="{9195358B-D1C4-469A-8E3F-4F820506ADC7}"/>
              </a:ext>
            </a:extLst>
          </p:cNvPr>
          <p:cNvSpPr>
            <a:spLocks xmlns:a="http://schemas.openxmlformats.org/drawingml/2006/main" noGrp="1"/>
          </p:cNvSpPr>
          <p:nvPr/>
        </p:nvSpPr>
        <p:spPr>
          <a:xfrm xmlns:a="http://schemas.openxmlformats.org/drawingml/2006/main">
            <a:off x="533400" y="20574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Responsible design</a:t>
            </a:r>
          </a:p>
        </p:txBody>
      </p:sp>
      <p:sp>
        <p:nvSpPr>
          <p:cNvPr id="6" name="outcome">
            <a:extLst xmlns:a="http://schemas.openxmlformats.org/drawingml/2006/main">
              <a:ext uri="{FF2B5EF4-FFF2-40B4-BE49-F238E27FC236}">
                <a16:creationId xmlns:a16="http://schemas.microsoft.com/office/drawing/2014/main" id="{FDB60768-616F-401A-83CA-EC0624A7ED2D}"/>
              </a:ext>
            </a:extLst>
          </p:cNvPr>
          <p:cNvSpPr>
            <a:spLocks xmlns:a="http://schemas.openxmlformats.org/drawingml/2006/main" noGrp="1"/>
          </p:cNvSpPr>
          <p:nvPr/>
        </p:nvSpPr>
        <p:spPr>
          <a:xfrm xmlns:a="http://schemas.openxmlformats.org/drawingml/2006/main">
            <a:off x="533400" y="3733800"/>
            <a:ext cx="590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99"/>
          </a:bodyPr>
          <a:lstStyle xmlns:a="http://schemas.openxmlformats.org/drawingml/2006/main"/>
          <a:p xmlns:a="http://schemas.openxmlformats.org/drawingml/2006/main">
            <a:pPr>
              <a:lnSpc>
                <a:spcPct val="105000"/>
              </a:lnSpc>
              <a:buNone/>
              <a:defRPr sz="1800">
                <a:solidFill>
                  <a:srgbClr val="EEF6F3"/>
                </a:solidFill>
                <a:latin typeface="Aptos"/>
                <a:ea typeface="Aptos"/>
                <a:cs typeface="Aptos"/>
              </a:defRPr>
            </a:pPr>
            <a:r>
              <a:rPr sz="1800">
                <a:solidFill>
                  <a:srgbClr val="EEF6F3"/>
                </a:solidFill>
                <a:latin typeface="Aptos"/>
                <a:ea typeface="Aptos"/>
                <a:cs typeface="Aptos"/>
              </a:rPr>
              <a:t>Examine textile and plastic impacts across a life cycle, learn respectful responsibilities around Country and ICIP, and design a reusable carry item that communicates environmental intent honestly.</a:t>
            </a:r>
          </a:p>
        </p:txBody>
      </p:sp>
      <p:sp>
        <p:nvSpPr>
          <p:cNvPr id="7" name="student-copy">
            <a:extLst xmlns:a="http://schemas.openxmlformats.org/drawingml/2006/main">
              <a:ext uri="{FF2B5EF4-FFF2-40B4-BE49-F238E27FC236}">
                <a16:creationId xmlns:a16="http://schemas.microsoft.com/office/drawing/2014/main" id="{92B56AE3-C4D8-4415-BF47-BBABA5309584}"/>
              </a:ext>
            </a:extLst>
          </p:cNvPr>
          <p:cNvSpPr>
            <a:spLocks xmlns:a="http://schemas.openxmlformats.org/drawingml/2006/main" noGrp="1"/>
          </p:cNvSpPr>
          <p:nvPr/>
        </p:nvSpPr>
        <p:spPr>
          <a:xfrm xmlns:a="http://schemas.openxmlformats.org/drawingml/2006/main">
            <a:off x="533400" y="6038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C8D6D2"/>
                </a:solidFill>
                <a:latin typeface="Aptos"/>
                <a:ea typeface="Aptos"/>
                <a:cs typeface="Aptos"/>
              </a:defRPr>
            </a:pPr>
            <a:r>
              <a:rPr sz="1200">
                <a:solidFill>
                  <a:srgbClr val="C8D6D2"/>
                </a:solidFill>
                <a:latin typeface="Aptos"/>
                <a:ea typeface="Aptos"/>
                <a:cs typeface="Aptos"/>
              </a:rPr>
              <a:t>Classroom presentation  •  student copy</a:t>
            </a:r>
          </a:p>
        </p:txBody>
      </p:sp>
      <p:sp>
        <p:nvSpPr>
          <p:cNvPr id="8" name="page">
            <a:extLst xmlns:a="http://schemas.openxmlformats.org/drawingml/2006/main">
              <a:ext uri="{FF2B5EF4-FFF2-40B4-BE49-F238E27FC236}">
                <a16:creationId xmlns:a16="http://schemas.microsoft.com/office/drawing/2014/main" id="{BD94D72B-DF69-42B7-81C9-10F4FDABC469}"/>
              </a:ext>
            </a:extLst>
          </p:cNvPr>
          <p:cNvSpPr>
            <a:spLocks xmlns:a="http://schemas.openxmlformats.org/drawingml/2006/main" noGrp="1"/>
          </p:cNvSpPr>
          <p:nvPr/>
        </p:nvSpPr>
        <p:spPr>
          <a:xfrm xmlns:a="http://schemas.openxmlformats.org/drawingml/2006/main">
            <a:off x="6553200" y="605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8D6D2"/>
                </a:solidFill>
                <a:latin typeface="Aptos"/>
                <a:ea typeface="Aptos"/>
                <a:cs typeface="Aptos"/>
              </a:defRPr>
            </a:pPr>
            <a:r>
              <a:rPr sz="1050" b="1">
                <a:solidFill>
                  <a:srgbClr val="C8D6D2"/>
                </a:solidFill>
                <a:latin typeface="Aptos"/>
                <a:ea typeface="Aptos"/>
                <a:cs typeface="Aptos"/>
              </a:rPr>
              <a:t>01</a:t>
            </a:r>
          </a:p>
        </p:txBody>
      </p:sp>
    </p:spTree>
    <p:extLst>
      <p:ext uri="{BB962C8B-B14F-4D97-AF65-F5344CB8AC3E}">
        <p14:creationId xmlns:p14="http://schemas.microsoft.com/office/powerpoint/2010/main" val="2055616337"/>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42F1DD40-37EA-4240-84DE-F8B2CF17EEB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7075E794-2AFB-4F8E-9702-FDE30CF63B5E}"/>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D49A34"/>
                </a:solidFill>
                <a:latin typeface="Aptos"/>
                <a:ea typeface="Aptos"/>
                <a:cs typeface="Aptos"/>
              </a:defRPr>
            </a:pPr>
            <a:r>
              <a:rPr sz="1050" b="1">
                <a:solidFill>
                  <a:srgbClr val="D49A34"/>
                </a:solidFill>
                <a:latin typeface="Aptos"/>
                <a:ea typeface="Aptos"/>
                <a:cs typeface="Aptos"/>
              </a:rPr>
              <a:t>TODAY’S LEARNING PATH</a:t>
            </a:r>
          </a:p>
        </p:txBody>
      </p:sp>
      <p:sp>
        <p:nvSpPr>
          <p:cNvPr id="3" name="title">
            <a:extLst xmlns:a="http://schemas.openxmlformats.org/drawingml/2006/main">
              <a:ext uri="{FF2B5EF4-FFF2-40B4-BE49-F238E27FC236}">
                <a16:creationId xmlns:a16="http://schemas.microsoft.com/office/drawing/2014/main" id="{3895CAE9-34F9-48B9-93D7-99B55EFC726D}"/>
              </a:ext>
            </a:extLst>
          </p:cNvPr>
          <p:cNvSpPr>
            <a:spLocks xmlns:a="http://schemas.openxmlformats.org/drawingml/2006/main" noGrp="1"/>
          </p:cNvSpPr>
          <p:nvPr/>
        </p:nvSpPr>
        <p:spPr>
          <a:xfrm xmlns:a="http://schemas.openxmlformats.org/drawingml/2006/main">
            <a:off x="533400" y="742950"/>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Three ideas build one stronger decision</a:t>
            </a:r>
          </a:p>
        </p:txBody>
      </p:sp>
      <p:sp>
        <p:nvSpPr>
          <p:cNvPr id="4" name="idea-number-1">
            <a:extLst xmlns:a="http://schemas.openxmlformats.org/drawingml/2006/main">
              <a:ext uri="{FF2B5EF4-FFF2-40B4-BE49-F238E27FC236}">
                <a16:creationId xmlns:a16="http://schemas.microsoft.com/office/drawing/2014/main" id="{4BD7A1A3-6006-4680-A6CF-35C3DD312060}"/>
              </a:ext>
            </a:extLst>
          </p:cNvPr>
          <p:cNvSpPr>
            <a:spLocks xmlns:a="http://schemas.openxmlformats.org/drawingml/2006/main" noGrp="1"/>
          </p:cNvSpPr>
          <p:nvPr/>
        </p:nvSpPr>
        <p:spPr>
          <a:xfrm xmlns:a="http://schemas.openxmlformats.org/drawingml/2006/main">
            <a:off x="590550" y="18859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1</a:t>
            </a:r>
          </a:p>
        </p:txBody>
      </p:sp>
      <p:sp>
        <p:nvSpPr>
          <p:cNvPr id="5" name="idea-line-1">
            <a:extLst xmlns:a="http://schemas.openxmlformats.org/drawingml/2006/main">
              <a:ext uri="{FF2B5EF4-FFF2-40B4-BE49-F238E27FC236}">
                <a16:creationId xmlns:a16="http://schemas.microsoft.com/office/drawing/2014/main" id="{D3C72321-ECC6-4971-9BE1-198B55D981EB}"/>
              </a:ext>
            </a:extLst>
          </p:cNvPr>
          <p:cNvSpPr>
            <a:spLocks xmlns:a="http://schemas.openxmlformats.org/drawingml/2006/main" noGrp="1"/>
          </p:cNvSpPr>
          <p:nvPr/>
        </p:nvSpPr>
        <p:spPr>
          <a:xfrm xmlns:a="http://schemas.openxmlformats.org/drawingml/2006/main">
            <a:off x="1257300" y="25146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6" name="idea-title-1">
            <a:extLst xmlns:a="http://schemas.openxmlformats.org/drawingml/2006/main">
              <a:ext uri="{FF2B5EF4-FFF2-40B4-BE49-F238E27FC236}">
                <a16:creationId xmlns:a16="http://schemas.microsoft.com/office/drawing/2014/main" id="{4CB2987D-ED94-4702-8180-AA77EBA8B457}"/>
              </a:ext>
            </a:extLst>
          </p:cNvPr>
          <p:cNvSpPr>
            <a:spLocks xmlns:a="http://schemas.openxmlformats.org/drawingml/2006/main" noGrp="1"/>
          </p:cNvSpPr>
          <p:nvPr/>
        </p:nvSpPr>
        <p:spPr>
          <a:xfrm xmlns:a="http://schemas.openxmlformats.org/drawingml/2006/main">
            <a:off x="14668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Textiles, Plastics and Environmental Impact</a:t>
            </a:r>
          </a:p>
        </p:txBody>
      </p:sp>
      <p:sp>
        <p:nvSpPr>
          <p:cNvPr id="7" name="idea-number-2">
            <a:extLst xmlns:a="http://schemas.openxmlformats.org/drawingml/2006/main">
              <a:ext uri="{FF2B5EF4-FFF2-40B4-BE49-F238E27FC236}">
                <a16:creationId xmlns:a16="http://schemas.microsoft.com/office/drawing/2014/main" id="{585DBB41-F18F-4B6C-9846-6AE6EC68884F}"/>
              </a:ext>
            </a:extLst>
          </p:cNvPr>
          <p:cNvSpPr>
            <a:spLocks xmlns:a="http://schemas.openxmlformats.org/drawingml/2006/main" noGrp="1"/>
          </p:cNvSpPr>
          <p:nvPr/>
        </p:nvSpPr>
        <p:spPr>
          <a:xfrm xmlns:a="http://schemas.openxmlformats.org/drawingml/2006/main">
            <a:off x="590550" y="29527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BF4C5A"/>
                </a:solidFill>
                <a:latin typeface="Aptos"/>
                <a:ea typeface="Aptos"/>
                <a:cs typeface="Aptos"/>
              </a:defRPr>
            </a:pPr>
            <a:r>
              <a:rPr sz="2250" b="1">
                <a:solidFill>
                  <a:srgbClr val="BF4C5A"/>
                </a:solidFill>
                <a:latin typeface="Aptos"/>
                <a:ea typeface="Aptos"/>
                <a:cs typeface="Aptos"/>
              </a:rPr>
              <a:t>2</a:t>
            </a:r>
          </a:p>
        </p:txBody>
      </p:sp>
      <p:sp>
        <p:nvSpPr>
          <p:cNvPr id="8" name="idea-line-2">
            <a:extLst xmlns:a="http://schemas.openxmlformats.org/drawingml/2006/main">
              <a:ext uri="{FF2B5EF4-FFF2-40B4-BE49-F238E27FC236}">
                <a16:creationId xmlns:a16="http://schemas.microsoft.com/office/drawing/2014/main" id="{9B0F3CA6-B34D-441B-BA1D-3CBB9F89799C}"/>
              </a:ext>
            </a:extLst>
          </p:cNvPr>
          <p:cNvSpPr>
            <a:spLocks xmlns:a="http://schemas.openxmlformats.org/drawingml/2006/main" noGrp="1"/>
          </p:cNvSpPr>
          <p:nvPr/>
        </p:nvSpPr>
        <p:spPr>
          <a:xfrm xmlns:a="http://schemas.openxmlformats.org/drawingml/2006/main">
            <a:off x="1257300" y="3581400"/>
            <a:ext cx="4953000" cy="0"/>
          </a:xfrm>
          <a:prstGeom xmlns:a="http://schemas.openxmlformats.org/drawingml/2006/main" prst="line">
            <a:avLst/>
          </a:prstGeom>
          <a:noFill xmlns:a="http://schemas.openxmlformats.org/drawingml/2006/main"/>
          <a:ln xmlns:a="http://schemas.openxmlformats.org/drawingml/2006/main" w="28575">
            <a:solidFill>
              <a:srgbClr val="BF4C5A"/>
            </a:solidFill>
            <a:prstDash val="solid"/>
          </a:ln>
        </p:spPr>
      </p:sp>
      <p:sp>
        <p:nvSpPr>
          <p:cNvPr id="9" name="idea-title-2">
            <a:extLst xmlns:a="http://schemas.openxmlformats.org/drawingml/2006/main">
              <a:ext uri="{FF2B5EF4-FFF2-40B4-BE49-F238E27FC236}">
                <a16:creationId xmlns:a16="http://schemas.microsoft.com/office/drawing/2014/main" id="{1499C011-F0EF-4D4B-9B1C-153A7B849127}"/>
              </a:ext>
            </a:extLst>
          </p:cNvPr>
          <p:cNvSpPr>
            <a:spLocks xmlns:a="http://schemas.openxmlformats.org/drawingml/2006/main" noGrp="1"/>
          </p:cNvSpPr>
          <p:nvPr/>
        </p:nvSpPr>
        <p:spPr>
          <a:xfrm xmlns:a="http://schemas.openxmlformats.org/drawingml/2006/main">
            <a:off x="1466850" y="28765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Carrying Traditions, Caring for Country and ICIP</a:t>
            </a:r>
          </a:p>
        </p:txBody>
      </p:sp>
      <p:sp>
        <p:nvSpPr>
          <p:cNvPr id="10" name="idea-number-3">
            <a:extLst xmlns:a="http://schemas.openxmlformats.org/drawingml/2006/main">
              <a:ext uri="{FF2B5EF4-FFF2-40B4-BE49-F238E27FC236}">
                <a16:creationId xmlns:a16="http://schemas.microsoft.com/office/drawing/2014/main" id="{F79DE6C4-FE32-459F-AE1E-8F091E0CD9F4}"/>
              </a:ext>
            </a:extLst>
          </p:cNvPr>
          <p:cNvSpPr>
            <a:spLocks xmlns:a="http://schemas.openxmlformats.org/drawingml/2006/main" noGrp="1"/>
          </p:cNvSpPr>
          <p:nvPr/>
        </p:nvSpPr>
        <p:spPr>
          <a:xfrm xmlns:a="http://schemas.openxmlformats.org/drawingml/2006/main">
            <a:off x="590550" y="4019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3</a:t>
            </a:r>
          </a:p>
        </p:txBody>
      </p:sp>
      <p:sp>
        <p:nvSpPr>
          <p:cNvPr id="11" name="idea-line-3">
            <a:extLst xmlns:a="http://schemas.openxmlformats.org/drawingml/2006/main">
              <a:ext uri="{FF2B5EF4-FFF2-40B4-BE49-F238E27FC236}">
                <a16:creationId xmlns:a16="http://schemas.microsoft.com/office/drawing/2014/main" id="{80ADA2B4-A863-4482-892E-B949B5B33D3E}"/>
              </a:ext>
            </a:extLst>
          </p:cNvPr>
          <p:cNvSpPr>
            <a:spLocks xmlns:a="http://schemas.openxmlformats.org/drawingml/2006/main" noGrp="1"/>
          </p:cNvSpPr>
          <p:nvPr/>
        </p:nvSpPr>
        <p:spPr>
          <a:xfrm xmlns:a="http://schemas.openxmlformats.org/drawingml/2006/main">
            <a:off x="1257300" y="46482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12" name="idea-title-3">
            <a:extLst xmlns:a="http://schemas.openxmlformats.org/drawingml/2006/main">
              <a:ext uri="{FF2B5EF4-FFF2-40B4-BE49-F238E27FC236}">
                <a16:creationId xmlns:a16="http://schemas.microsoft.com/office/drawing/2014/main" id="{8E124A26-3A92-414F-9F92-A5A19FE861D6}"/>
              </a:ext>
            </a:extLst>
          </p:cNvPr>
          <p:cNvSpPr>
            <a:spLocks xmlns:a="http://schemas.openxmlformats.org/drawingml/2006/main" noGrp="1"/>
          </p:cNvSpPr>
          <p:nvPr/>
        </p:nvSpPr>
        <p:spPr>
          <a:xfrm xmlns:a="http://schemas.openxmlformats.org/drawingml/2006/main">
            <a:off x="1466850" y="3943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Designing for Reuse and Environmental Communication</a:t>
            </a:r>
          </a:p>
        </p:txBody>
      </p:sp>
      <p:sp>
        <p:nvSpPr>
          <p:cNvPr id="13" name="warm-up">
            <a:extLst xmlns:a="http://schemas.openxmlformats.org/drawingml/2006/main">
              <a:ext uri="{FF2B5EF4-FFF2-40B4-BE49-F238E27FC236}">
                <a16:creationId xmlns:a16="http://schemas.microsoft.com/office/drawing/2014/main" id="{70D17819-50B3-4342-A9AC-0BA61DCCAE1A}"/>
              </a:ext>
            </a:extLst>
          </p:cNvPr>
          <p:cNvSpPr>
            <a:spLocks xmlns:a="http://schemas.openxmlformats.org/drawingml/2006/main" noGrp="1"/>
          </p:cNvSpPr>
          <p:nvPr/>
        </p:nvSpPr>
        <p:spPr>
          <a:xfrm xmlns:a="http://schemas.openxmlformats.org/drawingml/2006/main">
            <a:off x="7067550" y="1733550"/>
            <a:ext cx="4591050" cy="3371850"/>
          </a:xfrm>
          <a:prstGeom xmlns:a="http://schemas.openxmlformats.org/drawingml/2006/main" prst="roundRect">
            <a:avLst>
              <a:gd name="adj" fmla="val 4520"/>
            </a:avLst>
          </a:prstGeom>
          <a:solidFill xmlns:a="http://schemas.openxmlformats.org/drawingml/2006/main">
            <a:srgbClr val="0C4E4A"/>
          </a:solidFill>
          <a:ln xmlns:a="http://schemas.openxmlformats.org/drawingml/2006/main" w="9525">
            <a:solidFill>
              <a:srgbClr val="0C4E4A"/>
            </a:solidFill>
            <a:prstDash val="solid"/>
          </a:ln>
        </p:spPr>
      </p:sp>
      <p:sp>
        <p:nvSpPr>
          <p:cNvPr id="14" name="warm-up-label">
            <a:extLst xmlns:a="http://schemas.openxmlformats.org/drawingml/2006/main">
              <a:ext uri="{FF2B5EF4-FFF2-40B4-BE49-F238E27FC236}">
                <a16:creationId xmlns:a16="http://schemas.microsoft.com/office/drawing/2014/main" id="{E7FD19F5-4115-4909-9457-9678F1E7205C}"/>
              </a:ext>
            </a:extLst>
          </p:cNvPr>
          <p:cNvSpPr>
            <a:spLocks xmlns:a="http://schemas.openxmlformats.org/drawingml/2006/main" noGrp="1"/>
          </p:cNvSpPr>
          <p:nvPr/>
        </p:nvSpPr>
        <p:spPr>
          <a:xfrm xmlns:a="http://schemas.openxmlformats.org/drawingml/2006/main">
            <a:off x="7448550" y="21717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RETRIEVAL WARM-UP</a:t>
            </a:r>
          </a:p>
        </p:txBody>
      </p:sp>
      <p:sp>
        <p:nvSpPr>
          <p:cNvPr id="15" name="warm-up-question">
            <a:extLst xmlns:a="http://schemas.openxmlformats.org/drawingml/2006/main">
              <a:ext uri="{FF2B5EF4-FFF2-40B4-BE49-F238E27FC236}">
                <a16:creationId xmlns:a16="http://schemas.microsoft.com/office/drawing/2014/main" id="{0EDF63E1-ACEA-4B5D-8DA9-3618ED3A8B10}"/>
              </a:ext>
            </a:extLst>
          </p:cNvPr>
          <p:cNvSpPr>
            <a:spLocks xmlns:a="http://schemas.openxmlformats.org/drawingml/2006/main" noGrp="1"/>
          </p:cNvSpPr>
          <p:nvPr/>
        </p:nvSpPr>
        <p:spPr>
          <a:xfrm xmlns:a="http://schemas.openxmlformats.org/drawingml/2006/main">
            <a:off x="7448550" y="264795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Students have used samples to compare material processes and justify one controlled improvement.</a:t>
            </a:r>
          </a:p>
        </p:txBody>
      </p:sp>
      <p:sp>
        <p:nvSpPr>
          <p:cNvPr id="16" name="warm-up-instruction">
            <a:extLst xmlns:a="http://schemas.openxmlformats.org/drawingml/2006/main">
              <a:ext uri="{FF2B5EF4-FFF2-40B4-BE49-F238E27FC236}">
                <a16:creationId xmlns:a16="http://schemas.microsoft.com/office/drawing/2014/main" id="{0E1C5000-424B-495B-9898-733ED9D551AA}"/>
              </a:ext>
            </a:extLst>
          </p:cNvPr>
          <p:cNvSpPr>
            <a:spLocks xmlns:a="http://schemas.openxmlformats.org/drawingml/2006/main" noGrp="1"/>
          </p:cNvSpPr>
          <p:nvPr/>
        </p:nvSpPr>
        <p:spPr>
          <a:xfrm xmlns:a="http://schemas.openxmlformats.org/drawingml/2006/main">
            <a:off x="7448550" y="43434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EEF6F3"/>
                </a:solidFill>
                <a:latin typeface="Aptos"/>
                <a:ea typeface="Aptos"/>
                <a:cs typeface="Aptos"/>
              </a:defRPr>
            </a:pPr>
            <a:r>
              <a:rPr sz="1350">
                <a:solidFill>
                  <a:srgbClr val="EEF6F3"/>
                </a:solidFill>
                <a:latin typeface="Aptos"/>
                <a:ea typeface="Aptos"/>
                <a:cs typeface="Aptos"/>
              </a:rPr>
              <a:t>Think silently. Name one useful idea. Be ready to explain why it matters.</a:t>
            </a:r>
          </a:p>
        </p:txBody>
      </p:sp>
      <p:sp>
        <p:nvSpPr>
          <p:cNvPr id="17" name="footer-module">
            <a:extLst xmlns:a="http://schemas.openxmlformats.org/drawingml/2006/main">
              <a:ext uri="{FF2B5EF4-FFF2-40B4-BE49-F238E27FC236}">
                <a16:creationId xmlns:a16="http://schemas.microsoft.com/office/drawing/2014/main" id="{ED044B1B-DA5C-46E6-A32C-9E80C6D22BF0}"/>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06</a:t>
            </a:r>
          </a:p>
        </p:txBody>
      </p:sp>
      <p:sp>
        <p:nvSpPr>
          <p:cNvPr id="18" name="footer-page">
            <a:extLst xmlns:a="http://schemas.openxmlformats.org/drawingml/2006/main">
              <a:ext uri="{FF2B5EF4-FFF2-40B4-BE49-F238E27FC236}">
                <a16:creationId xmlns:a16="http://schemas.microsoft.com/office/drawing/2014/main" id="{B6F3422F-6A3F-4EDC-A788-908B56DFF7C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02</a:t>
            </a:r>
          </a:p>
        </p:txBody>
      </p:sp>
    </p:spTree>
    <p:extLst>
      <p:ext uri="{BB962C8B-B14F-4D97-AF65-F5344CB8AC3E}">
        <p14:creationId xmlns:p14="http://schemas.microsoft.com/office/powerpoint/2010/main" val="126154630"/>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21DBD69B-0543-4460-9D90-90BB56A481C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6544CC61-8CAC-43D8-B758-F27BE9D7C6E5}"/>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1. TEXTILES, PLASTICS AND ENVIRONMENTAL IMPACT</a:t>
            </a:r>
          </a:p>
        </p:txBody>
      </p:sp>
      <p:sp>
        <p:nvSpPr>
          <p:cNvPr id="3" name="title">
            <a:extLst xmlns:a="http://schemas.openxmlformats.org/drawingml/2006/main">
              <a:ext uri="{FF2B5EF4-FFF2-40B4-BE49-F238E27FC236}">
                <a16:creationId xmlns:a16="http://schemas.microsoft.com/office/drawing/2014/main" id="{1F9AF21D-1634-4682-980D-94104989EE26}"/>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Reusable is an intention, not proof</a:t>
            </a:r>
          </a:p>
        </p:txBody>
      </p:sp>
      <p:pic>
        <p:nvPicPr>
          <p:cNvPr id="17" name="Teaching visual - A reusable textile tote is arranged beside single-use bags and other carry items, creating a comparison but not proving lower impact."/>
          <p:cNvPicPr>
            <a:picLocks xmlns:a="http://schemas.openxmlformats.org/drawingml/2006/main" noChangeAspect="1"/>
          </p:cNvPicPr>
          <p:nvPr/>
        </p:nvPicPr>
        <p:blipFill>
          <a:blip xmlns:r="http://schemas.openxmlformats.org/officeDocument/2006/relationships" xmlns:a="http://schemas.openxmlformats.org/drawingml/2006/main" r:embed="R4d5b5737d64549d6"/>
          <a:stretch xmlns:a="http://schemas.openxmlformats.org/drawingml/2006/main"/>
        </p:blipFill>
        <p:spPr>
          <a:xfrm xmlns:a="http://schemas.openxmlformats.org/drawingml/2006/main">
            <a:off x="6657975" y="1524000"/>
            <a:ext cx="4953000" cy="371475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3C40692A-9F4E-4F31-9906-A31A941A01CC}"/>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A reusable bag can respond to reliance on single-use plastics, but reuse alone does not erase every impact. Responsible designers examine where impacts can occur and make decisions that help the product earn a long, useful life. A life cycle follows a product from material sourcing through manufacture, transport, use and end of life. Single-use products are designed for a short period of use before disposal.</a:t>
            </a:r>
          </a:p>
        </p:txBody>
      </p:sp>
      <p:sp>
        <p:nvSpPr>
          <p:cNvPr id="6" name="notice">
            <a:extLst xmlns:a="http://schemas.openxmlformats.org/drawingml/2006/main">
              <a:ext uri="{FF2B5EF4-FFF2-40B4-BE49-F238E27FC236}">
                <a16:creationId xmlns:a16="http://schemas.microsoft.com/office/drawing/2014/main" id="{D3E45C54-B8F5-468C-A06E-70646C27E8DF}"/>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D42405F1-9171-4DAF-85AD-BDC5A7B079E6}"/>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A5C0E434-8C9F-4864-8CBC-10957E5EC12D}"/>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The tote looks reusable. What evidence about sourcing, production, repeated use, care, repair and end of life is still missing?</a:t>
            </a:r>
          </a:p>
        </p:txBody>
      </p:sp>
      <p:sp>
        <p:nvSpPr>
          <p:cNvPr id="9" name="prompt-band">
            <a:extLst xmlns:a="http://schemas.openxmlformats.org/drawingml/2006/main">
              <a:ext uri="{FF2B5EF4-FFF2-40B4-BE49-F238E27FC236}">
                <a16:creationId xmlns:a16="http://schemas.microsoft.com/office/drawing/2014/main" id="{0B295316-6313-403C-8BF9-D36F7C50E055}"/>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76CADA95-6979-4B89-983F-48AE6C2B79E7}"/>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D91E77B3-122C-4012-807B-E5438EAE1CB1}"/>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Trace one proposed bag feature through its likely life-cycle effects and identify an honest design response.</a:t>
            </a:r>
          </a:p>
        </p:txBody>
      </p:sp>
      <p:sp>
        <p:nvSpPr>
          <p:cNvPr id="12" name="footer-module">
            <a:extLst xmlns:a="http://schemas.openxmlformats.org/drawingml/2006/main">
              <a:ext uri="{FF2B5EF4-FFF2-40B4-BE49-F238E27FC236}">
                <a16:creationId xmlns:a16="http://schemas.microsoft.com/office/drawing/2014/main" id="{4638591B-DE60-43AA-AADB-26CAAC3ABDE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06</a:t>
            </a:r>
          </a:p>
        </p:txBody>
      </p:sp>
      <p:sp>
        <p:nvSpPr>
          <p:cNvPr id="13" name="footer-page">
            <a:extLst xmlns:a="http://schemas.openxmlformats.org/drawingml/2006/main">
              <a:ext uri="{FF2B5EF4-FFF2-40B4-BE49-F238E27FC236}">
                <a16:creationId xmlns:a16="http://schemas.microsoft.com/office/drawing/2014/main" id="{C2558602-A24B-44F5-A4C4-4C766DF41403}"/>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03</a:t>
            </a:r>
          </a:p>
        </p:txBody>
      </p:sp>
    </p:spTree>
    <p:extLst>
      <p:ext uri="{BB962C8B-B14F-4D97-AF65-F5344CB8AC3E}">
        <p14:creationId xmlns:p14="http://schemas.microsoft.com/office/powerpoint/2010/main" val="578929598"/>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8A726A54-D95D-4C33-AF51-D24795C11EB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4E774D43-6F40-408B-BFA9-0A2AEF885FC0}"/>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2. CARRYING TRADITIONS, CARING FOR COUNTRY AND ICIP</a:t>
            </a:r>
          </a:p>
        </p:txBody>
      </p:sp>
      <p:sp>
        <p:nvSpPr>
          <p:cNvPr id="3" name="title">
            <a:extLst xmlns:a="http://schemas.openxmlformats.org/drawingml/2006/main">
              <a:ext uri="{FF2B5EF4-FFF2-40B4-BE49-F238E27FC236}">
                <a16:creationId xmlns:a16="http://schemas.microsoft.com/office/drawing/2014/main" id="{2DAE8788-45B9-4657-8876-278B9BCB8456}"/>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Online does not mean permission</a:t>
            </a:r>
          </a:p>
        </p:txBody>
      </p:sp>
      <p:pic>
        <p:nvPicPr>
          <p:cNvPr id="17" name="Teaching visual - A respectful consultation workspace shows hands reviewing a plain carry-item prototype with blank source and design records while a decision remains paused."/>
          <p:cNvPicPr>
            <a:picLocks xmlns:a="http://schemas.openxmlformats.org/drawingml/2006/main" noChangeAspect="1"/>
          </p:cNvPicPr>
          <p:nvPr/>
        </p:nvPicPr>
        <p:blipFill>
          <a:blip xmlns:r="http://schemas.openxmlformats.org/officeDocument/2006/relationships" xmlns:a="http://schemas.openxmlformats.org/drawingml/2006/main" r:embed="Rc84772940659433c"/>
          <a:stretch xmlns:a="http://schemas.openxmlformats.org/drawingml/2006/main"/>
        </p:blipFill>
        <p:spPr>
          <a:xfrm xmlns:a="http://schemas.openxmlformats.org/drawingml/2006/main">
            <a:off x="53340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FB706912-C748-4C52-B807-1D9363884D3D}"/>
              </a:ext>
            </a:extLst>
          </p:cNvPr>
          <p:cNvSpPr>
            <a:spLocks xmlns:a="http://schemas.openxmlformats.org/drawingml/2006/main" noGrp="1"/>
          </p:cNvSpPr>
          <p:nvPr/>
        </p:nvSpPr>
        <p:spPr>
          <a:xfrm xmlns:a="http://schemas.openxmlformats.org/drawingml/2006/main">
            <a:off x="60198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Carrying objects can hold practical, social and cultural meaning. Learning from Aboriginal and Torres Strait Islander knowledge requires context, respect and permission—not copying a shape or pattern because it was found online. Aboriginal and Torres Strait Islander Peoples belong to many distinct Nations and communities with living cultures, histories and knowledge systems. Caring for Country describes relationships and responsibilities connecting people with lands, waters, skies, living things, culture and community.</a:t>
            </a:r>
          </a:p>
        </p:txBody>
      </p:sp>
      <p:sp>
        <p:nvSpPr>
          <p:cNvPr id="6" name="notice">
            <a:extLst xmlns:a="http://schemas.openxmlformats.org/drawingml/2006/main">
              <a:ext uri="{FF2B5EF4-FFF2-40B4-BE49-F238E27FC236}">
                <a16:creationId xmlns:a16="http://schemas.microsoft.com/office/drawing/2014/main" id="{BEAF76FB-23A1-427F-88F8-1C8CE50D8183}"/>
              </a:ext>
            </a:extLst>
          </p:cNvPr>
          <p:cNvSpPr>
            <a:spLocks xmlns:a="http://schemas.openxmlformats.org/drawingml/2006/main" noGrp="1"/>
          </p:cNvSpPr>
          <p:nvPr/>
        </p:nvSpPr>
        <p:spPr>
          <a:xfrm xmlns:a="http://schemas.openxmlformats.org/drawingml/2006/main">
            <a:off x="60198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4B488071-5891-4028-B7F4-10BA5098683A}"/>
              </a:ext>
            </a:extLst>
          </p:cNvPr>
          <p:cNvSpPr>
            <a:spLocks xmlns:a="http://schemas.openxmlformats.org/drawingml/2006/main" noGrp="1"/>
          </p:cNvSpPr>
          <p:nvPr/>
        </p:nvSpPr>
        <p:spPr>
          <a:xfrm xmlns:a="http://schemas.openxmlformats.org/drawingml/2006/main">
            <a:off x="62103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7608A1F7-A647-4F31-859F-129A04D2722F}"/>
              </a:ext>
            </a:extLst>
          </p:cNvPr>
          <p:cNvSpPr>
            <a:spLocks xmlns:a="http://schemas.openxmlformats.org/drawingml/2006/main" noGrp="1"/>
          </p:cNvSpPr>
          <p:nvPr/>
        </p:nvSpPr>
        <p:spPr>
          <a:xfrm xmlns:a="http://schemas.openxmlformats.org/drawingml/2006/main">
            <a:off x="62103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What evidence shows the design decision is paused? What authority, permission or attribution must be confirmed before it continues?</a:t>
            </a:r>
          </a:p>
        </p:txBody>
      </p:sp>
      <p:sp>
        <p:nvSpPr>
          <p:cNvPr id="9" name="prompt-band">
            <a:extLst xmlns:a="http://schemas.openxmlformats.org/drawingml/2006/main">
              <a:ext uri="{FF2B5EF4-FFF2-40B4-BE49-F238E27FC236}">
                <a16:creationId xmlns:a16="http://schemas.microsoft.com/office/drawing/2014/main" id="{ACA1ED24-CC82-4B46-A637-BC1D634601AD}"/>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8FDECA3C-B05F-4932-9159-92E8BB5EA81F}"/>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55D37C32-78BF-4C3E-9EDF-C0BF0646F285}"/>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Evaluate a fictional online image-source card and decide whether it provides enough authority for reuse.</a:t>
            </a:r>
          </a:p>
        </p:txBody>
      </p:sp>
      <p:sp>
        <p:nvSpPr>
          <p:cNvPr id="12" name="footer-module">
            <a:extLst xmlns:a="http://schemas.openxmlformats.org/drawingml/2006/main">
              <a:ext uri="{FF2B5EF4-FFF2-40B4-BE49-F238E27FC236}">
                <a16:creationId xmlns:a16="http://schemas.microsoft.com/office/drawing/2014/main" id="{EF55CBCB-18BE-4DE2-9569-82CBB8AD4CED}"/>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06</a:t>
            </a:r>
          </a:p>
        </p:txBody>
      </p:sp>
      <p:sp>
        <p:nvSpPr>
          <p:cNvPr id="13" name="footer-page">
            <a:extLst xmlns:a="http://schemas.openxmlformats.org/drawingml/2006/main">
              <a:ext uri="{FF2B5EF4-FFF2-40B4-BE49-F238E27FC236}">
                <a16:creationId xmlns:a16="http://schemas.microsoft.com/office/drawing/2014/main" id="{1EFB4ED1-2E07-4122-A86B-2487DC4A1567}"/>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04</a:t>
            </a:r>
          </a:p>
        </p:txBody>
      </p:sp>
    </p:spTree>
    <p:extLst>
      <p:ext uri="{BB962C8B-B14F-4D97-AF65-F5344CB8AC3E}">
        <p14:creationId xmlns:p14="http://schemas.microsoft.com/office/powerpoint/2010/main" val="2043968440"/>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7EF1AE39-1116-44CF-984E-8EB6883C4BA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EB24FB5-68FF-4BF4-8506-70A1FAD9EB69}"/>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3. DESIGNING FOR REUSE AND ENVIRONMENTAL COMMUNICATION</a:t>
            </a:r>
          </a:p>
        </p:txBody>
      </p:sp>
      <p:sp>
        <p:nvSpPr>
          <p:cNvPr id="3" name="title">
            <a:extLst xmlns:a="http://schemas.openxmlformats.org/drawingml/2006/main">
              <a:ext uri="{FF2B5EF4-FFF2-40B4-BE49-F238E27FC236}">
                <a16:creationId xmlns:a16="http://schemas.microsoft.com/office/drawing/2014/main" id="{240CCE4E-6D73-48AB-A1A9-D7DD2259A5C3}"/>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Function and message work together</a:t>
            </a:r>
          </a:p>
        </p:txBody>
      </p:sp>
      <p:pic>
        <p:nvPicPr>
          <p:cNvPr id="17" name="Teaching visual - A durable carry bag is surrounded by material selection, repeated use, repair, clean offcuts and reusable end-of-life components."/>
          <p:cNvPicPr>
            <a:picLocks xmlns:a="http://schemas.openxmlformats.org/drawingml/2006/main" noChangeAspect="1"/>
          </p:cNvPicPr>
          <p:nvPr/>
        </p:nvPicPr>
        <p:blipFill>
          <a:blip xmlns:r="http://schemas.openxmlformats.org/officeDocument/2006/relationships" xmlns:a="http://schemas.openxmlformats.org/drawingml/2006/main" r:embed="Rcbf7d6468ecf4e71"/>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C1FC5F4F-37DE-4D31-A991-7CCFB552F331}"/>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The Awesome Bag needs to work as a personal carry item and respond to an environmental problem. Function earns repeated use; communication helps the user understand the design intention. Strong concepts make these jobs support each other. Designing for reuse begins with a real user and carrying task. Useful life depends on more than strong material.</a:t>
            </a:r>
          </a:p>
        </p:txBody>
      </p:sp>
      <p:sp>
        <p:nvSpPr>
          <p:cNvPr id="6" name="notice">
            <a:extLst xmlns:a="http://schemas.openxmlformats.org/drawingml/2006/main">
              <a:ext uri="{FF2B5EF4-FFF2-40B4-BE49-F238E27FC236}">
                <a16:creationId xmlns:a16="http://schemas.microsoft.com/office/drawing/2014/main" id="{E7BD2D64-8FA2-4FEC-9EB7-5D1543BFF5A1}"/>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8D3D417E-F937-45D3-8C6D-9C30388F7CFF}"/>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5CCC31F9-8997-4C9D-A142-7595A04FB4F8}"/>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Which part of the cycle would most reduce early replacement, and what project evidence would support that claim?</a:t>
            </a:r>
          </a:p>
        </p:txBody>
      </p:sp>
      <p:sp>
        <p:nvSpPr>
          <p:cNvPr id="9" name="prompt-band">
            <a:extLst xmlns:a="http://schemas.openxmlformats.org/drawingml/2006/main">
              <a:ext uri="{FF2B5EF4-FFF2-40B4-BE49-F238E27FC236}">
                <a16:creationId xmlns:a16="http://schemas.microsoft.com/office/drawing/2014/main" id="{1185F3C6-46ED-4065-B0BF-21472531067E}"/>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8972DA13-5728-4B62-B906-EE370084DC79}"/>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000C0EB1-B4EC-474E-82D5-284810A20382}"/>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Transform a vague environmental slogan into a coherent and testable carry-item concept.</a:t>
            </a:r>
          </a:p>
        </p:txBody>
      </p:sp>
      <p:sp>
        <p:nvSpPr>
          <p:cNvPr id="12" name="footer-module">
            <a:extLst xmlns:a="http://schemas.openxmlformats.org/drawingml/2006/main">
              <a:ext uri="{FF2B5EF4-FFF2-40B4-BE49-F238E27FC236}">
                <a16:creationId xmlns:a16="http://schemas.microsoft.com/office/drawing/2014/main" id="{53B28789-60B5-43AE-A47D-8E79C97E591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06</a:t>
            </a:r>
          </a:p>
        </p:txBody>
      </p:sp>
      <p:sp>
        <p:nvSpPr>
          <p:cNvPr id="13" name="footer-page">
            <a:extLst xmlns:a="http://schemas.openxmlformats.org/drawingml/2006/main">
              <a:ext uri="{FF2B5EF4-FFF2-40B4-BE49-F238E27FC236}">
                <a16:creationId xmlns:a16="http://schemas.microsoft.com/office/drawing/2014/main" id="{1B1D5306-3B9A-4DCC-AE29-5AE69F524B42}"/>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05</a:t>
            </a:r>
          </a:p>
        </p:txBody>
      </p:sp>
    </p:spTree>
    <p:extLst>
      <p:ext uri="{BB962C8B-B14F-4D97-AF65-F5344CB8AC3E}">
        <p14:creationId xmlns:p14="http://schemas.microsoft.com/office/powerpoint/2010/main" val="168818338"/>
      </p:ext>
    </p:extLst>
  </p:cSld>
</p:sld>
</file>

<file path=ppt/slides/slide6.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0F7D2BBD-4D95-44FB-A449-4B7FBE1797A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8AB709F1-9427-4B18-AE5A-728149192DD7}"/>
              </a:ext>
            </a:extLst>
          </p:cNvPr>
          <p:cNvSpPr>
            <a:spLocks xmlns:a="http://schemas.openxmlformats.org/drawingml/2006/main" noGrp="1"/>
          </p:cNvSpPr>
          <p:nvPr/>
        </p:nvSpPr>
        <p:spPr>
          <a:xfrm xmlns:a="http://schemas.openxmlformats.org/drawingml/2006/main">
            <a:off x="533400" y="304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CHECK YOUR UNDERSTANDING</a:t>
            </a:r>
          </a:p>
        </p:txBody>
      </p:sp>
      <p:sp>
        <p:nvSpPr>
          <p:cNvPr id="3" name="title">
            <a:extLst xmlns:a="http://schemas.openxmlformats.org/drawingml/2006/main">
              <a:ext uri="{FF2B5EF4-FFF2-40B4-BE49-F238E27FC236}">
                <a16:creationId xmlns:a16="http://schemas.microsoft.com/office/drawing/2014/main" id="{A6AE7D5E-FF88-4C6F-9E79-3D0042F3F2F2}"/>
              </a:ext>
            </a:extLst>
          </p:cNvPr>
          <p:cNvSpPr>
            <a:spLocks xmlns:a="http://schemas.openxmlformats.org/drawingml/2006/main" noGrp="1"/>
          </p:cNvSpPr>
          <p:nvPr/>
        </p:nvSpPr>
        <p:spPr>
          <a:xfrm xmlns:a="http://schemas.openxmlformats.org/drawingml/2006/main">
            <a:off x="533400" y="80010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Stop. Think. Explain.</a:t>
            </a:r>
          </a:p>
        </p:txBody>
      </p:sp>
      <p:sp>
        <p:nvSpPr>
          <p:cNvPr id="4" name="instruction">
            <a:extLst xmlns:a="http://schemas.openxmlformats.org/drawingml/2006/main">
              <a:ext uri="{FF2B5EF4-FFF2-40B4-BE49-F238E27FC236}">
                <a16:creationId xmlns:a16="http://schemas.microsoft.com/office/drawing/2014/main" id="{E5EF445C-8D06-426E-9E1A-A2F055BAB7A2}"/>
              </a:ext>
            </a:extLst>
          </p:cNvPr>
          <p:cNvSpPr>
            <a:spLocks xmlns:a="http://schemas.openxmlformats.org/drawingml/2006/main" noGrp="1"/>
          </p:cNvSpPr>
          <p:nvPr/>
        </p:nvSpPr>
        <p:spPr>
          <a:xfrm xmlns:a="http://schemas.openxmlformats.org/drawingml/2006/main">
            <a:off x="533400" y="14287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a:solidFill>
                  <a:srgbClr val="C8D6D2"/>
                </a:solidFill>
                <a:latin typeface="Aptos"/>
                <a:ea typeface="Aptos"/>
                <a:cs typeface="Aptos"/>
              </a:defRPr>
            </a:pPr>
            <a:r>
              <a:rPr sz="1425">
                <a:solidFill>
                  <a:srgbClr val="C8D6D2"/>
                </a:solidFill>
                <a:latin typeface="Aptos"/>
                <a:ea typeface="Aptos"/>
                <a:cs typeface="Aptos"/>
              </a:rPr>
              <a:t>Answer silently first. Then justify one answer with a partner.</a:t>
            </a:r>
          </a:p>
        </p:txBody>
      </p:sp>
      <p:sp>
        <p:nvSpPr>
          <p:cNvPr id="5" name="check-number-1">
            <a:extLst xmlns:a="http://schemas.openxmlformats.org/drawingml/2006/main">
              <a:ext uri="{FF2B5EF4-FFF2-40B4-BE49-F238E27FC236}">
                <a16:creationId xmlns:a16="http://schemas.microsoft.com/office/drawing/2014/main" id="{887764BE-5C6E-4A5E-8A6A-23CBC0088471}"/>
              </a:ext>
            </a:extLst>
          </p:cNvPr>
          <p:cNvSpPr>
            <a:spLocks xmlns:a="http://schemas.openxmlformats.org/drawingml/2006/main" noGrp="1"/>
          </p:cNvSpPr>
          <p:nvPr/>
        </p:nvSpPr>
        <p:spPr>
          <a:xfrm xmlns:a="http://schemas.openxmlformats.org/drawingml/2006/main">
            <a:off x="685800" y="22383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1</a:t>
            </a:r>
          </a:p>
        </p:txBody>
      </p:sp>
      <p:sp>
        <p:nvSpPr>
          <p:cNvPr id="6" name="check-line-1">
            <a:extLst xmlns:a="http://schemas.openxmlformats.org/drawingml/2006/main">
              <a:ext uri="{FF2B5EF4-FFF2-40B4-BE49-F238E27FC236}">
                <a16:creationId xmlns:a16="http://schemas.microsoft.com/office/drawing/2014/main" id="{B1B12100-C56C-4400-B675-9A258B7B0638}"/>
              </a:ext>
            </a:extLst>
          </p:cNvPr>
          <p:cNvSpPr>
            <a:spLocks xmlns:a="http://schemas.openxmlformats.org/drawingml/2006/main" noGrp="1"/>
          </p:cNvSpPr>
          <p:nvPr/>
        </p:nvSpPr>
        <p:spPr>
          <a:xfrm xmlns:a="http://schemas.openxmlformats.org/drawingml/2006/main">
            <a:off x="1257300" y="24384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7" name="check-1">
            <a:extLst xmlns:a="http://schemas.openxmlformats.org/drawingml/2006/main">
              <a:ext uri="{FF2B5EF4-FFF2-40B4-BE49-F238E27FC236}">
                <a16:creationId xmlns:a16="http://schemas.microsoft.com/office/drawing/2014/main" id="{E4D4E465-B948-4845-89DD-A0BB662BB943}"/>
              </a:ext>
            </a:extLst>
          </p:cNvPr>
          <p:cNvSpPr>
            <a:spLocks xmlns:a="http://schemas.openxmlformats.org/drawingml/2006/main" noGrp="1"/>
          </p:cNvSpPr>
          <p:nvPr/>
        </p:nvSpPr>
        <p:spPr>
          <a:xfrm xmlns:a="http://schemas.openxmlformats.org/drawingml/2006/main">
            <a:off x="1524000" y="21431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sequence best represents life-cycle thinking?</a:t>
            </a:r>
          </a:p>
        </p:txBody>
      </p:sp>
      <p:sp>
        <p:nvSpPr>
          <p:cNvPr id="8" name="check-number-2">
            <a:extLst xmlns:a="http://schemas.openxmlformats.org/drawingml/2006/main">
              <a:ext uri="{FF2B5EF4-FFF2-40B4-BE49-F238E27FC236}">
                <a16:creationId xmlns:a16="http://schemas.microsoft.com/office/drawing/2014/main" id="{5CAFC04A-69FA-4094-8CB2-AB5A64326008}"/>
              </a:ext>
            </a:extLst>
          </p:cNvPr>
          <p:cNvSpPr>
            <a:spLocks xmlns:a="http://schemas.openxmlformats.org/drawingml/2006/main" noGrp="1"/>
          </p:cNvSpPr>
          <p:nvPr/>
        </p:nvSpPr>
        <p:spPr>
          <a:xfrm xmlns:a="http://schemas.openxmlformats.org/drawingml/2006/main">
            <a:off x="685800" y="32099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2</a:t>
            </a:r>
          </a:p>
        </p:txBody>
      </p:sp>
      <p:sp>
        <p:nvSpPr>
          <p:cNvPr id="9" name="check-line-2">
            <a:extLst xmlns:a="http://schemas.openxmlformats.org/drawingml/2006/main">
              <a:ext uri="{FF2B5EF4-FFF2-40B4-BE49-F238E27FC236}">
                <a16:creationId xmlns:a16="http://schemas.microsoft.com/office/drawing/2014/main" id="{C5675C0A-A8ED-469D-83DB-641F4CE9400D}"/>
              </a:ext>
            </a:extLst>
          </p:cNvPr>
          <p:cNvSpPr>
            <a:spLocks xmlns:a="http://schemas.openxmlformats.org/drawingml/2006/main" noGrp="1"/>
          </p:cNvSpPr>
          <p:nvPr/>
        </p:nvSpPr>
        <p:spPr>
          <a:xfrm xmlns:a="http://schemas.openxmlformats.org/drawingml/2006/main">
            <a:off x="1257300" y="34099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0" name="check-2">
            <a:extLst xmlns:a="http://schemas.openxmlformats.org/drawingml/2006/main">
              <a:ext uri="{FF2B5EF4-FFF2-40B4-BE49-F238E27FC236}">
                <a16:creationId xmlns:a16="http://schemas.microsoft.com/office/drawing/2014/main" id="{D400E904-3031-4DFD-9435-FE2487BCE068}"/>
              </a:ext>
            </a:extLst>
          </p:cNvPr>
          <p:cNvSpPr>
            <a:spLocks xmlns:a="http://schemas.openxmlformats.org/drawingml/2006/main" noGrp="1"/>
          </p:cNvSpPr>
          <p:nvPr/>
        </p:nvSpPr>
        <p:spPr>
          <a:xfrm xmlns:a="http://schemas.openxmlformats.org/drawingml/2006/main">
            <a:off x="1524000" y="31146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Why is the phrase 'one Aboriginal style' inaccurate?</a:t>
            </a:r>
          </a:p>
        </p:txBody>
      </p:sp>
      <p:sp>
        <p:nvSpPr>
          <p:cNvPr id="11" name="check-number-3">
            <a:extLst xmlns:a="http://schemas.openxmlformats.org/drawingml/2006/main">
              <a:ext uri="{FF2B5EF4-FFF2-40B4-BE49-F238E27FC236}">
                <a16:creationId xmlns:a16="http://schemas.microsoft.com/office/drawing/2014/main" id="{3D8F0019-6DE0-4943-A711-C4EC142EA5B7}"/>
              </a:ext>
            </a:extLst>
          </p:cNvPr>
          <p:cNvSpPr>
            <a:spLocks xmlns:a="http://schemas.openxmlformats.org/drawingml/2006/main" noGrp="1"/>
          </p:cNvSpPr>
          <p:nvPr/>
        </p:nvSpPr>
        <p:spPr>
          <a:xfrm xmlns:a="http://schemas.openxmlformats.org/drawingml/2006/main">
            <a:off x="685800" y="41814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3</a:t>
            </a:r>
          </a:p>
        </p:txBody>
      </p:sp>
      <p:sp>
        <p:nvSpPr>
          <p:cNvPr id="12" name="check-line-3">
            <a:extLst xmlns:a="http://schemas.openxmlformats.org/drawingml/2006/main">
              <a:ext uri="{FF2B5EF4-FFF2-40B4-BE49-F238E27FC236}">
                <a16:creationId xmlns:a16="http://schemas.microsoft.com/office/drawing/2014/main" id="{0066589C-43DA-4A67-AE39-ED2E37CA42B9}"/>
              </a:ext>
            </a:extLst>
          </p:cNvPr>
          <p:cNvSpPr>
            <a:spLocks xmlns:a="http://schemas.openxmlformats.org/drawingml/2006/main" noGrp="1"/>
          </p:cNvSpPr>
          <p:nvPr/>
        </p:nvSpPr>
        <p:spPr>
          <a:xfrm xmlns:a="http://schemas.openxmlformats.org/drawingml/2006/main">
            <a:off x="1257300" y="43815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3" name="check-3">
            <a:extLst xmlns:a="http://schemas.openxmlformats.org/drawingml/2006/main">
              <a:ext uri="{FF2B5EF4-FFF2-40B4-BE49-F238E27FC236}">
                <a16:creationId xmlns:a16="http://schemas.microsoft.com/office/drawing/2014/main" id="{C4F02570-AC8A-4EA8-B6AF-BFA0AD23C779}"/>
              </a:ext>
            </a:extLst>
          </p:cNvPr>
          <p:cNvSpPr>
            <a:spLocks xmlns:a="http://schemas.openxmlformats.org/drawingml/2006/main" noGrp="1"/>
          </p:cNvSpPr>
          <p:nvPr/>
        </p:nvSpPr>
        <p:spPr>
          <a:xfrm xmlns:a="http://schemas.openxmlformats.org/drawingml/2006/main">
            <a:off x="1524000" y="40862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is the strongest starting point for designing a reusable carry item?</a:t>
            </a:r>
          </a:p>
        </p:txBody>
      </p:sp>
      <p:sp>
        <p:nvSpPr>
          <p:cNvPr id="14" name="check-number-4">
            <a:extLst xmlns:a="http://schemas.openxmlformats.org/drawingml/2006/main">
              <a:ext uri="{FF2B5EF4-FFF2-40B4-BE49-F238E27FC236}">
                <a16:creationId xmlns:a16="http://schemas.microsoft.com/office/drawing/2014/main" id="{0A1D383C-890A-416F-90B9-0720D8CA4AFF}"/>
              </a:ext>
            </a:extLst>
          </p:cNvPr>
          <p:cNvSpPr>
            <a:spLocks xmlns:a="http://schemas.openxmlformats.org/drawingml/2006/main" noGrp="1"/>
          </p:cNvSpPr>
          <p:nvPr/>
        </p:nvSpPr>
        <p:spPr>
          <a:xfrm xmlns:a="http://schemas.openxmlformats.org/drawingml/2006/main">
            <a:off x="685800" y="51530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4</a:t>
            </a:r>
          </a:p>
        </p:txBody>
      </p:sp>
      <p:sp>
        <p:nvSpPr>
          <p:cNvPr id="15" name="check-line-4">
            <a:extLst xmlns:a="http://schemas.openxmlformats.org/drawingml/2006/main">
              <a:ext uri="{FF2B5EF4-FFF2-40B4-BE49-F238E27FC236}">
                <a16:creationId xmlns:a16="http://schemas.microsoft.com/office/drawing/2014/main" id="{18B7B426-1A09-43A9-B3E8-72E026E0F33B}"/>
              </a:ext>
            </a:extLst>
          </p:cNvPr>
          <p:cNvSpPr>
            <a:spLocks xmlns:a="http://schemas.openxmlformats.org/drawingml/2006/main" noGrp="1"/>
          </p:cNvSpPr>
          <p:nvPr/>
        </p:nvSpPr>
        <p:spPr>
          <a:xfrm xmlns:a="http://schemas.openxmlformats.org/drawingml/2006/main">
            <a:off x="1257300" y="53530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6" name="check-4">
            <a:extLst xmlns:a="http://schemas.openxmlformats.org/drawingml/2006/main">
              <a:ext uri="{FF2B5EF4-FFF2-40B4-BE49-F238E27FC236}">
                <a16:creationId xmlns:a16="http://schemas.microsoft.com/office/drawing/2014/main" id="{5C6F3813-EF6A-49BA-9E80-F5AD8F1B9549}"/>
              </a:ext>
            </a:extLst>
          </p:cNvPr>
          <p:cNvSpPr>
            <a:spLocks xmlns:a="http://schemas.openxmlformats.org/drawingml/2006/main" noGrp="1"/>
          </p:cNvSpPr>
          <p:nvPr/>
        </p:nvSpPr>
        <p:spPr>
          <a:xfrm xmlns:a="http://schemas.openxmlformats.org/drawingml/2006/main">
            <a:off x="1524000" y="50577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idea from this module most changes your next design or production decision?</a:t>
            </a:r>
          </a:p>
        </p:txBody>
      </p:sp>
      <p:sp>
        <p:nvSpPr>
          <p:cNvPr id="17" name="footer-module">
            <a:extLst xmlns:a="http://schemas.openxmlformats.org/drawingml/2006/main">
              <a:ext uri="{FF2B5EF4-FFF2-40B4-BE49-F238E27FC236}">
                <a16:creationId xmlns:a16="http://schemas.microsoft.com/office/drawing/2014/main" id="{EEDEF5E6-943C-4C9E-9546-AF7177FCCE2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8D6D2"/>
                </a:solidFill>
                <a:latin typeface="Aptos"/>
                <a:ea typeface="Aptos"/>
                <a:cs typeface="Aptos"/>
              </a:defRPr>
            </a:pPr>
            <a:r>
              <a:rPr sz="900" b="1">
                <a:solidFill>
                  <a:srgbClr val="C8D6D2"/>
                </a:solidFill>
                <a:latin typeface="Aptos"/>
                <a:ea typeface="Aptos"/>
                <a:cs typeface="Aptos"/>
              </a:rPr>
              <a:t>SEW AWESOME  •  MODULE 06</a:t>
            </a:r>
          </a:p>
        </p:txBody>
      </p:sp>
      <p:sp>
        <p:nvSpPr>
          <p:cNvPr id="18" name="footer-page">
            <a:extLst xmlns:a="http://schemas.openxmlformats.org/drawingml/2006/main">
              <a:ext uri="{FF2B5EF4-FFF2-40B4-BE49-F238E27FC236}">
                <a16:creationId xmlns:a16="http://schemas.microsoft.com/office/drawing/2014/main" id="{A35353B8-0984-47E3-B294-CA1D806F0612}"/>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C8D6D2"/>
                </a:solidFill>
                <a:latin typeface="Aptos"/>
                <a:ea typeface="Aptos"/>
                <a:cs typeface="Aptos"/>
              </a:defRPr>
            </a:pPr>
            <a:r>
              <a:rPr sz="900" b="1">
                <a:solidFill>
                  <a:srgbClr val="C8D6D2"/>
                </a:solidFill>
                <a:latin typeface="Aptos"/>
                <a:ea typeface="Aptos"/>
                <a:cs typeface="Aptos"/>
              </a:rPr>
              <a:t>06</a:t>
            </a:r>
          </a:p>
        </p:txBody>
      </p:sp>
    </p:spTree>
    <p:extLst>
      <p:ext uri="{BB962C8B-B14F-4D97-AF65-F5344CB8AC3E}">
        <p14:creationId xmlns:p14="http://schemas.microsoft.com/office/powerpoint/2010/main" val="1733339432"/>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top-rule">
            <a:extLst xmlns:a="http://schemas.openxmlformats.org/drawingml/2006/main">
              <a:ext uri="{FF2B5EF4-FFF2-40B4-BE49-F238E27FC236}">
                <a16:creationId xmlns:a16="http://schemas.microsoft.com/office/drawing/2014/main" id="{CE39E438-EF1C-4842-9CFA-BF303923857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6C726EF6-C18E-46D1-8719-053B7532D7F5}"/>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MODEL A LONGER RESPONSE</a:t>
            </a:r>
          </a:p>
        </p:txBody>
      </p:sp>
      <p:sp>
        <p:nvSpPr>
          <p:cNvPr id="3" name="title">
            <a:extLst xmlns:a="http://schemas.openxmlformats.org/drawingml/2006/main">
              <a:ext uri="{FF2B5EF4-FFF2-40B4-BE49-F238E27FC236}">
                <a16:creationId xmlns:a16="http://schemas.microsoft.com/office/drawing/2014/main" id="{36A170F3-F18C-48C0-8F9D-1ADA8B704019}"/>
              </a:ext>
            </a:extLst>
          </p:cNvPr>
          <p:cNvSpPr>
            <a:spLocks xmlns:a="http://schemas.openxmlformats.org/drawingml/2006/main" noGrp="1"/>
          </p:cNvSpPr>
          <p:nvPr/>
        </p:nvSpPr>
        <p:spPr>
          <a:xfrm xmlns:a="http://schemas.openxmlformats.org/drawingml/2006/main">
            <a:off x="533400" y="7239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Read → Select → Explain → Check</a:t>
            </a:r>
          </a:p>
        </p:txBody>
      </p:sp>
      <p:sp>
        <p:nvSpPr>
          <p:cNvPr id="4" name="question-surface">
            <a:extLst xmlns:a="http://schemas.openxmlformats.org/drawingml/2006/main">
              <a:ext uri="{FF2B5EF4-FFF2-40B4-BE49-F238E27FC236}">
                <a16:creationId xmlns:a16="http://schemas.microsoft.com/office/drawing/2014/main" id="{ED701A67-093D-4234-819B-2B2BEC9411F0}"/>
              </a:ext>
            </a:extLst>
          </p:cNvPr>
          <p:cNvSpPr>
            <a:spLocks xmlns:a="http://schemas.openxmlformats.org/drawingml/2006/main" noGrp="1"/>
          </p:cNvSpPr>
          <p:nvPr/>
        </p:nvSpPr>
        <p:spPr>
          <a:xfrm xmlns:a="http://schemas.openxmlformats.org/drawingml/2006/main">
            <a:off x="533400" y="1562100"/>
            <a:ext cx="11125200" cy="1485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D6CC"/>
            </a:solidFill>
            <a:prstDash val="solid"/>
          </a:ln>
        </p:spPr>
      </p:sp>
      <p:sp>
        <p:nvSpPr>
          <p:cNvPr id="5" name="question-label">
            <a:extLst xmlns:a="http://schemas.openxmlformats.org/drawingml/2006/main">
              <a:ext uri="{FF2B5EF4-FFF2-40B4-BE49-F238E27FC236}">
                <a16:creationId xmlns:a16="http://schemas.microsoft.com/office/drawing/2014/main" id="{CF14989C-9177-48AB-A5AD-E51B82F98275}"/>
              </a:ext>
            </a:extLst>
          </p:cNvPr>
          <p:cNvSpPr>
            <a:spLocks xmlns:a="http://schemas.openxmlformats.org/drawingml/2006/main" noGrp="1"/>
          </p:cNvSpPr>
          <p:nvPr/>
        </p:nvSpPr>
        <p:spPr>
          <a:xfrm xmlns:a="http://schemas.openxmlformats.org/drawingml/2006/main">
            <a:off x="762000" y="1771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THE QUESTION</a:t>
            </a:r>
          </a:p>
        </p:txBody>
      </p:sp>
      <p:sp>
        <p:nvSpPr>
          <p:cNvPr id="6" name="question">
            <a:extLst xmlns:a="http://schemas.openxmlformats.org/drawingml/2006/main">
              <a:ext uri="{FF2B5EF4-FFF2-40B4-BE49-F238E27FC236}">
                <a16:creationId xmlns:a16="http://schemas.microsoft.com/office/drawing/2014/main" id="{4839D9AD-7ED0-4F80-8909-E74E20A002AF}"/>
              </a:ext>
            </a:extLst>
          </p:cNvPr>
          <p:cNvSpPr>
            <a:spLocks xmlns:a="http://schemas.openxmlformats.org/drawingml/2006/main" noGrp="1"/>
          </p:cNvSpPr>
          <p:nvPr/>
        </p:nvSpPr>
        <p:spPr>
          <a:xfrm xmlns:a="http://schemas.openxmlformats.org/drawingml/2006/main">
            <a:off x="762000" y="2076450"/>
            <a:ext cx="10629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b="1">
                <a:solidFill>
                  <a:srgbClr val="20302E"/>
                </a:solidFill>
                <a:latin typeface="Aptos"/>
                <a:ea typeface="Aptos"/>
                <a:cs typeface="Aptos"/>
              </a:defRPr>
            </a:pPr>
            <a:r>
              <a:rPr sz="1650" b="1">
                <a:solidFill>
                  <a:srgbClr val="20302E"/>
                </a:solidFill>
                <a:latin typeface="Aptos"/>
                <a:ea typeface="Aptos"/>
                <a:cs typeface="Aptos"/>
              </a:rPr>
              <a:t>Develop and justify a responsible concept for a reusable personal carry item that combines useful function with honest environmental communication.</a:t>
            </a:r>
          </a:p>
        </p:txBody>
      </p:sp>
      <p:sp>
        <p:nvSpPr>
          <p:cNvPr id="7" name="arrow-1">
            <a:extLst xmlns:a="http://schemas.openxmlformats.org/drawingml/2006/main">
              <a:ext uri="{FF2B5EF4-FFF2-40B4-BE49-F238E27FC236}">
                <a16:creationId xmlns:a16="http://schemas.microsoft.com/office/drawing/2014/main" id="{F02DAB08-362F-4CB5-9E28-9842A55CA1A5}"/>
              </a:ext>
            </a:extLst>
          </p:cNvPr>
          <p:cNvSpPr>
            <a:spLocks xmlns:a="http://schemas.openxmlformats.org/drawingml/2006/main" noGrp="1"/>
          </p:cNvSpPr>
          <p:nvPr/>
        </p:nvSpPr>
        <p:spPr>
          <a:xfrm xmlns:a="http://schemas.openxmlformats.org/drawingml/2006/main">
            <a:off x="2914650" y="4038600"/>
            <a:ext cx="342900" cy="323850"/>
          </a:xfrm>
          <a:prstGeom xmlns:a="http://schemas.openxmlformats.org/drawingml/2006/main" prst="rightArrow">
            <a:avLst/>
          </a:prstGeom>
          <a:solidFill xmlns:a="http://schemas.openxmlformats.org/drawingml/2006/main">
            <a:srgbClr val="146B66"/>
          </a:solidFill>
          <a:ln xmlns:a="http://schemas.openxmlformats.org/drawingml/2006/main" w="0">
            <a:noFill/>
            <a:prstDash val="solid"/>
          </a:ln>
        </p:spPr>
      </p:sp>
      <p:sp>
        <p:nvSpPr>
          <p:cNvPr id="8" name="step-label-1">
            <a:extLst xmlns:a="http://schemas.openxmlformats.org/drawingml/2006/main">
              <a:ext uri="{FF2B5EF4-FFF2-40B4-BE49-F238E27FC236}">
                <a16:creationId xmlns:a16="http://schemas.microsoft.com/office/drawing/2014/main" id="{ECB7C839-D573-4D9B-8705-1FE504E786C0}"/>
              </a:ext>
            </a:extLst>
          </p:cNvPr>
          <p:cNvSpPr>
            <a:spLocks xmlns:a="http://schemas.openxmlformats.org/drawingml/2006/main" noGrp="1"/>
          </p:cNvSpPr>
          <p:nvPr/>
        </p:nvSpPr>
        <p:spPr>
          <a:xfrm xmlns:a="http://schemas.openxmlformats.org/drawingml/2006/main">
            <a:off x="5334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6B66"/>
                </a:solidFill>
                <a:latin typeface="Aptos"/>
                <a:ea typeface="Aptos"/>
                <a:cs typeface="Aptos"/>
              </a:defRPr>
            </a:pPr>
            <a:r>
              <a:rPr sz="1200" b="1">
                <a:solidFill>
                  <a:srgbClr val="146B66"/>
                </a:solidFill>
                <a:latin typeface="Aptos"/>
                <a:ea typeface="Aptos"/>
                <a:cs typeface="Aptos"/>
              </a:rPr>
              <a:t>1  READ</a:t>
            </a:r>
          </a:p>
        </p:txBody>
      </p:sp>
      <p:sp>
        <p:nvSpPr>
          <p:cNvPr id="9" name="step-text-1">
            <a:extLst xmlns:a="http://schemas.openxmlformats.org/drawingml/2006/main">
              <a:ext uri="{FF2B5EF4-FFF2-40B4-BE49-F238E27FC236}">
                <a16:creationId xmlns:a16="http://schemas.microsoft.com/office/drawing/2014/main" id="{F6C5CA0B-B06F-49C6-A448-756CD4298D54}"/>
              </a:ext>
            </a:extLst>
          </p:cNvPr>
          <p:cNvSpPr>
            <a:spLocks xmlns:a="http://schemas.openxmlformats.org/drawingml/2006/main" noGrp="1"/>
          </p:cNvSpPr>
          <p:nvPr/>
        </p:nvSpPr>
        <p:spPr>
          <a:xfrm xmlns:a="http://schemas.openxmlformats.org/drawingml/2006/main">
            <a:off x="5334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Define the intended user, carrying task and reason the item would be selected repeatedly.</a:t>
            </a:r>
          </a:p>
        </p:txBody>
      </p:sp>
      <p:sp>
        <p:nvSpPr>
          <p:cNvPr id="10" name="arrow-2">
            <a:extLst xmlns:a="http://schemas.openxmlformats.org/drawingml/2006/main">
              <a:ext uri="{FF2B5EF4-FFF2-40B4-BE49-F238E27FC236}">
                <a16:creationId xmlns:a16="http://schemas.microsoft.com/office/drawing/2014/main" id="{8ED9CCEC-0891-4A34-85CF-732F9F2DC874}"/>
              </a:ext>
            </a:extLst>
          </p:cNvPr>
          <p:cNvSpPr>
            <a:spLocks xmlns:a="http://schemas.openxmlformats.org/drawingml/2006/main" noGrp="1"/>
          </p:cNvSpPr>
          <p:nvPr/>
        </p:nvSpPr>
        <p:spPr>
          <a:xfrm xmlns:a="http://schemas.openxmlformats.org/drawingml/2006/main">
            <a:off x="5695950" y="4038600"/>
            <a:ext cx="342900" cy="323850"/>
          </a:xfrm>
          <a:prstGeom xmlns:a="http://schemas.openxmlformats.org/drawingml/2006/main" prst="rightArrow">
            <a:avLst/>
          </a:prstGeom>
          <a:solidFill xmlns:a="http://schemas.openxmlformats.org/drawingml/2006/main">
            <a:srgbClr val="BF4C5A"/>
          </a:solidFill>
          <a:ln xmlns:a="http://schemas.openxmlformats.org/drawingml/2006/main" w="0">
            <a:noFill/>
            <a:prstDash val="solid"/>
          </a:ln>
        </p:spPr>
      </p:sp>
      <p:sp>
        <p:nvSpPr>
          <p:cNvPr id="11" name="step-label-2">
            <a:extLst xmlns:a="http://schemas.openxmlformats.org/drawingml/2006/main">
              <a:ext uri="{FF2B5EF4-FFF2-40B4-BE49-F238E27FC236}">
                <a16:creationId xmlns:a16="http://schemas.microsoft.com/office/drawing/2014/main" id="{36FD347E-B3C4-4F0C-9BE7-CEBA7B3E931E}"/>
              </a:ext>
            </a:extLst>
          </p:cNvPr>
          <p:cNvSpPr>
            <a:spLocks xmlns:a="http://schemas.openxmlformats.org/drawingml/2006/main" noGrp="1"/>
          </p:cNvSpPr>
          <p:nvPr/>
        </p:nvSpPr>
        <p:spPr>
          <a:xfrm xmlns:a="http://schemas.openxmlformats.org/drawingml/2006/main">
            <a:off x="33147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BF4C5A"/>
                </a:solidFill>
                <a:latin typeface="Aptos"/>
                <a:ea typeface="Aptos"/>
                <a:cs typeface="Aptos"/>
              </a:defRPr>
            </a:pPr>
            <a:r>
              <a:rPr sz="1200" b="1">
                <a:solidFill>
                  <a:srgbClr val="BF4C5A"/>
                </a:solidFill>
                <a:latin typeface="Aptos"/>
                <a:ea typeface="Aptos"/>
                <a:cs typeface="Aptos"/>
              </a:rPr>
              <a:t>2  SELECT</a:t>
            </a:r>
          </a:p>
        </p:txBody>
      </p:sp>
      <p:sp>
        <p:nvSpPr>
          <p:cNvPr id="12" name="step-text-2">
            <a:extLst xmlns:a="http://schemas.openxmlformats.org/drawingml/2006/main">
              <a:ext uri="{FF2B5EF4-FFF2-40B4-BE49-F238E27FC236}">
                <a16:creationId xmlns:a16="http://schemas.microsoft.com/office/drawing/2014/main" id="{ABA28E6C-BD10-4EF3-B12A-D6B85376C9E6}"/>
              </a:ext>
            </a:extLst>
          </p:cNvPr>
          <p:cNvSpPr>
            <a:spLocks xmlns:a="http://schemas.openxmlformats.org/drawingml/2006/main" noGrp="1"/>
          </p:cNvSpPr>
          <p:nvPr/>
        </p:nvSpPr>
        <p:spPr>
          <a:xfrm xmlns:a="http://schemas.openxmlformats.org/drawingml/2006/main">
            <a:off x="33147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Explain at least three features supporting access, carrying, durability, maintenance or repair.</a:t>
            </a:r>
          </a:p>
        </p:txBody>
      </p:sp>
      <p:sp>
        <p:nvSpPr>
          <p:cNvPr id="13" name="arrow-3">
            <a:extLst xmlns:a="http://schemas.openxmlformats.org/drawingml/2006/main">
              <a:ext uri="{FF2B5EF4-FFF2-40B4-BE49-F238E27FC236}">
                <a16:creationId xmlns:a16="http://schemas.microsoft.com/office/drawing/2014/main" id="{2C9A746D-490D-4E20-A0A7-9F16E4E828C3}"/>
              </a:ext>
            </a:extLst>
          </p:cNvPr>
          <p:cNvSpPr>
            <a:spLocks xmlns:a="http://schemas.openxmlformats.org/drawingml/2006/main" noGrp="1"/>
          </p:cNvSpPr>
          <p:nvPr/>
        </p:nvSpPr>
        <p:spPr>
          <a:xfrm xmlns:a="http://schemas.openxmlformats.org/drawingml/2006/main">
            <a:off x="8477250" y="4038600"/>
            <a:ext cx="342900" cy="323850"/>
          </a:xfrm>
          <a:prstGeom xmlns:a="http://schemas.openxmlformats.org/drawingml/2006/main" prst="rightArrow">
            <a:avLst/>
          </a:prstGeom>
          <a:solidFill xmlns:a="http://schemas.openxmlformats.org/drawingml/2006/main">
            <a:srgbClr val="D49A34"/>
          </a:solidFill>
          <a:ln xmlns:a="http://schemas.openxmlformats.org/drawingml/2006/main" w="0">
            <a:noFill/>
            <a:prstDash val="solid"/>
          </a:ln>
        </p:spPr>
      </p:sp>
      <p:sp>
        <p:nvSpPr>
          <p:cNvPr id="14" name="step-label-3">
            <a:extLst xmlns:a="http://schemas.openxmlformats.org/drawingml/2006/main">
              <a:ext uri="{FF2B5EF4-FFF2-40B4-BE49-F238E27FC236}">
                <a16:creationId xmlns:a16="http://schemas.microsoft.com/office/drawing/2014/main" id="{E1CE0E0A-8A7E-469E-812C-FF38D3200A2F}"/>
              </a:ext>
            </a:extLst>
          </p:cNvPr>
          <p:cNvSpPr>
            <a:spLocks xmlns:a="http://schemas.openxmlformats.org/drawingml/2006/main" noGrp="1"/>
          </p:cNvSpPr>
          <p:nvPr/>
        </p:nvSpPr>
        <p:spPr>
          <a:xfrm xmlns:a="http://schemas.openxmlformats.org/drawingml/2006/main">
            <a:off x="60960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49A34"/>
                </a:solidFill>
                <a:latin typeface="Aptos"/>
                <a:ea typeface="Aptos"/>
                <a:cs typeface="Aptos"/>
              </a:defRPr>
            </a:pPr>
            <a:r>
              <a:rPr sz="1200" b="1">
                <a:solidFill>
                  <a:srgbClr val="D49A34"/>
                </a:solidFill>
                <a:latin typeface="Aptos"/>
                <a:ea typeface="Aptos"/>
                <a:cs typeface="Aptos"/>
              </a:rPr>
              <a:t>3  EXPLAIN</a:t>
            </a:r>
          </a:p>
        </p:txBody>
      </p:sp>
      <p:sp>
        <p:nvSpPr>
          <p:cNvPr id="15" name="step-text-3">
            <a:extLst xmlns:a="http://schemas.openxmlformats.org/drawingml/2006/main">
              <a:ext uri="{FF2B5EF4-FFF2-40B4-BE49-F238E27FC236}">
                <a16:creationId xmlns:a16="http://schemas.microsoft.com/office/drawing/2014/main" id="{1F9E8D1D-B918-4C74-8774-2DA232E1D695}"/>
              </a:ext>
            </a:extLst>
          </p:cNvPr>
          <p:cNvSpPr>
            <a:spLocks xmlns:a="http://schemas.openxmlformats.org/drawingml/2006/main" noGrp="1"/>
          </p:cNvSpPr>
          <p:nvPr/>
        </p:nvSpPr>
        <p:spPr>
          <a:xfrm xmlns:a="http://schemas.openxmlformats.org/drawingml/2006/main">
            <a:off x="60960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Describe an original, legible environmental message and its purposeful placement.</a:t>
            </a:r>
          </a:p>
        </p:txBody>
      </p:sp>
      <p:sp>
        <p:nvSpPr>
          <p:cNvPr id="16" name="step-label-4">
            <a:extLst xmlns:a="http://schemas.openxmlformats.org/drawingml/2006/main">
              <a:ext uri="{FF2B5EF4-FFF2-40B4-BE49-F238E27FC236}">
                <a16:creationId xmlns:a16="http://schemas.microsoft.com/office/drawing/2014/main" id="{2A3DB190-5B50-46EF-830E-9993FA734164}"/>
              </a:ext>
            </a:extLst>
          </p:cNvPr>
          <p:cNvSpPr>
            <a:spLocks xmlns:a="http://schemas.openxmlformats.org/drawingml/2006/main" noGrp="1"/>
          </p:cNvSpPr>
          <p:nvPr/>
        </p:nvSpPr>
        <p:spPr>
          <a:xfrm xmlns:a="http://schemas.openxmlformats.org/drawingml/2006/main">
            <a:off x="88773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C4E4A"/>
                </a:solidFill>
                <a:latin typeface="Aptos"/>
                <a:ea typeface="Aptos"/>
                <a:cs typeface="Aptos"/>
              </a:defRPr>
            </a:pPr>
            <a:r>
              <a:rPr sz="1200" b="1">
                <a:solidFill>
                  <a:srgbClr val="0C4E4A"/>
                </a:solidFill>
                <a:latin typeface="Aptos"/>
                <a:ea typeface="Aptos"/>
                <a:cs typeface="Aptos"/>
              </a:rPr>
              <a:t>4  CHECK</a:t>
            </a:r>
          </a:p>
        </p:txBody>
      </p:sp>
      <p:sp>
        <p:nvSpPr>
          <p:cNvPr id="17" name="step-text-4">
            <a:extLst xmlns:a="http://schemas.openxmlformats.org/drawingml/2006/main">
              <a:ext uri="{FF2B5EF4-FFF2-40B4-BE49-F238E27FC236}">
                <a16:creationId xmlns:a16="http://schemas.microsoft.com/office/drawing/2014/main" id="{78577FB9-CE18-4E1D-8F60-A1F8F5D1B224}"/>
              </a:ext>
            </a:extLst>
          </p:cNvPr>
          <p:cNvSpPr>
            <a:spLocks xmlns:a="http://schemas.openxmlformats.org/drawingml/2006/main" noGrp="1"/>
          </p:cNvSpPr>
          <p:nvPr/>
        </p:nvSpPr>
        <p:spPr>
          <a:xfrm xmlns:a="http://schemas.openxmlformats.org/drawingml/2006/main">
            <a:off x="88773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Convert the main intentions into testable statements and name suitable evidence.</a:t>
            </a:r>
          </a:p>
        </p:txBody>
      </p:sp>
      <p:sp>
        <p:nvSpPr>
          <p:cNvPr id="18" name="starter">
            <a:extLst xmlns:a="http://schemas.openxmlformats.org/drawingml/2006/main">
              <a:ext uri="{FF2B5EF4-FFF2-40B4-BE49-F238E27FC236}">
                <a16:creationId xmlns:a16="http://schemas.microsoft.com/office/drawing/2014/main" id="{C8F1FBD4-AF84-4DD4-9126-D79CA3D3B37C}"/>
              </a:ext>
            </a:extLst>
          </p:cNvPr>
          <p:cNvSpPr>
            <a:spLocks xmlns:a="http://schemas.openxmlformats.org/drawingml/2006/main" noGrp="1"/>
          </p:cNvSpPr>
          <p:nvPr/>
        </p:nvSpPr>
        <p:spPr>
          <a:xfrm xmlns:a="http://schemas.openxmlformats.org/drawingml/2006/main">
            <a:off x="533400" y="5429250"/>
            <a:ext cx="11125200" cy="704850"/>
          </a:xfrm>
          <a:prstGeom xmlns:a="http://schemas.openxmlformats.org/drawingml/2006/main" prst="roundRect">
            <a:avLst>
              <a:gd name="adj" fmla="val 16216"/>
            </a:avLst>
          </a:prstGeom>
          <a:solidFill xmlns:a="http://schemas.openxmlformats.org/drawingml/2006/main">
            <a:srgbClr val="FFF4D5"/>
          </a:solidFill>
          <a:ln xmlns:a="http://schemas.openxmlformats.org/drawingml/2006/main" w="9525">
            <a:solidFill>
              <a:srgbClr val="E7C87E"/>
            </a:solidFill>
            <a:prstDash val="solid"/>
          </a:ln>
        </p:spPr>
      </p:sp>
      <p:sp>
        <p:nvSpPr>
          <p:cNvPr id="19" name="starter-label">
            <a:extLst xmlns:a="http://schemas.openxmlformats.org/drawingml/2006/main">
              <a:ext uri="{FF2B5EF4-FFF2-40B4-BE49-F238E27FC236}">
                <a16:creationId xmlns:a16="http://schemas.microsoft.com/office/drawing/2014/main" id="{D8867212-457B-43DD-84C6-63F5FCAFC716}"/>
              </a:ext>
            </a:extLst>
          </p:cNvPr>
          <p:cNvSpPr>
            <a:spLocks xmlns:a="http://schemas.openxmlformats.org/drawingml/2006/main" noGrp="1"/>
          </p:cNvSpPr>
          <p:nvPr/>
        </p:nvSpPr>
        <p:spPr>
          <a:xfrm xmlns:a="http://schemas.openxmlformats.org/drawingml/2006/main">
            <a:off x="742950" y="5581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SENTENCE STARTER</a:t>
            </a:r>
          </a:p>
        </p:txBody>
      </p:sp>
      <p:sp>
        <p:nvSpPr>
          <p:cNvPr id="20" name="starter-text">
            <a:extLst xmlns:a="http://schemas.openxmlformats.org/drawingml/2006/main">
              <a:ext uri="{FF2B5EF4-FFF2-40B4-BE49-F238E27FC236}">
                <a16:creationId xmlns:a16="http://schemas.microsoft.com/office/drawing/2014/main" id="{406218FB-7881-45E9-A7CE-46120A02FDF9}"/>
              </a:ext>
            </a:extLst>
          </p:cNvPr>
          <p:cNvSpPr>
            <a:spLocks xmlns:a="http://schemas.openxmlformats.org/drawingml/2006/main" noGrp="1"/>
          </p:cNvSpPr>
          <p:nvPr/>
        </p:nvSpPr>
        <p:spPr>
          <a:xfrm xmlns:a="http://schemas.openxmlformats.org/drawingml/2006/main">
            <a:off x="2381250" y="55530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The strongest evidence is … because it shows … This changes my decision by …</a:t>
            </a:r>
          </a:p>
        </p:txBody>
      </p:sp>
      <p:sp>
        <p:nvSpPr>
          <p:cNvPr id="21" name="footer-module">
            <a:extLst xmlns:a="http://schemas.openxmlformats.org/drawingml/2006/main">
              <a:ext uri="{FF2B5EF4-FFF2-40B4-BE49-F238E27FC236}">
                <a16:creationId xmlns:a16="http://schemas.microsoft.com/office/drawing/2014/main" id="{16A2BC48-78C6-497E-9440-99B19C136D3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06</a:t>
            </a:r>
          </a:p>
        </p:txBody>
      </p:sp>
      <p:sp>
        <p:nvSpPr>
          <p:cNvPr id="22" name="footer-page">
            <a:extLst xmlns:a="http://schemas.openxmlformats.org/drawingml/2006/main">
              <a:ext uri="{FF2B5EF4-FFF2-40B4-BE49-F238E27FC236}">
                <a16:creationId xmlns:a16="http://schemas.microsoft.com/office/drawing/2014/main" id="{E784B970-D992-4361-AA37-9387DFCB7F5E}"/>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07</a:t>
            </a:r>
          </a:p>
        </p:txBody>
      </p:sp>
    </p:spTree>
    <p:extLst>
      <p:ext uri="{BB962C8B-B14F-4D97-AF65-F5344CB8AC3E}">
        <p14:creationId xmlns:p14="http://schemas.microsoft.com/office/powerpoint/2010/main" val="1067257253"/>
      </p:ext>
    </p:extLst>
  </p:cSld>
</p:sld>
</file>

<file path=ppt/slides/slide8.xml><?xml version="1.0" encoding="utf-8"?>
<p:sld xmlns:p="http://schemas.openxmlformats.org/presentationml/2006/main">
  <p:cSld>
    <p:bg>
      <p:bgPr>
        <a:solidFill xmlns:a="http://schemas.openxmlformats.org/drawingml/2006/main">
          <a:srgbClr val="BF4C5A"/>
        </a:solidFill>
      </p:bgPr>
    </p:bg>
    <p:spTree>
      <p:nvGrpSpPr>
        <p:cNvPr id="1" name=""/>
        <p:cNvGrpSpPr/>
        <p:nvPr/>
      </p:nvGrpSpPr>
      <p:grpSpPr>
        <a:xfrm xmlns:a="http://schemas.openxmlformats.org/drawingml/2006/main"/>
      </p:grpSpPr>
      <p:sp>
        <p:nvSpPr>
          <p:cNvPr id="18" name="top-rule">
            <a:extLst xmlns:a="http://schemas.openxmlformats.org/drawingml/2006/main">
              <a:ext uri="{FF2B5EF4-FFF2-40B4-BE49-F238E27FC236}">
                <a16:creationId xmlns:a16="http://schemas.microsoft.com/office/drawing/2014/main" id="{9BF492E7-1D37-4188-B935-F296F6B37A8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21E55E14-C866-4695-8C30-ADA1381ED914}"/>
              </a:ext>
            </a:extLst>
          </p:cNvPr>
          <p:cNvSpPr>
            <a:spLocks xmlns:a="http://schemas.openxmlformats.org/drawingml/2006/main" noGrp="1"/>
          </p:cNvSpPr>
          <p:nvPr/>
        </p:nvSpPr>
        <p:spPr>
          <a:xfrm xmlns:a="http://schemas.openxmlformats.org/drawingml/2006/main">
            <a:off x="5334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0BF"/>
                </a:solidFill>
                <a:latin typeface="Aptos"/>
                <a:ea typeface="Aptos"/>
                <a:cs typeface="Aptos"/>
              </a:defRPr>
            </a:pPr>
            <a:r>
              <a:rPr sz="1050" b="1">
                <a:solidFill>
                  <a:srgbClr val="FFF0BF"/>
                </a:solidFill>
                <a:latin typeface="Aptos"/>
                <a:ea typeface="Aptos"/>
                <a:cs typeface="Aptos"/>
              </a:rPr>
              <a:t>CLOSE THE LOOP</a:t>
            </a:r>
          </a:p>
        </p:txBody>
      </p:sp>
      <p:sp>
        <p:nvSpPr>
          <p:cNvPr id="3" name="title">
            <a:extLst xmlns:a="http://schemas.openxmlformats.org/drawingml/2006/main">
              <a:ext uri="{FF2B5EF4-FFF2-40B4-BE49-F238E27FC236}">
                <a16:creationId xmlns:a16="http://schemas.microsoft.com/office/drawing/2014/main" id="{FFE8CD57-BF39-4B13-AD0B-3F580B81B475}"/>
              </a:ext>
            </a:extLst>
          </p:cNvPr>
          <p:cNvSpPr>
            <a:spLocks xmlns:a="http://schemas.openxmlformats.org/drawingml/2006/main" noGrp="1"/>
          </p:cNvSpPr>
          <p:nvPr/>
        </p:nvSpPr>
        <p:spPr>
          <a:xfrm xmlns:a="http://schemas.openxmlformats.org/drawingml/2006/main">
            <a:off x="533400" y="8191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Before you pack up…</a:t>
            </a:r>
          </a:p>
        </p:txBody>
      </p:sp>
      <p:sp>
        <p:nvSpPr>
          <p:cNvPr id="4" name="exit-1">
            <a:extLst xmlns:a="http://schemas.openxmlformats.org/drawingml/2006/main">
              <a:ext uri="{FF2B5EF4-FFF2-40B4-BE49-F238E27FC236}">
                <a16:creationId xmlns:a16="http://schemas.microsoft.com/office/drawing/2014/main" id="{B46484C1-3B50-43D8-9777-DBDD7E4957D3}"/>
              </a:ext>
            </a:extLst>
          </p:cNvPr>
          <p:cNvSpPr>
            <a:spLocks xmlns:a="http://schemas.openxmlformats.org/drawingml/2006/main" noGrp="1"/>
          </p:cNvSpPr>
          <p:nvPr/>
        </p:nvSpPr>
        <p:spPr>
          <a:xfrm xmlns:a="http://schemas.openxmlformats.org/drawingml/2006/main">
            <a:off x="533400" y="17907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5" name="exit-text-1">
            <a:extLst xmlns:a="http://schemas.openxmlformats.org/drawingml/2006/main">
              <a:ext uri="{FF2B5EF4-FFF2-40B4-BE49-F238E27FC236}">
                <a16:creationId xmlns:a16="http://schemas.microsoft.com/office/drawing/2014/main" id="{F918BA9A-58C5-4710-8636-FFBEF5D3509D}"/>
              </a:ext>
            </a:extLst>
          </p:cNvPr>
          <p:cNvSpPr>
            <a:spLocks xmlns:a="http://schemas.openxmlformats.org/drawingml/2006/main" noGrp="1"/>
          </p:cNvSpPr>
          <p:nvPr/>
        </p:nvSpPr>
        <p:spPr>
          <a:xfrm xmlns:a="http://schemas.openxmlformats.org/drawingml/2006/main">
            <a:off x="781050" y="19335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1. One idea I can now explain is…</a:t>
            </a:r>
          </a:p>
        </p:txBody>
      </p:sp>
      <p:sp>
        <p:nvSpPr>
          <p:cNvPr id="6" name="exit-2">
            <a:extLst xmlns:a="http://schemas.openxmlformats.org/drawingml/2006/main">
              <a:ext uri="{FF2B5EF4-FFF2-40B4-BE49-F238E27FC236}">
                <a16:creationId xmlns:a16="http://schemas.microsoft.com/office/drawing/2014/main" id="{CF9030EE-8C65-4E6D-9770-CE4DA27029FB}"/>
              </a:ext>
            </a:extLst>
          </p:cNvPr>
          <p:cNvSpPr>
            <a:spLocks xmlns:a="http://schemas.openxmlformats.org/drawingml/2006/main" noGrp="1"/>
          </p:cNvSpPr>
          <p:nvPr/>
        </p:nvSpPr>
        <p:spPr>
          <a:xfrm xmlns:a="http://schemas.openxmlformats.org/drawingml/2006/main">
            <a:off x="533400" y="26289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7" name="exit-text-2">
            <a:extLst xmlns:a="http://schemas.openxmlformats.org/drawingml/2006/main">
              <a:ext uri="{FF2B5EF4-FFF2-40B4-BE49-F238E27FC236}">
                <a16:creationId xmlns:a16="http://schemas.microsoft.com/office/drawing/2014/main" id="{3EC214D4-5DD6-4280-9AD1-5BB3751B4AC3}"/>
              </a:ext>
            </a:extLst>
          </p:cNvPr>
          <p:cNvSpPr>
            <a:spLocks xmlns:a="http://schemas.openxmlformats.org/drawingml/2006/main" noGrp="1"/>
          </p:cNvSpPr>
          <p:nvPr/>
        </p:nvSpPr>
        <p:spPr>
          <a:xfrm xmlns:a="http://schemas.openxmlformats.org/drawingml/2006/main">
            <a:off x="781050" y="27717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2. One decision or practical action this changes is…</a:t>
            </a:r>
          </a:p>
        </p:txBody>
      </p:sp>
      <p:sp>
        <p:nvSpPr>
          <p:cNvPr id="8" name="exit-3">
            <a:extLst xmlns:a="http://schemas.openxmlformats.org/drawingml/2006/main">
              <a:ext uri="{FF2B5EF4-FFF2-40B4-BE49-F238E27FC236}">
                <a16:creationId xmlns:a16="http://schemas.microsoft.com/office/drawing/2014/main" id="{146DBAAA-F623-463A-ACB1-48F84A1873DA}"/>
              </a:ext>
            </a:extLst>
          </p:cNvPr>
          <p:cNvSpPr>
            <a:spLocks xmlns:a="http://schemas.openxmlformats.org/drawingml/2006/main" noGrp="1"/>
          </p:cNvSpPr>
          <p:nvPr/>
        </p:nvSpPr>
        <p:spPr>
          <a:xfrm xmlns:a="http://schemas.openxmlformats.org/drawingml/2006/main">
            <a:off x="533400" y="34671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9" name="exit-text-3">
            <a:extLst xmlns:a="http://schemas.openxmlformats.org/drawingml/2006/main">
              <a:ext uri="{FF2B5EF4-FFF2-40B4-BE49-F238E27FC236}">
                <a16:creationId xmlns:a16="http://schemas.microsoft.com/office/drawing/2014/main" id="{01771751-7311-43D9-B947-413DAFEA35D8}"/>
              </a:ext>
            </a:extLst>
          </p:cNvPr>
          <p:cNvSpPr>
            <a:spLocks xmlns:a="http://schemas.openxmlformats.org/drawingml/2006/main" noGrp="1"/>
          </p:cNvSpPr>
          <p:nvPr/>
        </p:nvSpPr>
        <p:spPr>
          <a:xfrm xmlns:a="http://schemas.openxmlformats.org/drawingml/2006/main">
            <a:off x="781050" y="36099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3. One question I still need answered is…</a:t>
            </a:r>
          </a:p>
        </p:txBody>
      </p:sp>
      <p:sp>
        <p:nvSpPr>
          <p:cNvPr id="10" name="evidence-circle">
            <a:extLst xmlns:a="http://schemas.openxmlformats.org/drawingml/2006/main">
              <a:ext uri="{FF2B5EF4-FFF2-40B4-BE49-F238E27FC236}">
                <a16:creationId xmlns:a16="http://schemas.microsoft.com/office/drawing/2014/main" id="{12858503-A4BE-48E9-9C04-55C8DDC9B0C8}"/>
              </a:ext>
            </a:extLst>
          </p:cNvPr>
          <p:cNvSpPr>
            <a:spLocks xmlns:a="http://schemas.openxmlformats.org/drawingml/2006/main" noGrp="1"/>
          </p:cNvSpPr>
          <p:nvPr/>
        </p:nvSpPr>
        <p:spPr>
          <a:xfrm xmlns:a="http://schemas.openxmlformats.org/drawingml/2006/main">
            <a:off x="9277350" y="2019300"/>
            <a:ext cx="1676400" cy="1676400"/>
          </a:xfrm>
          <a:prstGeom xmlns:a="http://schemas.openxmlformats.org/drawingml/2006/main" prst="ellipse">
            <a:avLst/>
          </a:prstGeom>
          <a:solidFill xmlns:a="http://schemas.openxmlformats.org/drawingml/2006/main">
            <a:srgbClr val="D49A34"/>
          </a:solidFill>
          <a:ln xmlns:a="http://schemas.openxmlformats.org/drawingml/2006/main" w="9525">
            <a:solidFill>
              <a:srgbClr val="D49A34"/>
            </a:solidFill>
            <a:prstDash val="solid"/>
          </a:ln>
        </p:spPr>
      </p:sp>
      <p:sp>
        <p:nvSpPr>
          <p:cNvPr id="11" name="evidence-destination">
            <a:extLst xmlns:a="http://schemas.openxmlformats.org/drawingml/2006/main">
              <a:ext uri="{FF2B5EF4-FFF2-40B4-BE49-F238E27FC236}">
                <a16:creationId xmlns:a16="http://schemas.microsoft.com/office/drawing/2014/main" id="{DBC9897D-8330-4402-B161-E2A424376B0E}"/>
              </a:ext>
            </a:extLst>
          </p:cNvPr>
          <p:cNvSpPr>
            <a:spLocks xmlns:a="http://schemas.openxmlformats.org/drawingml/2006/main" noGrp="1"/>
          </p:cNvSpPr>
          <p:nvPr/>
        </p:nvSpPr>
        <p:spPr>
          <a:xfrm xmlns:a="http://schemas.openxmlformats.org/drawingml/2006/main">
            <a:off x="9496425" y="2362200"/>
            <a:ext cx="123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SAVE</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MY FOLIO</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MODULE 6</a:t>
            </a:r>
          </a:p>
        </p:txBody>
      </p:sp>
      <p:sp>
        <p:nvSpPr>
          <p:cNvPr id="12" name="teacher-confirm">
            <a:extLst xmlns:a="http://schemas.openxmlformats.org/drawingml/2006/main">
              <a:ext uri="{FF2B5EF4-FFF2-40B4-BE49-F238E27FC236}">
                <a16:creationId xmlns:a16="http://schemas.microsoft.com/office/drawing/2014/main" id="{F790B1EB-2252-4549-9F6E-4A808705DC3F}"/>
              </a:ext>
            </a:extLst>
          </p:cNvPr>
          <p:cNvSpPr>
            <a:spLocks xmlns:a="http://schemas.openxmlformats.org/drawingml/2006/main" noGrp="1"/>
          </p:cNvSpPr>
          <p:nvPr/>
        </p:nvSpPr>
        <p:spPr>
          <a:xfrm xmlns:a="http://schemas.openxmlformats.org/drawingml/2006/main">
            <a:off x="533400" y="4438650"/>
            <a:ext cx="11125200" cy="819150"/>
          </a:xfrm>
          <a:prstGeom xmlns:a="http://schemas.openxmlformats.org/drawingml/2006/main" prst="roundRect">
            <a:avLst>
              <a:gd name="adj" fmla="val 13953"/>
            </a:avLst>
          </a:prstGeom>
          <a:solidFill xmlns:a="http://schemas.openxmlformats.org/drawingml/2006/main">
            <a:srgbClr val="8F3340"/>
          </a:solidFill>
          <a:ln xmlns:a="http://schemas.openxmlformats.org/drawingml/2006/main" w="9525">
            <a:solidFill>
              <a:srgbClr val="D9828E"/>
            </a:solidFill>
            <a:prstDash val="solid"/>
          </a:ln>
        </p:spPr>
      </p:sp>
      <p:sp>
        <p:nvSpPr>
          <p:cNvPr id="13" name="teacher-confirm-text">
            <a:extLst xmlns:a="http://schemas.openxmlformats.org/drawingml/2006/main">
              <a:ext uri="{FF2B5EF4-FFF2-40B4-BE49-F238E27FC236}">
                <a16:creationId xmlns:a16="http://schemas.microsoft.com/office/drawing/2014/main" id="{400B6ACF-D79B-4752-B331-C33CCD15B2ED}"/>
              </a:ext>
            </a:extLst>
          </p:cNvPr>
          <p:cNvSpPr>
            <a:spLocks xmlns:a="http://schemas.openxmlformats.org/drawingml/2006/main" noGrp="1"/>
          </p:cNvSpPr>
          <p:nvPr/>
        </p:nvSpPr>
        <p:spPr>
          <a:xfrm xmlns:a="http://schemas.openxmlformats.org/drawingml/2006/main">
            <a:off x="742950" y="4572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275" b="1">
                <a:solidFill>
                  <a:srgbClr val="FFFFFF"/>
                </a:solidFill>
                <a:latin typeface="Aptos"/>
                <a:ea typeface="Aptos"/>
                <a:cs typeface="Aptos"/>
              </a:defRPr>
            </a:pPr>
            <a:r>
              <a:rPr sz="1275" b="1">
                <a:solidFill>
                  <a:srgbClr val="FFFFFF"/>
                </a:solidFill>
                <a:latin typeface="Aptos"/>
                <a:ea typeface="Aptos"/>
                <a:cs typeface="Aptos"/>
              </a:rPr>
              <a:t>TEACHER TO CONFIRM  •  local Aboriginal community consultation pathway, preferred terminology and any approved imagery; approved cultural authority and source set for local learning</a:t>
            </a:r>
          </a:p>
        </p:txBody>
      </p:sp>
      <p:sp>
        <p:nvSpPr>
          <p:cNvPr id="14" name="next-step-label">
            <a:extLst xmlns:a="http://schemas.openxmlformats.org/drawingml/2006/main">
              <a:ext uri="{FF2B5EF4-FFF2-40B4-BE49-F238E27FC236}">
                <a16:creationId xmlns:a16="http://schemas.microsoft.com/office/drawing/2014/main" id="{66A48B73-16D9-4849-93BA-EE7A52BCF4DC}"/>
              </a:ext>
            </a:extLst>
          </p:cNvPr>
          <p:cNvSpPr>
            <a:spLocks xmlns:a="http://schemas.openxmlformats.org/drawingml/2006/main" noGrp="1"/>
          </p:cNvSpPr>
          <p:nvPr/>
        </p:nvSpPr>
        <p:spPr>
          <a:xfrm xmlns:a="http://schemas.openxmlformats.org/drawingml/2006/main">
            <a:off x="533400" y="55435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0BF"/>
                </a:solidFill>
                <a:latin typeface="Aptos"/>
                <a:ea typeface="Aptos"/>
                <a:cs typeface="Aptos"/>
              </a:defRPr>
            </a:pPr>
            <a:r>
              <a:rPr sz="900" b="1">
                <a:solidFill>
                  <a:srgbClr val="FFF0BF"/>
                </a:solidFill>
                <a:latin typeface="Aptos"/>
                <a:ea typeface="Aptos"/>
                <a:cs typeface="Aptos"/>
              </a:rPr>
              <a:t>NEXT STEP</a:t>
            </a:r>
          </a:p>
        </p:txBody>
      </p:sp>
      <p:sp>
        <p:nvSpPr>
          <p:cNvPr id="15" name="next-step">
            <a:extLst xmlns:a="http://schemas.openxmlformats.org/drawingml/2006/main">
              <a:ext uri="{FF2B5EF4-FFF2-40B4-BE49-F238E27FC236}">
                <a16:creationId xmlns:a16="http://schemas.microsoft.com/office/drawing/2014/main" id="{A8D86B02-4C04-46C0-A61A-03ED69E4E64B}"/>
              </a:ext>
            </a:extLst>
          </p:cNvPr>
          <p:cNvSpPr>
            <a:spLocks xmlns:a="http://schemas.openxmlformats.org/drawingml/2006/main" noGrp="1"/>
          </p:cNvSpPr>
          <p:nvPr/>
        </p:nvSpPr>
        <p:spPr>
          <a:xfrm xmlns:a="http://schemas.openxmlformats.org/drawingml/2006/main">
            <a:off x="1676400" y="548640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Students will convert these intentions into design factors and draft criteria for success.</a:t>
            </a:r>
          </a:p>
        </p:txBody>
      </p:sp>
      <p:sp>
        <p:nvSpPr>
          <p:cNvPr id="16" name="status-boundary">
            <a:extLst xmlns:a="http://schemas.openxmlformats.org/drawingml/2006/main">
              <a:ext uri="{FF2B5EF4-FFF2-40B4-BE49-F238E27FC236}">
                <a16:creationId xmlns:a16="http://schemas.microsoft.com/office/drawing/2014/main" id="{02D6B20B-0C24-4E3E-A4CA-598453B962A9}"/>
              </a:ext>
            </a:extLst>
          </p:cNvPr>
          <p:cNvSpPr>
            <a:spLocks xmlns:a="http://schemas.openxmlformats.org/drawingml/2006/main" noGrp="1"/>
          </p:cNvSpPr>
          <p:nvPr/>
        </p:nvSpPr>
        <p:spPr>
          <a:xfrm xmlns:a="http://schemas.openxmlformats.org/drawingml/2006/main">
            <a:off x="533400" y="61912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a:solidFill>
                  <a:srgbClr val="FBE5E8"/>
                </a:solidFill>
                <a:latin typeface="Aptos"/>
                <a:ea typeface="Aptos"/>
                <a:cs typeface="Aptos"/>
              </a:defRPr>
            </a:pPr>
            <a:r>
              <a:rPr sz="975">
                <a:solidFill>
                  <a:srgbClr val="FBE5E8"/>
                </a:solidFill>
                <a:latin typeface="Aptos"/>
                <a:ea typeface="Aptos"/>
                <a:cs typeface="Aptos"/>
              </a:rPr>
              <a:t>Formative classroom evidence only — follow your teacher’s current submission process.</a:t>
            </a:r>
          </a:p>
        </p:txBody>
      </p:sp>
      <p:sp>
        <p:nvSpPr>
          <p:cNvPr id="17" name="page">
            <a:extLst xmlns:a="http://schemas.openxmlformats.org/drawingml/2006/main">
              <a:ext uri="{FF2B5EF4-FFF2-40B4-BE49-F238E27FC236}">
                <a16:creationId xmlns:a16="http://schemas.microsoft.com/office/drawing/2014/main" id="{E6EE0EA8-14B6-464A-AB09-54BA357C2385}"/>
              </a:ext>
            </a:extLst>
          </p:cNvPr>
          <p:cNvSpPr>
            <a:spLocks xmlns:a="http://schemas.openxmlformats.org/drawingml/2006/main" noGrp="1"/>
          </p:cNvSpPr>
          <p:nvPr/>
        </p:nvSpPr>
        <p:spPr>
          <a:xfrm xmlns:a="http://schemas.openxmlformats.org/drawingml/2006/main">
            <a:off x="11182350" y="61912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FBE5E8"/>
                </a:solidFill>
                <a:latin typeface="Aptos"/>
                <a:ea typeface="Aptos"/>
                <a:cs typeface="Aptos"/>
              </a:defRPr>
            </a:pPr>
            <a:r>
              <a:rPr sz="900" b="1">
                <a:solidFill>
                  <a:srgbClr val="FBE5E8"/>
                </a:solidFill>
                <a:latin typeface="Aptos"/>
                <a:ea typeface="Aptos"/>
                <a:cs typeface="Aptos"/>
              </a:rPr>
              <a:t>08</a:t>
            </a:r>
          </a:p>
        </p:txBody>
      </p:sp>
    </p:spTree>
    <p:extLst>
      <p:ext uri="{BB962C8B-B14F-4D97-AF65-F5344CB8AC3E}">
        <p14:creationId xmlns:p14="http://schemas.microsoft.com/office/powerpoint/2010/main" val="1694165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2026-08-27T08:40:43.0470000Z</dcterms:created>
  <dcterms:modified xsi:type="dcterms:W3CDTF">2026-08-27T08:40:43.0470000Z</dcterms:modified>
</coreProperties>
</file>