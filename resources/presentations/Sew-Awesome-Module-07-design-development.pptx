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3fab3f75943b2" /><Relationship Type="http://schemas.openxmlformats.org/officeDocument/2006/relationships/extended-properties" Target="/docProps/app.xml" Id="R9ea2e5d4ed604c65" /><Relationship Type="http://schemas.openxmlformats.org/officeDocument/2006/relationships/officeDocument" Target="/ppt/presentation.xml" Id="R2072fa43d67643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c726f800e4b58"/>
  </p:sldMasterIdLst>
  <p:notesMasterIdLst>
    <p:notesMasterId xmlns:r="http://schemas.openxmlformats.org/officeDocument/2006/relationships" r:id="Re143199051df427a"/>
  </p:notesMasterIdLst>
  <p:sldIdLst>
    <p:sldId xmlns:r="http://schemas.openxmlformats.org/officeDocument/2006/relationships" id="256" r:id="R880a69fe4d674885"/>
    <p:sldId xmlns:r="http://schemas.openxmlformats.org/officeDocument/2006/relationships" id="257" r:id="Rd6a1ee9401e94f01"/>
    <p:sldId xmlns:r="http://schemas.openxmlformats.org/officeDocument/2006/relationships" id="258" r:id="Rc1f87b14d77d497c"/>
    <p:sldId xmlns:r="http://schemas.openxmlformats.org/officeDocument/2006/relationships" id="259" r:id="R6797a14c37824463"/>
    <p:sldId xmlns:r="http://schemas.openxmlformats.org/officeDocument/2006/relationships" id="260" r:id="R18f32d2264334a13"/>
    <p:sldId xmlns:r="http://schemas.openxmlformats.org/officeDocument/2006/relationships" id="261" r:id="Re68e57ec626746c0"/>
    <p:sldId xmlns:r="http://schemas.openxmlformats.org/officeDocument/2006/relationships" id="262" r:id="R073fc83aad84433e"/>
    <p:sldId xmlns:r="http://schemas.openxmlformats.org/officeDocument/2006/relationships" id="263" r:id="Ra60492cf1b6d43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8af17c2ce446a8" /><Relationship Type="http://schemas.openxmlformats.org/officeDocument/2006/relationships/slideMaster" Target="/ppt/slideMasters/slideMaster1.xml" Id="Ree5c726f800e4b58" /><Relationship Type="http://schemas.openxmlformats.org/officeDocument/2006/relationships/notesMaster" Target="/ppt/notesMasters/notesMaster1.xml" Id="Re143199051df427a" /><Relationship Type="http://schemas.openxmlformats.org/officeDocument/2006/relationships/presProps" Target="/ppt/presProps.xml" Id="Raefa8552b6074a52" /><Relationship Type="http://schemas.openxmlformats.org/officeDocument/2006/relationships/tableStyles" Target="/ppt/tableStyles.xml" Id="R8bbe989178f444f2" /><Relationship Type="http://schemas.openxmlformats.org/officeDocument/2006/relationships/slide" Target="/ppt/slides/slide1.xml" Id="R880a69fe4d674885" /><Relationship Type="http://schemas.openxmlformats.org/officeDocument/2006/relationships/slide" Target="/ppt/slides/slide2.xml" Id="Rd6a1ee9401e94f01" /><Relationship Type="http://schemas.openxmlformats.org/officeDocument/2006/relationships/slide" Target="/ppt/slides/slide3.xml" Id="Rc1f87b14d77d497c" /><Relationship Type="http://schemas.openxmlformats.org/officeDocument/2006/relationships/slide" Target="/ppt/slides/slide4.xml" Id="R6797a14c37824463" /><Relationship Type="http://schemas.openxmlformats.org/officeDocument/2006/relationships/slide" Target="/ppt/slides/slide5.xml" Id="R18f32d2264334a13" /><Relationship Type="http://schemas.openxmlformats.org/officeDocument/2006/relationships/slide" Target="/ppt/slides/slide6.xml" Id="Re68e57ec626746c0" /><Relationship Type="http://schemas.openxmlformats.org/officeDocument/2006/relationships/slide" Target="/ppt/slides/slide7.xml" Id="R073fc83aad84433e" /><Relationship Type="http://schemas.openxmlformats.org/officeDocument/2006/relationships/slide" Target="/ppt/slides/slide8.xml" Id="Ra60492cf1b6d43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328e154ac441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aada9944934602" /><Relationship Type="http://schemas.openxmlformats.org/officeDocument/2006/relationships/notesMaster" Target="/ppt/notesMasters/notesMaster1.xml" Id="R91cf8930d97345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d797c5c0c44f05" /><Relationship Type="http://schemas.openxmlformats.org/officeDocument/2006/relationships/notesMaster" Target="/ppt/notesMasters/notesMaster1.xml" Id="Rb1ef1907d48c4c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66c15fb1664f52" /><Relationship Type="http://schemas.openxmlformats.org/officeDocument/2006/relationships/notesMaster" Target="/ppt/notesMasters/notesMaster1.xml" Id="Rc6f89d75a4834e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d077b19e654497" /><Relationship Type="http://schemas.openxmlformats.org/officeDocument/2006/relationships/notesMaster" Target="/ppt/notesMasters/notesMaster1.xml" Id="R7a733090791f4f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e8381b320647fa" /><Relationship Type="http://schemas.openxmlformats.org/officeDocument/2006/relationships/notesMaster" Target="/ppt/notesMasters/notesMaster1.xml" Id="Ra394e165f6cd47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946c3bbe7a4922" /><Relationship Type="http://schemas.openxmlformats.org/officeDocument/2006/relationships/notesMaster" Target="/ppt/notesMasters/notesMaster1.xml" Id="R8f9d178dff8e44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1d9de56c024f94" /><Relationship Type="http://schemas.openxmlformats.org/officeDocument/2006/relationships/notesMaster" Target="/ppt/notesMasters/notesMaster1.xml" Id="Rba4fbad8fb3848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4076ae7a3c4d60" /><Relationship Type="http://schemas.openxmlformats.org/officeDocument/2006/relationships/notesMaster" Target="/ppt/notesMasters/notesMaster1.xml" Id="R0adbbdb1d7b14d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outcome: Turn the design brief into draft criteria, investigate and annotate three genuinely different ideas, then use specific peer feedback to communicate and justify a final direction.</a:t>
            </a:r>
          </a:p>
          <a:p xmlns:a="http://schemas.openxmlformats.org/drawingml/2006/main">
            <a:r>
              <a:t>Invite one student example or prediction before showing the learning map.</a:t>
            </a:r>
          </a:p>
          <a:p xmlns:a="http://schemas.openxmlformats.org/drawingml/2006/main">
            <a:r>
              <a:t>Transition: the module has three connected ideas, and each will end in a decision or evidence action.</a:t>
            </a:r>
          </a:p>
          <a:p xmlns:a="http://schemas.openxmlformats.org/drawingml/2006/main">
            <a:r>
              <a:t>Likely misconceptions: A feature list and criteria for success are the same thing. | A criterion is strong if it uses praise words such as excellent or amazing without defining evidence.</a:t>
            </a:r>
          </a:p>
          <a:p xmlns:a="http://schemas.openxmlformats.org/drawingml/2006/main">
            <a:r>
              <a:t>Teacher to confirm: formal criteria set and any performance descriptors; required folio format, peer-feedback evidence and final-design conventions; approved pattern, dimensions, materials and pathway constraints for final development.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core-design-brief, core-production-planning-set, core-program.</a:t>
            </a:r>
          </a:p>
          <a:p xmlns:a="http://schemas.openxmlformats.org/drawingml/2006/main">
            <a:r>
              <a:t>- Matched teaching visual: sew-awesome-hero.png;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three ideas as one learning pathway, not three disconnected topics.</a:t>
            </a:r>
          </a:p>
          <a:p xmlns:a="http://schemas.openxmlformats.org/drawingml/2006/main">
            <a:r>
              <a:t>Warm-up prompt: Students can write testable intentions connecting repeated use with responsible environmental communication.</a:t>
            </a:r>
          </a:p>
          <a:p xmlns:a="http://schemas.openxmlformats.org/drawingml/2006/main">
            <a:r>
              <a:t>Ask one student to connect prior knowledge to the first section, then signpost the later evidence response.</a:t>
            </a:r>
          </a:p>
          <a:p xmlns:a="http://schemas.openxmlformats.org/drawingml/2006/main">
            <a:r>
              <a:t>Likely misconceptions: A feature list and criteria for success are the same thing. | A criterion is strong if it uses praise words such as excellent or amazing without defining evidence.</a:t>
            </a:r>
          </a:p>
          <a:p xmlns:a="http://schemas.openxmlformats.org/drawingml/2006/main">
            <a:r>
              <a:t>Teacher to confirm: formal criteria set and any performance descriptors; required folio format, peer-feedback evidence and final-design conventions; approved pattern, dimensions, materials and pathway constraints for final development.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core-design-brief, core-production-planning-set, core-program.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Help students translate user, function, aesthetics, durability, ergonomics, ethics and environmental impact into clear draft criteria that can guide development and evaluation.</a:t>
            </a:r>
          </a:p>
          <a:p xmlns:a="http://schemas.openxmlformats.org/drawingml/2006/main">
            <a:r>
              <a:t>Visual purpose: Use five broad success factors as prompts for writing observable criteria and evidence plans.</a:t>
            </a:r>
          </a:p>
          <a:p xmlns:a="http://schemas.openxmlformats.org/drawingml/2006/main">
            <a:r>
              <a:t>Explain only what is shown: A carry-bag prototype is surrounded by realistic tests of capacity, handle comfort, seam durability, appearance and efficient material use.</a:t>
            </a:r>
          </a:p>
          <a:p xmlns:a="http://schemas.openxmlformats.org/drawingml/2006/main">
            <a:r>
              <a:t>Student observation prompt: These are factors, not finished criteria. Turn one factor into an observable criterion and name the evidence needed.</a:t>
            </a:r>
          </a:p>
          <a:p xmlns:a="http://schemas.openxmlformats.org/drawingml/2006/main">
            <a:r>
              <a:t>Applied activity: Improve three vague design statements without inventing a formal rubric or unsupported project measurement.</a:t>
            </a:r>
          </a:p>
          <a:p xmlns:a="http://schemas.openxmlformats.org/drawingml/2006/main">
            <a:r>
              <a:t>Transition: Students will use these draft criteria to research and develop three different design ideas.</a:t>
            </a:r>
          </a:p>
          <a:p xmlns:a="http://schemas.openxmlformats.org/drawingml/2006/main">
            <a:r>
              <a:t>Likely misconceptions: A feature list and criteria for success are the same thing. | A criterion is strong if it uses praise words such as excellent or amazing without defining evidence.</a:t>
            </a:r>
          </a:p>
          <a:p xmlns:a="http://schemas.openxmlformats.org/drawingml/2006/main">
            <a:r>
              <a:t>Teacher to confirm: formal criteria set and any performance descriptors; required folio format, peer-feedback evidence and final-design conventions; approved pattern, dimensions, materials and pathway constraints for final development.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core-design-brief, core-production-planning-set, core-program.</a:t>
            </a:r>
          </a:p>
          <a:p xmlns:a="http://schemas.openxmlformats.org/drawingml/2006/main">
            <a:r>
              <a:t>- Matched teaching visual: visual-m07-s1.png;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Teach students to conduct purposeful research, transform rather than copy inspiration, and communicate three genuinely different annotated design directions.</a:t>
            </a:r>
          </a:p>
          <a:p xmlns:a="http://schemas.openxmlformats.org/drawingml/2006/main">
            <a:r>
              <a:t>Visual purpose: Prompt comparison of structural variation across several original carry-item directions.</a:t>
            </a:r>
          </a:p>
          <a:p xmlns:a="http://schemas.openxmlformats.org/drawingml/2006/main">
            <a:r>
              <a:t>Explain only what is shown: A photo-style notebook scene shows several carry-item sketches and textile swatches with visibly different forms and carrying ideas.</a:t>
            </a:r>
          </a:p>
          <a:p xmlns:a="http://schemas.openxmlformats.org/drawingml/2006/main">
            <a:r>
              <a:t>Student observation prompt: Identify three genuinely different structural directions, then add the research source and criterion that influenced each one.</a:t>
            </a:r>
          </a:p>
          <a:p xmlns:a="http://schemas.openxmlformats.org/drawingml/2006/main">
            <a:r>
              <a:t>Applied activity: Use one relevant research observation to generate three distinct carry-item concepts without copying an existing product or cultural expression.</a:t>
            </a:r>
          </a:p>
          <a:p xmlns:a="http://schemas.openxmlformats.org/drawingml/2006/main">
            <a:r>
              <a:t>Transition: Students will seek criteria-based peer feedback, resolve changes and justify a final direction.</a:t>
            </a:r>
          </a:p>
          <a:p xmlns:a="http://schemas.openxmlformats.org/drawingml/2006/main">
            <a:r>
              <a:t>Likely misconceptions: A feature list and criteria for success are the same thing. | A criterion is strong if it uses praise words such as excellent or amazing without defining evidence.</a:t>
            </a:r>
          </a:p>
          <a:p xmlns:a="http://schemas.openxmlformats.org/drawingml/2006/main">
            <a:r>
              <a:t>Teacher to confirm: formal criteria set and any performance descriptors; required folio format, peer-feedback evidence and final-design conventions; approved pattern, dimensions, materials and pathway constraints for final development.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core-design-brief, core-production-planning-set, core-program.</a:t>
            </a:r>
          </a:p>
          <a:p xmlns:a="http://schemas.openxmlformats.org/drawingml/2006/main">
            <a:r>
              <a:t>- Matched teaching visual: visual-m07-s2.png;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Build criteria-based feedback, evidence-led revision and clear final-design justification while preserving the boundary between student development and teacher-approved requirements.</a:t>
            </a:r>
          </a:p>
          <a:p xmlns:a="http://schemas.openxmlformats.org/drawingml/2006/main">
            <a:r>
              <a:t>Visual purpose: Show how specific feedback moves through listening, comparison, decision and justification.</a:t>
            </a:r>
          </a:p>
          <a:p xmlns:a="http://schemas.openxmlformats.org/drawingml/2006/main">
            <a:r>
              <a:t>Explain only what is shown: Hands compare two traced bag-feature alternatives, material swatches, blank criteria slips and revised prototype details.</a:t>
            </a:r>
          </a:p>
          <a:p xmlns:a="http://schemas.openxmlformats.org/drawingml/2006/main">
            <a:r>
              <a:t>Student observation prompt: Compare the traced alternatives and revised details. What evidence would justify keeping, changing or testing the feature?</a:t>
            </a:r>
          </a:p>
          <a:p xmlns:a="http://schemas.openxmlformats.org/drawingml/2006/main">
            <a:r>
              <a:t>Applied activity: Use criteria-based sentence stems to review one concept and document the designer's response.</a:t>
            </a:r>
          </a:p>
          <a:p xmlns:a="http://schemas.openxmlformats.org/drawingml/2006/main">
            <a:r>
              <a:t>Transition: Students will turn the selected final direction into a materials list, action plan and production checks.</a:t>
            </a:r>
          </a:p>
          <a:p xmlns:a="http://schemas.openxmlformats.org/drawingml/2006/main">
            <a:r>
              <a:t>Likely misconceptions: A feature list and criteria for success are the same thing. | A criterion is strong if it uses praise words such as excellent or amazing without defining evidence.</a:t>
            </a:r>
          </a:p>
          <a:p xmlns:a="http://schemas.openxmlformats.org/drawingml/2006/main">
            <a:r>
              <a:t>Teacher to confirm: formal criteria set and any performance descriptors; required folio format, peer-feedback evidence and final-design conventions; approved pattern, dimensions, materials and pathway constraints for final development.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core-design-brief, core-production-planning-set, core-program.</a:t>
            </a:r>
          </a:p>
          <a:p xmlns:a="http://schemas.openxmlformats.org/drawingml/2006/main">
            <a:r>
              <a:t>- Matched teaching visual: visual-m07-s3.png;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silent thinking before pair talk so every student retrieves independently.</a:t>
            </a:r>
          </a:p>
          <a:p xmlns:a="http://schemas.openxmlformats.org/drawingml/2006/main">
            <a:r>
              <a:t>Ask students to justify, not merely name, one response.</a:t>
            </a:r>
          </a:p>
          <a:p xmlns:a="http://schemas.openxmlformats.org/drawingml/2006/main">
            <a:r>
              <a:t>Listen for whether students connect each answer to its module idea and evidence.</a:t>
            </a:r>
          </a:p>
          <a:p xmlns:a="http://schemas.openxmlformats.org/drawingml/2006/main">
            <a:r>
              <a:t>Likely misconceptions: A feature list and criteria for success are the same thing. | A criterion is strong if it uses praise words such as excellent or amazing without defining evidence.</a:t>
            </a:r>
          </a:p>
          <a:p xmlns:a="http://schemas.openxmlformats.org/drawingml/2006/main">
            <a:r>
              <a:t>Teacher to confirm: formal criteria set and any performance descriptors; required folio format, peer-feedback evidence and final-design conventions; approved pattern, dimensions, materials and pathway constraints for final development.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core-design-brief, core-production-planning-set, core-program.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response prompt aloud: Use criteria-based peer feedback to revise and justify a final Awesome Bag design direction.</a:t>
            </a:r>
          </a:p>
          <a:p xmlns:a="http://schemas.openxmlformats.org/drawingml/2006/main">
            <a:r>
              <a:t>Model one sentence that selects evidence and explains its significance.</a:t>
            </a:r>
          </a:p>
          <a:p xmlns:a="http://schemas.openxmlformats.org/drawingml/2006/main">
            <a:r>
              <a:t>Success criteria: Uses specific feedback as evidence while preserving the designer's reasoned decision-making role. | Communicates and justifies a coherent final direction without inventing unconfirmed project requirements.</a:t>
            </a:r>
          </a:p>
          <a:p xmlns:a="http://schemas.openxmlformats.org/drawingml/2006/main">
            <a:r>
              <a:t>Likely misconceptions: A feature list and criteria for success are the same thing. | A criterion is strong if it uses praise words such as excellent or amazing without defining evidence.</a:t>
            </a:r>
          </a:p>
          <a:p xmlns:a="http://schemas.openxmlformats.org/drawingml/2006/main">
            <a:r>
              <a:t>Teacher to confirm: formal criteria set and any performance descriptors; required folio format, peer-feedback evidence and final-design conventions; approved pattern, dimensions, materials and pathway constraints for final development.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core-design-brief, core-production-planning-set, core-program.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time to write all three exit statements before discussion.</a:t>
            </a:r>
          </a:p>
          <a:p xmlns:a="http://schemas.openxmlformats.org/drawingml/2006/main">
            <a:r>
              <a:t>Evidence destination: My folio, Module 7; this is formative browser-local evidence, not proof of formal submission.</a:t>
            </a:r>
          </a:p>
          <a:p xmlns:a="http://schemas.openxmlformats.org/drawingml/2006/main">
            <a:r>
              <a:t>Next learning link: Students will turn the selected final direction into a materials list, action plan and production checks.</a:t>
            </a:r>
          </a:p>
          <a:p xmlns:a="http://schemas.openxmlformats.org/drawingml/2006/main">
            <a:r>
              <a:t>Likely misconceptions: A feature list and criteria for success are the same thing. | A criterion is strong if it uses praise words such as excellent or amazing without defining evidence.</a:t>
            </a:r>
          </a:p>
          <a:p xmlns:a="http://schemas.openxmlformats.org/drawingml/2006/main">
            <a:r>
              <a:t>Teacher to confirm: formal criteria set and any performance descriptors; required folio format, peer-feedback evidence and final-design conventions; approved pattern, dimensions, materials and pathway constraints for final development.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core-design-brief, core-production-planning-set, core-program.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c3d0563a344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de5aa715a94ab7" /><Relationship Type="http://schemas.openxmlformats.org/officeDocument/2006/relationships/slideLayout" Target="/ppt/slideLayouts/slideLayout1.xml" Id="Re49d09b426c746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9d09b426c746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0771194f14447" /><Relationship Type="http://schemas.openxmlformats.org/officeDocument/2006/relationships/image" Target="/ppt/media/image.png" Id="Rf673ba592de74918" /><Relationship Type="http://schemas.openxmlformats.org/officeDocument/2006/relationships/notesSlide" Target="/ppt/notesSlides/notesSlide1.xml" Id="R8ba14fa568354e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8004e07d24a11" /><Relationship Type="http://schemas.openxmlformats.org/officeDocument/2006/relationships/notesSlide" Target="/ppt/notesSlides/notesSlide2.xml" Id="Re72a2f71c71b45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1cb7511e942df" /><Relationship Type="http://schemas.openxmlformats.org/officeDocument/2006/relationships/image" Target="/ppt/media/image2.png" Id="R6086c4533af143bf" /><Relationship Type="http://schemas.openxmlformats.org/officeDocument/2006/relationships/notesSlide" Target="/ppt/notesSlides/notesSlide3.xml" Id="R31a392403eae42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0b5e762aa4747" /><Relationship Type="http://schemas.openxmlformats.org/officeDocument/2006/relationships/image" Target="/ppt/media/image3.png" Id="R11dd47281f37493f" /><Relationship Type="http://schemas.openxmlformats.org/officeDocument/2006/relationships/notesSlide" Target="/ppt/notesSlides/notesSlide4.xml" Id="R8b4c252ade9f45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8adb76cd84d42" /><Relationship Type="http://schemas.openxmlformats.org/officeDocument/2006/relationships/image" Target="/ppt/media/image4.png" Id="R821fa9adc8844a98" /><Relationship Type="http://schemas.openxmlformats.org/officeDocument/2006/relationships/notesSlide" Target="/ppt/notesSlides/notesSlide5.xml" Id="R898a60098fcf4e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700f57fef4af3" /><Relationship Type="http://schemas.openxmlformats.org/officeDocument/2006/relationships/notesSlide" Target="/ppt/notesSlides/notesSlide6.xml" Id="R7cec31012a6c4b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e9671debe4ef8" /><Relationship Type="http://schemas.openxmlformats.org/officeDocument/2006/relationships/notesSlide" Target="/ppt/notesSlides/notesSlide7.xml" Id="Rf2a4a8b70bf64b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1a787ef8d43bc" /><Relationship Type="http://schemas.openxmlformats.org/officeDocument/2006/relationships/notesSlide" Target="/ppt/notesSlides/notesSlide8.xml" Id="Re9afbcd8c5484f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Teaching visual - Sew Awesome course identity: reusable textile carry items and sewing materi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3ba592de74918"/>
          <a:srcRect xmlns:a="http://schemas.openxmlformats.org/drawingml/2006/main" l="26389" t="0" r="26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mage-wash">
            <a:extLst xmlns:a="http://schemas.openxmlformats.org/drawingml/2006/main">
              <a:ext uri="{FF2B5EF4-FFF2-40B4-BE49-F238E27FC236}">
                <a16:creationId xmlns:a16="http://schemas.microsoft.com/office/drawing/2014/main" id="{8F43FE23-C1F2-4FBE-9017-9A7956FF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857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4E4A"/>
              </a:gs>
              <a:gs pos="100000">
                <a:srgbClr val="0C4E4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EF129B2-8891-4681-AB1F-65870C01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85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6B09A450-AC41-4562-9B47-A3732260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SEW AWESOME  •  MODULE 07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5CFBF8-4ECF-4202-8569-C076B8C2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Developing the solution</a:t>
            </a:r>
          </a:p>
        </p:txBody>
      </p:sp>
      <p:sp>
        <p:nvSpPr>
          <p:cNvPr id="6" name="outcome">
            <a:extLst xmlns:a="http://schemas.openxmlformats.org/drawingml/2006/main">
              <a:ext uri="{FF2B5EF4-FFF2-40B4-BE49-F238E27FC236}">
                <a16:creationId xmlns:a16="http://schemas.microsoft.com/office/drawing/2014/main" id="{0DA750DA-B9CD-4F60-BE6B-901DE969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EEF6F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EF6F3"/>
                </a:solidFill>
                <a:latin typeface="Aptos"/>
                <a:ea typeface="Aptos"/>
                <a:cs typeface="Aptos"/>
              </a:rPr>
              <a:t>Turn the design brief into draft criteria, investigate and annotate three genuinely different ideas, then use specific peer feedback to communicate and justify a final direction.</a:t>
            </a:r>
          </a:p>
        </p:txBody>
      </p:sp>
      <p:sp>
        <p:nvSpPr>
          <p:cNvPr id="7" name="student-copy">
            <a:extLst xmlns:a="http://schemas.openxmlformats.org/drawingml/2006/main">
              <a:ext uri="{FF2B5EF4-FFF2-40B4-BE49-F238E27FC236}">
                <a16:creationId xmlns:a16="http://schemas.microsoft.com/office/drawing/2014/main" id="{D1B85C2E-80BE-4FD8-9ABF-1CDD0BEC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8D6D2"/>
                </a:solidFill>
                <a:latin typeface="Aptos"/>
                <a:ea typeface="Aptos"/>
                <a:cs typeface="Aptos"/>
              </a:rPr>
              <a:t>Classroom presentation  •  student copy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164D2B45-A52D-4051-8F77-DBF86837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57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0599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5A68A1C2-BF02-4210-97A8-08081123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CA2CBF-821D-41F4-8A6F-A805E5E5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3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9A34"/>
                </a:solidFill>
                <a:latin typeface="Aptos"/>
                <a:ea typeface="Aptos"/>
                <a:cs typeface="Aptos"/>
              </a:rPr>
              <a:t>TODAY’S LEARNING PATH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C8EA03-7A40-453C-8444-7BE03AA1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Three ideas build one stronger decision</a:t>
            </a:r>
          </a:p>
        </p:txBody>
      </p:sp>
      <p:sp>
        <p:nvSpPr>
          <p:cNvPr id="4" name="idea-number-1">
            <a:extLst xmlns:a="http://schemas.openxmlformats.org/drawingml/2006/main">
              <a:ext uri="{FF2B5EF4-FFF2-40B4-BE49-F238E27FC236}">
                <a16:creationId xmlns:a16="http://schemas.microsoft.com/office/drawing/2014/main" id="{B262DB23-56E7-4B46-903E-E4138DF6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idea-line-1">
            <a:extLst xmlns:a="http://schemas.openxmlformats.org/drawingml/2006/main">
              <a:ext uri="{FF2B5EF4-FFF2-40B4-BE49-F238E27FC236}">
                <a16:creationId xmlns:a16="http://schemas.microsoft.com/office/drawing/2014/main" id="{76DFC3B5-E0EC-4590-87C5-5F87CDCA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B66"/>
            </a:solidFill>
            <a:prstDash val="solid"/>
          </a:ln>
        </p:spPr>
      </p:sp>
      <p:sp>
        <p:nvSpPr>
          <p:cNvPr id="6" name="idea-title-1">
            <a:extLst xmlns:a="http://schemas.openxmlformats.org/drawingml/2006/main">
              <a:ext uri="{FF2B5EF4-FFF2-40B4-BE49-F238E27FC236}">
                <a16:creationId xmlns:a16="http://schemas.microsoft.com/office/drawing/2014/main" id="{4C13E03E-F81F-4B3F-B0E0-75BB79A1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Factors Affecting Design and Criteria for Success</a:t>
            </a:r>
          </a:p>
        </p:txBody>
      </p:sp>
      <p:sp>
        <p:nvSpPr>
          <p:cNvPr id="7" name="idea-number-2">
            <a:extLst xmlns:a="http://schemas.openxmlformats.org/drawingml/2006/main">
              <a:ext uri="{FF2B5EF4-FFF2-40B4-BE49-F238E27FC236}">
                <a16:creationId xmlns:a16="http://schemas.microsoft.com/office/drawing/2014/main" id="{3F502E82-0570-45FF-8BA8-B762ACA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idea-line-2">
            <a:extLst xmlns:a="http://schemas.openxmlformats.org/drawingml/2006/main">
              <a:ext uri="{FF2B5EF4-FFF2-40B4-BE49-F238E27FC236}">
                <a16:creationId xmlns:a16="http://schemas.microsoft.com/office/drawing/2014/main" id="{83A0EB14-9AAF-42B9-9147-8291388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4C5A"/>
            </a:solidFill>
            <a:prstDash val="solid"/>
          </a:ln>
        </p:spPr>
      </p:sp>
      <p:sp>
        <p:nvSpPr>
          <p:cNvPr id="9" name="idea-title-2">
            <a:extLst xmlns:a="http://schemas.openxmlformats.org/drawingml/2006/main">
              <a:ext uri="{FF2B5EF4-FFF2-40B4-BE49-F238E27FC236}">
                <a16:creationId xmlns:a16="http://schemas.microsoft.com/office/drawing/2014/main" id="{D0E7C113-9C3C-4C3C-8CBA-6C4E9FB0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Research, Inspiration and Three Design Ideas</a:t>
            </a:r>
          </a:p>
        </p:txBody>
      </p:sp>
      <p:sp>
        <p:nvSpPr>
          <p:cNvPr id="10" name="idea-number-3">
            <a:extLst xmlns:a="http://schemas.openxmlformats.org/drawingml/2006/main">
              <a:ext uri="{FF2B5EF4-FFF2-40B4-BE49-F238E27FC236}">
                <a16:creationId xmlns:a16="http://schemas.microsoft.com/office/drawing/2014/main" id="{694D9A95-DFCE-4D0A-9B73-2DB958C0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idea-line-3">
            <a:extLst xmlns:a="http://schemas.openxmlformats.org/drawingml/2006/main">
              <a:ext uri="{FF2B5EF4-FFF2-40B4-BE49-F238E27FC236}">
                <a16:creationId xmlns:a16="http://schemas.microsoft.com/office/drawing/2014/main" id="{2A53BF81-9903-4107-8F99-B2D9B61A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B66"/>
            </a:solidFill>
            <a:prstDash val="solid"/>
          </a:ln>
        </p:spPr>
      </p:sp>
      <p:sp>
        <p:nvSpPr>
          <p:cNvPr id="12" name="idea-title-3">
            <a:extLst xmlns:a="http://schemas.openxmlformats.org/drawingml/2006/main">
              <a:ext uri="{FF2B5EF4-FFF2-40B4-BE49-F238E27FC236}">
                <a16:creationId xmlns:a16="http://schemas.microsoft.com/office/drawing/2014/main" id="{892FBF59-9AE9-473D-97A9-BB57EE83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Peer Feedback, Final Design and Justification</a:t>
            </a:r>
          </a:p>
        </p:txBody>
      </p:sp>
      <p:sp>
        <p:nvSpPr>
          <p:cNvPr id="13" name="warm-up">
            <a:extLst xmlns:a="http://schemas.openxmlformats.org/drawingml/2006/main">
              <a:ext uri="{FF2B5EF4-FFF2-40B4-BE49-F238E27FC236}">
                <a16:creationId xmlns:a16="http://schemas.microsoft.com/office/drawing/2014/main" id="{B57FBE65-7E86-4058-B96D-E99B6468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33550"/>
            <a:ext cx="459105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0C4E4A"/>
          </a:solidFill>
          <a:ln xmlns:a="http://schemas.openxmlformats.org/drawingml/2006/main" w="9525">
            <a:solidFill>
              <a:srgbClr val="0C4E4A"/>
            </a:solidFill>
            <a:prstDash val="solid"/>
          </a:ln>
        </p:spPr>
      </p:sp>
      <p:sp>
        <p:nvSpPr>
          <p:cNvPr id="14" name="warm-up-label">
            <a:extLst xmlns:a="http://schemas.openxmlformats.org/drawingml/2006/main">
              <a:ext uri="{FF2B5EF4-FFF2-40B4-BE49-F238E27FC236}">
                <a16:creationId xmlns:a16="http://schemas.microsoft.com/office/drawing/2014/main" id="{2E9C54A5-DE6D-4E5C-AA31-6EC07FE5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71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RETRIEVAL WARM-UP</a:t>
            </a:r>
          </a:p>
        </p:txBody>
      </p:sp>
      <p:sp>
        <p:nvSpPr>
          <p:cNvPr id="15" name="warm-up-question">
            <a:extLst xmlns:a="http://schemas.openxmlformats.org/drawingml/2006/main">
              <a:ext uri="{FF2B5EF4-FFF2-40B4-BE49-F238E27FC236}">
                <a16:creationId xmlns:a16="http://schemas.microsoft.com/office/drawing/2014/main" id="{7ADD19AE-9AE9-42E0-AD3B-6E8A7483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53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Students can write testable intentions connecting repeated use with responsible environmental communication.</a:t>
            </a:r>
          </a:p>
        </p:txBody>
      </p:sp>
      <p:sp>
        <p:nvSpPr>
          <p:cNvPr id="16" name="warm-up-instruction">
            <a:extLst xmlns:a="http://schemas.openxmlformats.org/drawingml/2006/main">
              <a:ext uri="{FF2B5EF4-FFF2-40B4-BE49-F238E27FC236}">
                <a16:creationId xmlns:a16="http://schemas.microsoft.com/office/drawing/2014/main" id="{45D4F0E6-C83A-42A8-A286-440221E9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EF6F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EEF6F3"/>
                </a:solidFill>
                <a:latin typeface="Aptos"/>
                <a:ea typeface="Aptos"/>
                <a:cs typeface="Aptos"/>
              </a:rPr>
              <a:t>Think silently. Name one useful idea. Be ready to explain why it matters.</a:t>
            </a:r>
          </a:p>
        </p:txBody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874E6856-E89E-425A-AF17-8385BF7F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07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C28931-B743-4B57-8DDF-5C51E640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0380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5DDA3EFD-9430-4871-AA45-A403C927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C3510A7-0155-41C5-B0CE-84235538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1. FACTORS AFFECTING DESIGN AND CRITERIA FOR SUCCESS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D2137C-5075-4376-AA2C-0715510D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Draft criteria guide; formal criteria control</a:t>
            </a:r>
          </a:p>
        </p:txBody>
      </p:sp>
      <p:pic>
        <p:nvPicPr>
          <p:cNvPr id="17" name="Teaching visual - A carry-bag prototype is surrounded by realistic tests of capacity, handle comfort, seam durability, appearance and efficient material us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6c4533af143bf"/>
          <a:stretch xmlns:a="http://schemas.openxmlformats.org/drawingml/2006/main"/>
        </p:blipFill>
        <p:spPr>
          <a:xfrm xmlns:a="http://schemas.openxmlformats.org/drawingml/2006/main">
            <a:off x="661035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BF16FE24-42F4-433A-8198-5C990E67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A design brief explains the problem; design factors reveal what must be considered; criteria for success describe what evidence would show that a solution responds well. Keeping these roles separate makes decisions easier to justify. The Awesome Bag is shaped by several connected factors. User needs connect the factors.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2247CC82-6315-440C-AE66-AE49A255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2D0BC0BF-A37E-4C7B-810D-A87508CC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1D0A171C-564C-410C-BF3F-4EA833CC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These are factors, not finished criteria. Turn one factor into an observable criterion and name the evidence needed.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0F3B9CBD-123C-414B-8564-FB393CF2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035DA8AF-2D6C-4044-A355-DBD5C5C2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91A3792C-C4C8-4B3E-B432-C9CA53AE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Improve three vague design statements without inventing a formal rubric or unsupported project measurement.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3643E5C3-B745-41E9-A22B-636CB34B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07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B29523C-D60A-46D9-B428-59E5A7C2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5590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92B7F7A3-0EB6-4173-9BD5-DCAD945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8B3D14C-F0DA-4652-BEA4-A43FFAA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2. RESEARCH, INSPIRATION AND THREE DESIGN IDEAS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25C4C7-EADC-4B45-8914-CFAEEB20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Three ideas means three directions</a:t>
            </a:r>
          </a:p>
        </p:txBody>
      </p:sp>
      <p:pic>
        <p:nvPicPr>
          <p:cNvPr id="17" name="Teaching visual - A design notebook contains several different carry-item sketches beside textile swatch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d47281f37493f"/>
          <a:stretch xmlns:a="http://schemas.openxmlformats.org/drawingml/2006/main"/>
        </p:blipFill>
        <p:spPr>
          <a:xfrm xmlns:a="http://schemas.openxmlformats.org/drawingml/2006/main">
            <a:off x="581025" y="15240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F45B97EA-3020-48FC-AA8B-DC54CC57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Research should expand the decisions a designer can make. It is most useful when every source or observation answers a question about the user, function, material behaviour, production, communication or environmental responsibility. Purposeful research begins with questions. Inspiration is transformed, not copied.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A6EC3048-B6C0-48CF-965D-EBD6B9A1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0942E3F9-969E-4CF3-9C96-3421E1E5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72C400E9-644E-469B-9B26-FFF278FA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Identify three genuinely different structural directions, then add the research source and criterion that influenced each one.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8625F9FE-E887-4676-82C1-3986A9DD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4715FF6C-F04B-4DB7-A316-FDDD9DBD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7435DA84-71B2-4726-BE81-C0B1306B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Use one relevant research observation to generate three distinct carry-item concepts without copying an existing product or cultural expression.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98950882-3CD6-43FF-A7BA-C1304EE1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07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98F9EC2-5F35-4B24-AE79-CFF18B48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831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383FF163-17C5-45B0-8FB6-B882D3FA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A1A96AA-3377-4399-8C30-AC806BD3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3. PEER FEEDBACK, FINAL DESIGN AND JUSTIFICATION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D03EC9-D52A-447E-A823-341E944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Feedback informs; the designer decides</a:t>
            </a:r>
          </a:p>
        </p:txBody>
      </p:sp>
      <p:pic>
        <p:nvPicPr>
          <p:cNvPr id="17" name="Teaching visual - Hands compare two traced bag-feature alternatives, material swatches, blank criteria slips and revised prototype detail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fa9adc8844a98"/>
          <a:stretch xmlns:a="http://schemas.openxmlformats.org/drawingml/2006/main"/>
        </p:blipFill>
        <p:spPr>
          <a:xfrm xmlns:a="http://schemas.openxmlformats.org/drawingml/2006/main">
            <a:off x="661035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3D7500AA-5DF4-40FA-A70B-04B7E1B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Peer feedback is useful when it helps a designer see how well an idea responds to the brief. The designer then decides what to adopt, adapt or reject and records the reason before communicating a final direction. Strong feedback is specific, criteria-based and actionable. Receiving feedback does not mean accepting every suggestion.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9F6E523D-271A-4AA3-A7A9-1879CB66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3A3AA907-615F-4F41-9046-C07A880E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FF37678E-7E07-49EC-9E9E-FC73833C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Compare the traced alternatives and revised details. What evidence would justify keeping, changing or testing the feature?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80275AC7-0828-45F8-B2DF-A8DCF134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64715F1A-1F97-499F-B726-AC2F83C6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237901AB-413F-4228-9246-39C844C5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Use criteria-based sentence stems to review one concept and document the designer's response.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2B42DD6B-17A2-4867-A04F-9BE50FC5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07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5EF237F-1317-48A9-A744-244C8482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1996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F9CB6861-C275-434D-A32A-16B137B3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9B15C50-FDDA-4158-9FBB-20013DD1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CHECK YOUR UNDERSTANDING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35A5B1-B319-47CA-9B7A-FA242765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4" name="instruction">
            <a:extLst xmlns:a="http://schemas.openxmlformats.org/drawingml/2006/main">
              <a:ext uri="{FF2B5EF4-FFF2-40B4-BE49-F238E27FC236}">
                <a16:creationId xmlns:a16="http://schemas.microsoft.com/office/drawing/2014/main" id="{645DFAE9-6942-4FC9-85D6-8018B305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8D6D2"/>
                </a:solidFill>
                <a:latin typeface="Aptos"/>
                <a:ea typeface="Aptos"/>
                <a:cs typeface="Aptos"/>
              </a:rPr>
              <a:t>Answer silently first. Then justify one answer with a partner.</a:t>
            </a:r>
          </a:p>
        </p:txBody>
      </p:sp>
      <p:sp>
        <p:nvSpPr>
          <p:cNvPr id="5" name="check-number-1">
            <a:extLst xmlns:a="http://schemas.openxmlformats.org/drawingml/2006/main">
              <a:ext uri="{FF2B5EF4-FFF2-40B4-BE49-F238E27FC236}">
                <a16:creationId xmlns:a16="http://schemas.microsoft.com/office/drawing/2014/main" id="{3AB33812-F345-44E6-9D6B-8B4DE750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check-line-1">
            <a:extLst xmlns:a="http://schemas.openxmlformats.org/drawingml/2006/main">
              <a:ext uri="{FF2B5EF4-FFF2-40B4-BE49-F238E27FC236}">
                <a16:creationId xmlns:a16="http://schemas.microsoft.com/office/drawing/2014/main" id="{6327753E-654C-4CD9-BBED-6E9A5256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FDBCC4A2-9FE8-45E8-BB39-89A45078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design factor asks whether the carry item performs its intended task?</a:t>
            </a:r>
          </a:p>
        </p:txBody>
      </p:sp>
      <p:sp>
        <p:nvSpPr>
          <p:cNvPr id="8" name="check-number-2">
            <a:extLst xmlns:a="http://schemas.openxmlformats.org/drawingml/2006/main">
              <a:ext uri="{FF2B5EF4-FFF2-40B4-BE49-F238E27FC236}">
                <a16:creationId xmlns:a16="http://schemas.microsoft.com/office/drawing/2014/main" id="{EE6B9073-DCE6-4FC0-B9CA-7CAD2C03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check-line-2">
            <a:extLst xmlns:a="http://schemas.openxmlformats.org/drawingml/2006/main">
              <a:ext uri="{FF2B5EF4-FFF2-40B4-BE49-F238E27FC236}">
                <a16:creationId xmlns:a16="http://schemas.microsoft.com/office/drawing/2014/main" id="{EF66301E-4C8B-41B4-8BCC-A67EE75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CD82B212-B431-4C59-90DF-DBCAB9CF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makes design research purposeful?</a:t>
            </a:r>
          </a:p>
        </p:txBody>
      </p:sp>
      <p:sp>
        <p:nvSpPr>
          <p:cNvPr id="11" name="check-number-3">
            <a:extLst xmlns:a="http://schemas.openxmlformats.org/drawingml/2006/main">
              <a:ext uri="{FF2B5EF4-FFF2-40B4-BE49-F238E27FC236}">
                <a16:creationId xmlns:a16="http://schemas.microsoft.com/office/drawing/2014/main" id="{E37C622A-DD4B-4638-952B-D9441E20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check-line-3">
            <a:extLst xmlns:a="http://schemas.openxmlformats.org/drawingml/2006/main">
              <a:ext uri="{FF2B5EF4-FFF2-40B4-BE49-F238E27FC236}">
                <a16:creationId xmlns:a16="http://schemas.microsoft.com/office/drawing/2014/main" id="{25500D02-129E-407E-82EC-E5E72CA4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3" name="check-3">
            <a:extLst xmlns:a="http://schemas.openxmlformats.org/drawingml/2006/main">
              <a:ext uri="{FF2B5EF4-FFF2-40B4-BE49-F238E27FC236}">
                <a16:creationId xmlns:a16="http://schemas.microsoft.com/office/drawing/2014/main" id="{88B27690-4BEF-45FD-94B8-2824929E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862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feedback is most actionable?</a:t>
            </a:r>
          </a:p>
        </p:txBody>
      </p:sp>
      <p:sp>
        <p:nvSpPr>
          <p:cNvPr id="14" name="check-number-4">
            <a:extLst xmlns:a="http://schemas.openxmlformats.org/drawingml/2006/main">
              <a:ext uri="{FF2B5EF4-FFF2-40B4-BE49-F238E27FC236}">
                <a16:creationId xmlns:a16="http://schemas.microsoft.com/office/drawing/2014/main" id="{10B1EB52-58AA-47C9-95E9-0DF05E2E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check-line-4">
            <a:extLst xmlns:a="http://schemas.openxmlformats.org/drawingml/2006/main">
              <a:ext uri="{FF2B5EF4-FFF2-40B4-BE49-F238E27FC236}">
                <a16:creationId xmlns:a16="http://schemas.microsoft.com/office/drawing/2014/main" id="{429F1A8A-A665-4CDE-8C37-5171E1F0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6" name="check-4">
            <a:extLst xmlns:a="http://schemas.openxmlformats.org/drawingml/2006/main">
              <a:ext uri="{FF2B5EF4-FFF2-40B4-BE49-F238E27FC236}">
                <a16:creationId xmlns:a16="http://schemas.microsoft.com/office/drawing/2014/main" id="{4400656B-95A6-49B6-8B7E-995D5057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57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idea from this module most changes your next design or production decision?</a:t>
            </a:r>
          </a:p>
        </p:txBody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4D57DEF0-2DFB-4FFA-8453-5A757F5E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SEW AWESOME  •  MODULE 07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177B9D2-4369-49DA-9729-6E01265F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8378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">
            <a:extLst xmlns:a="http://schemas.openxmlformats.org/drawingml/2006/main">
              <a:ext uri="{FF2B5EF4-FFF2-40B4-BE49-F238E27FC236}">
                <a16:creationId xmlns:a16="http://schemas.microsoft.com/office/drawing/2014/main" id="{2E25E51A-56AA-4D45-9147-EB297C94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EA3E38D-C412-4A66-B59D-A245B89A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MODEL A LONGER RESPONSE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6AD49C-3478-4D96-AA48-DF534C59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Read → Select → Explain → Check</a:t>
            </a:r>
          </a:p>
        </p:txBody>
      </p:sp>
      <p:sp>
        <p:nvSpPr>
          <p:cNvPr id="4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1C914426-37D9-45DF-89E9-AE44A4AA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5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5115E678-B87E-4B0A-8347-53ACBEF5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9F07A0D1-3AFD-44B8-B0D4-27928B83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2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Use criteria-based peer feedback to revise and justify a final Awesome Bag design direction.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78175C6E-C9B8-4280-BCAC-A4EAB76E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C81E141-0697-4F75-B6FE-E0E05A3C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0E14EE3D-1433-4D80-8DF5-40D63A3A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Record one strength, one issue and one question from peer feedback, each linked to visible evidence or a criterion.</a:t>
            </a:r>
          </a:p>
        </p:txBody>
      </p:sp>
      <p:sp>
        <p:nvSpPr>
          <p:cNvPr id="10" name="arrow-2">
            <a:extLst xmlns:a="http://schemas.openxmlformats.org/drawingml/2006/main">
              <a:ext uri="{FF2B5EF4-FFF2-40B4-BE49-F238E27FC236}">
                <a16:creationId xmlns:a16="http://schemas.microsoft.com/office/drawing/2014/main" id="{BCE1C1C5-73C9-465E-87DE-673E2CE0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F58994CB-7621-4DBF-BAE4-BD6905B1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4D67D871-3D6C-4501-A8CC-8B95ED13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Classify each suggestion as adopt, adapt or reject and explain the evidence-based reason.</a:t>
            </a:r>
          </a:p>
        </p:txBody>
      </p:sp>
      <p:sp>
        <p:nvSpPr>
          <p:cNvPr id="13" name="arrow-3">
            <a:extLst xmlns:a="http://schemas.openxmlformats.org/drawingml/2006/main">
              <a:ext uri="{FF2B5EF4-FFF2-40B4-BE49-F238E27FC236}">
                <a16:creationId xmlns:a16="http://schemas.microsoft.com/office/drawing/2014/main" id="{DA3B6CA2-C000-4AE3-90B3-593A6BCD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C9424FA7-CC8D-4D5D-B686-9FC879CD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9A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49A34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65AB06E3-3C61-4EB9-834E-44F22231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Describe the revisions that will appear in the annotated final design and change log.</a:t>
            </a:r>
          </a:p>
        </p:txBody>
      </p:sp>
      <p:sp>
        <p:nvSpPr>
          <p:cNvPr id="16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23D10C66-9284-453A-BB50-EB3B042E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17" name="step-text-4">
            <a:extLst xmlns:a="http://schemas.openxmlformats.org/drawingml/2006/main">
              <a:ext uri="{FF2B5EF4-FFF2-40B4-BE49-F238E27FC236}">
                <a16:creationId xmlns:a16="http://schemas.microsoft.com/office/drawing/2014/main" id="{76B71B5D-EEBD-458E-969A-BD1CB397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Explain how the final direction responds to the user, function, decoration, responsible design and major trade-offs.</a:t>
            </a:r>
          </a:p>
        </p:txBody>
      </p:sp>
      <p:sp>
        <p:nvSpPr>
          <p:cNvPr id="18" name="starter">
            <a:extLst xmlns:a="http://schemas.openxmlformats.org/drawingml/2006/main">
              <a:ext uri="{FF2B5EF4-FFF2-40B4-BE49-F238E27FC236}">
                <a16:creationId xmlns:a16="http://schemas.microsoft.com/office/drawing/2014/main" id="{E9DF6715-4714-4FF0-BF37-06A71936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D5"/>
          </a:solidFill>
          <a:ln xmlns:a="http://schemas.openxmlformats.org/drawingml/2006/main" w="9525">
            <a:solidFill>
              <a:srgbClr val="E7C87E"/>
            </a:solidFill>
            <a:prstDash val="solid"/>
          </a:ln>
        </p:spPr>
      </p:sp>
      <p:sp>
        <p:nvSpPr>
          <p:cNvPr id="1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0375B4E0-44CE-4988-AD26-DC5AF03B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SENTENCE STARTER</a:t>
            </a:r>
          </a:p>
        </p:txBody>
      </p:sp>
      <p:sp>
        <p:nvSpPr>
          <p:cNvPr id="20" name="starter-text">
            <a:extLst xmlns:a="http://schemas.openxmlformats.org/drawingml/2006/main">
              <a:ext uri="{FF2B5EF4-FFF2-40B4-BE49-F238E27FC236}">
                <a16:creationId xmlns:a16="http://schemas.microsoft.com/office/drawing/2014/main" id="{1DA876F2-04E4-4A15-BC14-E0836227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530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The strongest evidence is … because it shows … This changes my decision by …</a:t>
            </a:r>
          </a:p>
        </p:txBody>
      </p:sp>
      <p:sp>
        <p:nvSpPr>
          <p:cNvPr id="21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8B2D3650-09F8-439E-BD4D-70A852D1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07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AC7391-5E09-4499-BA09-B8A47D05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1690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F4C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F1603246-0FC3-40EE-BA0C-325C54F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148444E-6916-4AF5-B05D-F47DE083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0B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0BF"/>
                </a:solidFill>
                <a:latin typeface="Aptos"/>
                <a:ea typeface="Aptos"/>
                <a:cs typeface="Aptos"/>
              </a:rPr>
              <a:t>CLOSE THE LOOP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D4DA2A-D80F-494A-95A8-D1522464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Before you pack up…</a:t>
            </a:r>
          </a:p>
        </p:txBody>
      </p:sp>
      <p:sp>
        <p:nvSpPr>
          <p:cNvPr id="4" name="exit-1">
            <a:extLst xmlns:a="http://schemas.openxmlformats.org/drawingml/2006/main">
              <a:ext uri="{FF2B5EF4-FFF2-40B4-BE49-F238E27FC236}">
                <a16:creationId xmlns:a16="http://schemas.microsoft.com/office/drawing/2014/main" id="{A87DD310-F04E-4C6F-97AA-067F8DA3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5" name="exit-text-1">
            <a:extLst xmlns:a="http://schemas.openxmlformats.org/drawingml/2006/main">
              <a:ext uri="{FF2B5EF4-FFF2-40B4-BE49-F238E27FC236}">
                <a16:creationId xmlns:a16="http://schemas.microsoft.com/office/drawing/2014/main" id="{BBFA57A7-BCD6-408F-A189-9464D270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1. One idea I can now explain is…</a:t>
            </a:r>
          </a:p>
        </p:txBody>
      </p:sp>
      <p:sp>
        <p:nvSpPr>
          <p:cNvPr id="6" name="exit-2">
            <a:extLst xmlns:a="http://schemas.openxmlformats.org/drawingml/2006/main">
              <a:ext uri="{FF2B5EF4-FFF2-40B4-BE49-F238E27FC236}">
                <a16:creationId xmlns:a16="http://schemas.microsoft.com/office/drawing/2014/main" id="{934DB40F-0F46-4739-9E0E-18C32B5B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7" name="exit-text-2">
            <a:extLst xmlns:a="http://schemas.openxmlformats.org/drawingml/2006/main">
              <a:ext uri="{FF2B5EF4-FFF2-40B4-BE49-F238E27FC236}">
                <a16:creationId xmlns:a16="http://schemas.microsoft.com/office/drawing/2014/main" id="{A9C9C5EC-B38A-4E98-B2A1-DD48BDDD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2. One decision or practical action this changes is…</a:t>
            </a:r>
          </a:p>
        </p:txBody>
      </p:sp>
      <p:sp>
        <p:nvSpPr>
          <p:cNvPr id="8" name="exit-3">
            <a:extLst xmlns:a="http://schemas.openxmlformats.org/drawingml/2006/main">
              <a:ext uri="{FF2B5EF4-FFF2-40B4-BE49-F238E27FC236}">
                <a16:creationId xmlns:a16="http://schemas.microsoft.com/office/drawing/2014/main" id="{68748668-774D-412B-8F79-18A15131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9" name="exit-text-3">
            <a:extLst xmlns:a="http://schemas.openxmlformats.org/drawingml/2006/main">
              <a:ext uri="{FF2B5EF4-FFF2-40B4-BE49-F238E27FC236}">
                <a16:creationId xmlns:a16="http://schemas.microsoft.com/office/drawing/2014/main" id="{96A203D6-6FCA-499B-8ABE-63BF0595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3. One question I still need answered is…</a:t>
            </a:r>
          </a:p>
        </p:txBody>
      </p:sp>
      <p:sp>
        <p:nvSpPr>
          <p:cNvPr id="10" name="evidence-circle">
            <a:extLst xmlns:a="http://schemas.openxmlformats.org/drawingml/2006/main">
              <a:ext uri="{FF2B5EF4-FFF2-40B4-BE49-F238E27FC236}">
                <a16:creationId xmlns:a16="http://schemas.microsoft.com/office/drawing/2014/main" id="{0F65E3A2-050F-43A9-AA66-02A4473C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9525">
            <a:solidFill>
              <a:srgbClr val="D49A34"/>
            </a:solidFill>
            <a:prstDash val="solid"/>
          </a:ln>
        </p:spPr>
      </p:sp>
      <p:sp>
        <p:nvSpPr>
          <p:cNvPr id="11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2B435E68-AA39-49D8-8BAC-4DEAB39C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62200"/>
            <a:ext cx="123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SAVE</a:t>
            </a:r>
          </a:p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MY FOLIO</a:t>
            </a:r>
          </a:p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MODULE 7</a:t>
            </a:r>
          </a:p>
        </p:txBody>
      </p:sp>
      <p:sp>
        <p:nvSpPr>
          <p:cNvPr id="12" name="teacher-confirm">
            <a:extLst xmlns:a="http://schemas.openxmlformats.org/drawingml/2006/main">
              <a:ext uri="{FF2B5EF4-FFF2-40B4-BE49-F238E27FC236}">
                <a16:creationId xmlns:a16="http://schemas.microsoft.com/office/drawing/2014/main" id="{00BDEEFB-644B-4F33-A987-6A1EE0D0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8F3340"/>
          </a:solidFill>
          <a:ln xmlns:a="http://schemas.openxmlformats.org/drawingml/2006/main" w="9525">
            <a:solidFill>
              <a:srgbClr val="D9828E"/>
            </a:solidFill>
            <a:prstDash val="solid"/>
          </a:ln>
        </p:spPr>
      </p:sp>
      <p:sp>
        <p:nvSpPr>
          <p:cNvPr id="13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20E16279-6CEB-44B5-8BFD-89EE1B1D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TEACHER TO CONFIRM  •  formal criteria set and any performance descriptors; required folio format, peer-feedback evidence and final-design conventions</a:t>
            </a:r>
          </a:p>
        </p:txBody>
      </p:sp>
      <p:sp>
        <p:nvSpPr>
          <p:cNvPr id="14" name="next-step-label">
            <a:extLst xmlns:a="http://schemas.openxmlformats.org/drawingml/2006/main">
              <a:ext uri="{FF2B5EF4-FFF2-40B4-BE49-F238E27FC236}">
                <a16:creationId xmlns:a16="http://schemas.microsoft.com/office/drawing/2014/main" id="{0EA4F2B2-DC1B-4D96-99A9-151F24E3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0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0B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5" name="next-step">
            <a:extLst xmlns:a="http://schemas.openxmlformats.org/drawingml/2006/main">
              <a:ext uri="{FF2B5EF4-FFF2-40B4-BE49-F238E27FC236}">
                <a16:creationId xmlns:a16="http://schemas.microsoft.com/office/drawing/2014/main" id="{971C4981-FFA2-4706-9BEB-201980A6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Students will turn the selected final direction into a materials list, action plan and production checks.</a:t>
            </a:r>
          </a:p>
        </p:txBody>
      </p:sp>
      <p:sp>
        <p:nvSpPr>
          <p:cNvPr id="16" name="status-boundary">
            <a:extLst xmlns:a="http://schemas.openxmlformats.org/drawingml/2006/main">
              <a:ext uri="{FF2B5EF4-FFF2-40B4-BE49-F238E27FC236}">
                <a16:creationId xmlns:a16="http://schemas.microsoft.com/office/drawing/2014/main" id="{CA5EFA10-D9E6-4EF0-A169-B89CCA31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BE5E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FBE5E8"/>
                </a:solidFill>
                <a:latin typeface="Aptos"/>
                <a:ea typeface="Aptos"/>
                <a:cs typeface="Aptos"/>
              </a:rPr>
              <a:t>Formative classroom evidence only — follow your teacher’s current submission process.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95E1908F-BA8D-4678-AE86-0A68E16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BE5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E5E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5164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2026-08-27T08:40:45.2600000Z</dcterms:created>
  <dcterms:modified xsi:type="dcterms:W3CDTF">2026-08-27T08:40:45.2600000Z</dcterms:modified>
</coreProperties>
</file>