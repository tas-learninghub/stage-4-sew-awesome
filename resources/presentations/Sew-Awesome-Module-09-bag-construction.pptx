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519ef789514d54" /><Relationship Type="http://schemas.openxmlformats.org/officeDocument/2006/relationships/extended-properties" Target="/docProps/app.xml" Id="Rddada28142eb4484" /><Relationship Type="http://schemas.openxmlformats.org/officeDocument/2006/relationships/officeDocument" Target="/ppt/presentation.xml" Id="R3199c37e3e0e4e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68ab82561144ff"/>
  </p:sldMasterIdLst>
  <p:notesMasterIdLst>
    <p:notesMasterId xmlns:r="http://schemas.openxmlformats.org/officeDocument/2006/relationships" r:id="R835e6c80f6b6416a"/>
  </p:notesMasterIdLst>
  <p:sldIdLst>
    <p:sldId xmlns:r="http://schemas.openxmlformats.org/officeDocument/2006/relationships" id="256" r:id="Rb8d1cb83b5954908"/>
    <p:sldId xmlns:r="http://schemas.openxmlformats.org/officeDocument/2006/relationships" id="257" r:id="Rd9db6a0b9e274823"/>
    <p:sldId xmlns:r="http://schemas.openxmlformats.org/officeDocument/2006/relationships" id="258" r:id="Rb3314c24c9ce409e"/>
    <p:sldId xmlns:r="http://schemas.openxmlformats.org/officeDocument/2006/relationships" id="259" r:id="R3551b5b134af4c5f"/>
    <p:sldId xmlns:r="http://schemas.openxmlformats.org/officeDocument/2006/relationships" id="260" r:id="R69a66260caf84266"/>
    <p:sldId xmlns:r="http://schemas.openxmlformats.org/officeDocument/2006/relationships" id="261" r:id="Ra3b8389973e342b8"/>
    <p:sldId xmlns:r="http://schemas.openxmlformats.org/officeDocument/2006/relationships" id="262" r:id="R2732363aed4c410a"/>
    <p:sldId xmlns:r="http://schemas.openxmlformats.org/officeDocument/2006/relationships" id="263" r:id="Rc81a827a8a2040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6f5168065b4a30" /><Relationship Type="http://schemas.openxmlformats.org/officeDocument/2006/relationships/slideMaster" Target="/ppt/slideMasters/slideMaster1.xml" Id="R8768ab82561144ff" /><Relationship Type="http://schemas.openxmlformats.org/officeDocument/2006/relationships/notesMaster" Target="/ppt/notesMasters/notesMaster1.xml" Id="R835e6c80f6b6416a" /><Relationship Type="http://schemas.openxmlformats.org/officeDocument/2006/relationships/presProps" Target="/ppt/presProps.xml" Id="R6bbf60ba39a74d2f" /><Relationship Type="http://schemas.openxmlformats.org/officeDocument/2006/relationships/tableStyles" Target="/ppt/tableStyles.xml" Id="R6e8c0df8963d4865" /><Relationship Type="http://schemas.openxmlformats.org/officeDocument/2006/relationships/slide" Target="/ppt/slides/slide1.xml" Id="Rb8d1cb83b5954908" /><Relationship Type="http://schemas.openxmlformats.org/officeDocument/2006/relationships/slide" Target="/ppt/slides/slide2.xml" Id="Rd9db6a0b9e274823" /><Relationship Type="http://schemas.openxmlformats.org/officeDocument/2006/relationships/slide" Target="/ppt/slides/slide3.xml" Id="Rb3314c24c9ce409e" /><Relationship Type="http://schemas.openxmlformats.org/officeDocument/2006/relationships/slide" Target="/ppt/slides/slide4.xml" Id="R3551b5b134af4c5f" /><Relationship Type="http://schemas.openxmlformats.org/officeDocument/2006/relationships/slide" Target="/ppt/slides/slide5.xml" Id="R69a66260caf84266" /><Relationship Type="http://schemas.openxmlformats.org/officeDocument/2006/relationships/slide" Target="/ppt/slides/slide6.xml" Id="Ra3b8389973e342b8" /><Relationship Type="http://schemas.openxmlformats.org/officeDocument/2006/relationships/slide" Target="/ppt/slides/slide7.xml" Id="R2732363aed4c410a" /><Relationship Type="http://schemas.openxmlformats.org/officeDocument/2006/relationships/slide" Target="/ppt/slides/slide8.xml" Id="Rc81a827a8a2040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79cba0955c43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1753a2e6db44fd" /><Relationship Type="http://schemas.openxmlformats.org/officeDocument/2006/relationships/notesMaster" Target="/ppt/notesMasters/notesMaster1.xml" Id="Refbc7eaffb924d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779f72282443da" /><Relationship Type="http://schemas.openxmlformats.org/officeDocument/2006/relationships/notesMaster" Target="/ppt/notesMasters/notesMaster1.xml" Id="R07b6aab783434f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838c78b37246fe" /><Relationship Type="http://schemas.openxmlformats.org/officeDocument/2006/relationships/notesMaster" Target="/ppt/notesMasters/notesMaster1.xml" Id="Ra2eb2f1e945046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78f58130a94c95" /><Relationship Type="http://schemas.openxmlformats.org/officeDocument/2006/relationships/notesMaster" Target="/ppt/notesMasters/notesMaster1.xml" Id="Rcc4a8b21ddfe40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196636d754419e" /><Relationship Type="http://schemas.openxmlformats.org/officeDocument/2006/relationships/notesMaster" Target="/ppt/notesMasters/notesMaster1.xml" Id="Rf0d38023cccf46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07a397ff484c9f" /><Relationship Type="http://schemas.openxmlformats.org/officeDocument/2006/relationships/notesMaster" Target="/ppt/notesMasters/notesMaster1.xml" Id="R078926814a404d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73c0c1ac494bc5" /><Relationship Type="http://schemas.openxmlformats.org/officeDocument/2006/relationships/notesMaster" Target="/ppt/notesMasters/notesMaster1.xml" Id="R476d0ed6e5324f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2f74a9873e42a0" /><Relationship Type="http://schemas.openxmlformats.org/officeDocument/2006/relationships/notesMaster" Target="/ppt/notesMasters/notesMaster1.xml" Id="Rcfa302bd567148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module outcome: Follow the approved tote or drawstring production pathway with controlled processes, staged checks and recorded decisions.</a:t>
            </a:r>
          </a:p>
          <a:p xmlns:a="http://schemas.openxmlformats.org/drawingml/2006/main">
            <a:r>
              <a:t>Invite one student example or prediction before showing the learning map.</a:t>
            </a:r>
          </a:p>
          <a:p xmlns:a="http://schemas.openxmlformats.org/drawingml/2006/main">
            <a:r>
              <a:t>Transition: the module has three connected ideas, and each will end in a decision or evidence action.</a:t>
            </a:r>
          </a:p>
          <a:p xmlns:a="http://schemas.openxmlformats.org/drawingml/2006/main">
            <a:r>
              <a:t>Likely misconceptions: The tote and drawstring sequences can be mixed freely because both products are bags. | The casing is decorative and does not need a clear path for the cord.</a:t>
            </a:r>
          </a:p>
          <a:p xmlns:a="http://schemas.openxmlformats.org/drawingml/2006/main">
            <a:r>
              <a:t>Teacher to confirm: which bag pathway each student must produce; approved full-size pattern or cutting template and exact finished dimensions; fabric, lining, pocket, decoration, notions and quantities; tote strap length and final placement; drawstring piece labels, side sequence, cord count and cord length; machine model, threading sequence, permitted stitch settings and local pressing checks.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core-design-brief, core-tote-procedure, core-drawstring-procedure, core-production-planning-set, core-machine-safety-set, core-plan-drawing.</a:t>
            </a:r>
          </a:p>
          <a:p xmlns:a="http://schemas.openxmlformats.org/drawingml/2006/main">
            <a:r>
              <a:t>- Matched teaching visual: sew-awesome-hero.png; purpose-built, privacy-safe local asset.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three ideas as one learning pathway, not three disconnected topics.</a:t>
            </a:r>
          </a:p>
          <a:p xmlns:a="http://schemas.openxmlformats.org/drawingml/2006/main">
            <a:r>
              <a:t>Warm-up prompt: A production-ready plan aligns user, function, resources, sequence, samples and safety arrangements.</a:t>
            </a:r>
          </a:p>
          <a:p xmlns:a="http://schemas.openxmlformats.org/drawingml/2006/main">
            <a:r>
              <a:t>Ask one student to connect prior knowledge to the first section, then signpost the later evidence response.</a:t>
            </a:r>
          </a:p>
          <a:p xmlns:a="http://schemas.openxmlformats.org/drawingml/2006/main">
            <a:r>
              <a:t>Likely misconceptions: The tote and drawstring sequences can be mixed freely because both products are bags. | The casing is decorative and does not need a clear path for the cord.</a:t>
            </a:r>
          </a:p>
          <a:p xmlns:a="http://schemas.openxmlformats.org/drawingml/2006/main">
            <a:r>
              <a:t>Teacher to confirm: which bag pathway each student must produce; approved full-size pattern or cutting template and exact finished dimensions; fabric, lining, pocket, decoration, notions and quantities; tote strap length and final placement; drawstring piece labels, side sequence, cord count and cord length; machine model, threading sequence, permitted stitch settings and local pressing checks.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core-design-brief, core-tote-procedure, core-drawstring-procedure, core-production-planning-set, core-machine-safety-set, core-plan-drawing.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Help students recognise the stable structural differences between the two authorised pathways and follow only the pathway approved for their project.</a:t>
            </a:r>
          </a:p>
          <a:p xmlns:a="http://schemas.openxmlformats.org/drawingml/2006/main">
            <a:r>
              <a:t>Visual purpose: Compare tote and drawstring body, opening and carrying-system structures without inventing dimensions.</a:t>
            </a:r>
          </a:p>
          <a:p xmlns:a="http://schemas.openxmlformats.org/drawingml/2006/main">
            <a:r>
              <a:t>Explain only what is shown: A structured tote and a drawstring bag stand above their corresponding fabric pieces, straps, casing components and cords.</a:t>
            </a:r>
          </a:p>
          <a:p xmlns:a="http://schemas.openxmlformats.org/drawingml/2006/main">
            <a:r>
              <a:t>Student observation prompt: Compare the body, opening and carrying system. Which structural decisions depend on the teacher-confirmed pathway and pattern?</a:t>
            </a:r>
          </a:p>
          <a:p xmlns:a="http://schemas.openxmlformats.org/drawingml/2006/main">
            <a:r>
              <a:t>Applied activity: Sort production cards into shared, tote-specific and drawstring-specific groups, then explain two structural relationships.</a:t>
            </a:r>
          </a:p>
          <a:p xmlns:a="http://schemas.openxmlformats.org/drawingml/2006/main">
            <a:r>
              <a:t>Transition: The chosen pathway guides how body pieces are prepared, decorated, joined and checked.</a:t>
            </a:r>
          </a:p>
          <a:p xmlns:a="http://schemas.openxmlformats.org/drawingml/2006/main">
            <a:r>
              <a:t>Likely misconceptions: The tote and drawstring sequences can be mixed freely because both products are bags. | The casing is decorative and does not need a clear path for the cord.</a:t>
            </a:r>
          </a:p>
          <a:p xmlns:a="http://schemas.openxmlformats.org/drawingml/2006/main">
            <a:r>
              <a:t>Teacher to confirm: which bag pathway each student must produce; approved full-size pattern or cutting template and exact finished dimensions; fabric, lining, pocket, decoration, notions and quantities; tote strap length and final placement; drawstring piece labels, side sequence, cord count and cord length; machine model, threading sequence, permitted stitch settings and local pressing checks.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core-design-brief, core-tote-procedure, core-drawstring-procedure, core-production-planning-set, core-machine-safety-set, core-plan-drawing.</a:t>
            </a:r>
          </a:p>
          <a:p xmlns:a="http://schemas.openxmlformats.org/drawingml/2006/main">
            <a:r>
              <a:t>- Matched teaching visual: visual-m09-s1.png; purpose-built, privacy-safe local asset.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Explain how careful preparation, early surface work, controlled seams and raw-edge treatment build an accurate and durable bag body.</a:t>
            </a:r>
          </a:p>
          <a:p xmlns:a="http://schemas.openxmlformats.org/drawingml/2006/main">
            <a:r>
              <a:t>Visual purpose: Focus attention on hand position, fabric guidance and the visible control point during machine assembly.</a:t>
            </a:r>
          </a:p>
          <a:p xmlns:a="http://schemas.openxmlformats.org/drawingml/2006/main">
            <a:r>
              <a:t>Explain only what is shown: A photo-style close-up shows hands guiding fabric at a sewing machine with the edge and stitch zone visible.</a:t>
            </a:r>
          </a:p>
          <a:p xmlns:a="http://schemas.openxmlformats.org/drawingml/2006/main">
            <a:r>
              <a:t>Student observation prompt: Identify the visible control point, then name two required checks that are outside this close-up.</a:t>
            </a:r>
          </a:p>
          <a:p xmlns:a="http://schemas.openxmlformats.org/drawingml/2006/main">
            <a:r>
              <a:t>Applied activity: Use the close-up to identify the edge-guidance control point, then record two required unseen checks before continuing production.</a:t>
            </a:r>
          </a:p>
          <a:p xmlns:a="http://schemas.openxmlformats.org/drawingml/2006/main">
            <a:r>
              <a:t>Transition: After the body is sound, pathway-specific upper-edge and carrying details can be completed and tested.</a:t>
            </a:r>
          </a:p>
          <a:p xmlns:a="http://schemas.openxmlformats.org/drawingml/2006/main">
            <a:r>
              <a:t>Likely misconceptions: The tote and drawstring sequences can be mixed freely because both products are bags. | The casing is decorative and does not need a clear path for the cord.</a:t>
            </a:r>
          </a:p>
          <a:p xmlns:a="http://schemas.openxmlformats.org/drawingml/2006/main">
            <a:r>
              <a:t>Teacher to confirm: which bag pathway each student must produce; approved full-size pattern or cutting template and exact finished dimensions; fabric, lining, pocket, decoration, notions and quantities; tote strap length and final placement; drawstring piece labels, side sequence, cord count and cord length; machine model, threading sequence, permitted stitch settings and local pressing checks.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core-design-brief, core-tote-procedure, core-drawstring-procedure, core-production-planning-set, core-machine-safety-set, core-plan-drawing.</a:t>
            </a:r>
          </a:p>
          <a:p xmlns:a="http://schemas.openxmlformats.org/drawingml/2006/main">
            <a:r>
              <a:t>- Matched teaching visual: visual-m09-s2.png; purpose-built, privacy-safe local asset.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Explain how pathway-specific upper-edge and carrying-system details are completed, reinforced and tested without resolving unknown local requirements.</a:t>
            </a:r>
          </a:p>
          <a:p xmlns:a="http://schemas.openxmlformats.org/drawingml/2006/main">
            <a:r>
              <a:t>Visual purpose: Show how a box-and-cross seam reinforces a tote strap join and how a folded casing keeps cord movement clear.</a:t>
            </a:r>
          </a:p>
          <a:p xmlns:a="http://schemas.openxmlformats.org/drawingml/2006/main">
            <a:r>
              <a:t>Explain only what is shown: Close-up construction samples show a box-and-cross tote strap reinforcement and a folded drawstring casing with cord moving through the fabric tunnel.</a:t>
            </a:r>
          </a:p>
          <a:p xmlns:a="http://schemas.openxmlformats.org/drawingml/2006/main">
            <a:r>
              <a:t>Student observation prompt: Trace the force through the strap join and the movement through the casing. What must stay reinforced or clear?</a:t>
            </a:r>
          </a:p>
          <a:p xmlns:a="http://schemas.openxmlformats.org/drawingml/2006/main">
            <a:r>
              <a:t>Applied activity: Use the two close-up construction samples to compare one strap-load check and one casing-clearance check; diagnose other faults from physical samples or the teacher-confirmed plan.</a:t>
            </a:r>
          </a:p>
          <a:p xmlns:a="http://schemas.openxmlformats.org/drawingml/2006/main">
            <a:r>
              <a:t>Transition: The completed product can now be tested against function, appearance, durability, ergonomics, ethics, environmental impact and safety.</a:t>
            </a:r>
          </a:p>
          <a:p xmlns:a="http://schemas.openxmlformats.org/drawingml/2006/main">
            <a:r>
              <a:t>Likely misconceptions: The tote and drawstring sequences can be mixed freely because both products are bags. | The casing is decorative and does not need a clear path for the cord.</a:t>
            </a:r>
          </a:p>
          <a:p xmlns:a="http://schemas.openxmlformats.org/drawingml/2006/main">
            <a:r>
              <a:t>Teacher to confirm: which bag pathway each student must produce; approved full-size pattern or cutting template and exact finished dimensions; fabric, lining, pocket, decoration, notions and quantities; tote strap length and final placement; drawstring piece labels, side sequence, cord count and cord length; machine model, threading sequence, permitted stitch settings and local pressing checks.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core-design-brief, core-tote-procedure, core-drawstring-procedure, core-production-planning-set, core-machine-safety-set, core-plan-drawing.</a:t>
            </a:r>
          </a:p>
          <a:p xmlns:a="http://schemas.openxmlformats.org/drawingml/2006/main">
            <a:r>
              <a:t>- Matched teaching visual: visual-m09-s3.png; purpose-built, privacy-safe local asset.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silent thinking before pair talk so every student retrieves independently.</a:t>
            </a:r>
          </a:p>
          <a:p xmlns:a="http://schemas.openxmlformats.org/drawingml/2006/main">
            <a:r>
              <a:t>Ask students to justify, not merely name, one response.</a:t>
            </a:r>
          </a:p>
          <a:p xmlns:a="http://schemas.openxmlformats.org/drawingml/2006/main">
            <a:r>
              <a:t>Listen for whether students connect each answer to its module idea and evidence.</a:t>
            </a:r>
          </a:p>
          <a:p xmlns:a="http://schemas.openxmlformats.org/drawingml/2006/main">
            <a:r>
              <a:t>Likely misconceptions: The tote and drawstring sequences can be mixed freely because both products are bags. | The casing is decorative and does not need a clear path for the cord.</a:t>
            </a:r>
          </a:p>
          <a:p xmlns:a="http://schemas.openxmlformats.org/drawingml/2006/main">
            <a:r>
              <a:t>Teacher to confirm: which bag pathway each student must produce; approved full-size pattern or cutting template and exact finished dimensions; fabric, lining, pocket, decoration, notions and quantities; tote strap length and final placement; drawstring piece labels, side sequence, cord count and cord length; machine model, threading sequence, permitted stitch settings and local pressing checks.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core-design-brief, core-tote-procedure, core-drawstring-procedure, core-production-planning-set, core-machine-safety-set, core-plan-drawing.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response prompt aloud: Evaluate how finishing details make either an approved tote or drawstring bag functional, durable and ready for testing.</a:t>
            </a:r>
          </a:p>
          <a:p xmlns:a="http://schemas.openxmlformats.org/drawingml/2006/main">
            <a:r>
              <a:t>Model one sentence that selects evidence and explains its significance.</a:t>
            </a:r>
          </a:p>
          <a:p xmlns:a="http://schemas.openxmlformats.org/drawingml/2006/main">
            <a:r>
              <a:t>Success criteria: Uses accurate pathway-specific construction relationships. | Explains how details affect function and durability, not appearance alone. | Supports an evaluation with checks and cause-based reasoning.</a:t>
            </a:r>
          </a:p>
          <a:p xmlns:a="http://schemas.openxmlformats.org/drawingml/2006/main">
            <a:r>
              <a:t>Likely misconceptions: The tote and drawstring sequences can be mixed freely because both products are bags. | The casing is decorative and does not need a clear path for the cord.</a:t>
            </a:r>
          </a:p>
          <a:p xmlns:a="http://schemas.openxmlformats.org/drawingml/2006/main">
            <a:r>
              <a:t>Teacher to confirm: which bag pathway each student must produce; approved full-size pattern or cutting template and exact finished dimensions; fabric, lining, pocket, decoration, notions and quantities; tote strap length and final placement; drawstring piece labels, side sequence, cord count and cord length; machine model, threading sequence, permitted stitch settings and local pressing checks.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core-design-brief, core-tote-procedure, core-drawstring-procedure, core-production-planning-set, core-machine-safety-set, core-plan-drawing.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time to write all three exit statements before discussion.</a:t>
            </a:r>
          </a:p>
          <a:p xmlns:a="http://schemas.openxmlformats.org/drawingml/2006/main">
            <a:r>
              <a:t>Evidence destination: My folio, Module 9; this is formative browser-local evidence, not proof of formal submission.</a:t>
            </a:r>
          </a:p>
          <a:p xmlns:a="http://schemas.openxmlformats.org/drawingml/2006/main">
            <a:r>
              <a:t>Next learning link: The completed product can now be tested against function, appearance, durability, ergonomics, ethics, environmental impact and safety.</a:t>
            </a:r>
          </a:p>
          <a:p xmlns:a="http://schemas.openxmlformats.org/drawingml/2006/main">
            <a:r>
              <a:t>Likely misconceptions: The tote and drawstring sequences can be mixed freely because both products are bags. | The casing is decorative and does not need a clear path for the cord.</a:t>
            </a:r>
          </a:p>
          <a:p xmlns:a="http://schemas.openxmlformats.org/drawingml/2006/main">
            <a:r>
              <a:t>Teacher to confirm: which bag pathway each student must produce; approved full-size pattern or cutting template and exact finished dimensions; fabric, lining, pocket, decoration, notions and quantities; tote strap length and final placement; drawstring piece labels, side sequence, cord count and cord length; machine model, threading sequence, permitted stitch settings and local pressing checks.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core-design-brief, core-tote-procedure, core-drawstring-procedure, core-production-planning-set, core-machine-safety-set, core-plan-drawing.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24aa9d5544e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bcc4f739ed4113" /><Relationship Type="http://schemas.openxmlformats.org/officeDocument/2006/relationships/slideLayout" Target="/ppt/slideLayouts/slideLayout1.xml" Id="Rcbc1cb55ddbe49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c1cb55ddbe49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44ecfa94b4bd7" /><Relationship Type="http://schemas.openxmlformats.org/officeDocument/2006/relationships/image" Target="/ppt/media/image.png" Id="R34078c0073bf44fc" /><Relationship Type="http://schemas.openxmlformats.org/officeDocument/2006/relationships/notesSlide" Target="/ppt/notesSlides/notesSlide1.xml" Id="R6d3a46b98c0e46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f65afe47544db" /><Relationship Type="http://schemas.openxmlformats.org/officeDocument/2006/relationships/notesSlide" Target="/ppt/notesSlides/notesSlide2.xml" Id="Rf316ce12e4ce45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08e4fbc7546c8" /><Relationship Type="http://schemas.openxmlformats.org/officeDocument/2006/relationships/image" Target="/ppt/media/image2.png" Id="R310221dae5c94bbb" /><Relationship Type="http://schemas.openxmlformats.org/officeDocument/2006/relationships/notesSlide" Target="/ppt/notesSlides/notesSlide3.xml" Id="Ra9b6d924375247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27bbff9e14925" /><Relationship Type="http://schemas.openxmlformats.org/officeDocument/2006/relationships/image" Target="/ppt/media/image3.png" Id="R80d83c8bc64840bc" /><Relationship Type="http://schemas.openxmlformats.org/officeDocument/2006/relationships/notesSlide" Target="/ppt/notesSlides/notesSlide4.xml" Id="R5a9bc91d5a724c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775ae74824d29" /><Relationship Type="http://schemas.openxmlformats.org/officeDocument/2006/relationships/image" Target="/ppt/media/image4.png" Id="Rec76bffda0e84da8" /><Relationship Type="http://schemas.openxmlformats.org/officeDocument/2006/relationships/notesSlide" Target="/ppt/notesSlides/notesSlide5.xml" Id="Rf3f4b70ef43742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6addc5ef3407f" /><Relationship Type="http://schemas.openxmlformats.org/officeDocument/2006/relationships/notesSlide" Target="/ppt/notesSlides/notesSlide6.xml" Id="R2e08b6d218d642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b673552454b19" /><Relationship Type="http://schemas.openxmlformats.org/officeDocument/2006/relationships/notesSlide" Target="/ppt/notesSlides/notesSlide7.xml" Id="Rb6761c7e7c564d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56c28815b4761" /><Relationship Type="http://schemas.openxmlformats.org/officeDocument/2006/relationships/notesSlide" Target="/ppt/notesSlides/notesSlide8.xml" Id="Ra492f4bbc3924b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4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Teaching visual - Sew Awesome course identity: reusable textile carry items and sewing material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78c0073bf44fc"/>
          <a:srcRect xmlns:a="http://schemas.openxmlformats.org/drawingml/2006/main" l="26389" t="0" r="26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image-wash">
            <a:extLst xmlns:a="http://schemas.openxmlformats.org/drawingml/2006/main">
              <a:ext uri="{FF2B5EF4-FFF2-40B4-BE49-F238E27FC236}">
                <a16:creationId xmlns:a16="http://schemas.microsoft.com/office/drawing/2014/main" id="{D4DBB209-B961-450B-903E-52E290D0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857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4E4A"/>
              </a:gs>
              <a:gs pos="100000">
                <a:srgbClr val="0C4E4A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0585156D-6075-4256-B99D-54806978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85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84743339-EDD4-4E84-BA11-0DBFEE1D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SEW AWESOME  •  MODULE 09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E3BF02-4440-4046-B26A-04EE914B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Producing the Awesome Bag</a:t>
            </a:r>
          </a:p>
        </p:txBody>
      </p:sp>
      <p:sp>
        <p:nvSpPr>
          <p:cNvPr id="6" name="outcome">
            <a:extLst xmlns:a="http://schemas.openxmlformats.org/drawingml/2006/main">
              <a:ext uri="{FF2B5EF4-FFF2-40B4-BE49-F238E27FC236}">
                <a16:creationId xmlns:a16="http://schemas.microsoft.com/office/drawing/2014/main" id="{3C16C418-F119-4EDF-9956-366DEE7C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590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EEF6F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EEF6F3"/>
                </a:solidFill>
                <a:latin typeface="Aptos"/>
                <a:ea typeface="Aptos"/>
                <a:cs typeface="Aptos"/>
              </a:rPr>
              <a:t>Follow the approved tote or drawstring production pathway with controlled processes, staged checks and recorded decisions.</a:t>
            </a:r>
          </a:p>
        </p:txBody>
      </p:sp>
      <p:sp>
        <p:nvSpPr>
          <p:cNvPr id="7" name="student-copy">
            <a:extLst xmlns:a="http://schemas.openxmlformats.org/drawingml/2006/main">
              <a:ext uri="{FF2B5EF4-FFF2-40B4-BE49-F238E27FC236}">
                <a16:creationId xmlns:a16="http://schemas.microsoft.com/office/drawing/2014/main" id="{CE25D5CA-E6E6-4FC1-8305-A78D4385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388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8D6D2"/>
                </a:solidFill>
                <a:latin typeface="Aptos"/>
                <a:ea typeface="Aptos"/>
                <a:cs typeface="Aptos"/>
              </a:rPr>
              <a:t>Classroom presentation  •  student copy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BBE62AC1-70DB-4DB2-A37B-0D596405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57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D6D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03095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">
            <a:extLst xmlns:a="http://schemas.openxmlformats.org/drawingml/2006/main">
              <a:ext uri="{FF2B5EF4-FFF2-40B4-BE49-F238E27FC236}">
                <a16:creationId xmlns:a16="http://schemas.microsoft.com/office/drawing/2014/main" id="{5960BCD5-C403-4A1B-A145-782993B7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5AB12A3-CA81-4B88-8BFF-943132E6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49A3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49A34"/>
                </a:solidFill>
                <a:latin typeface="Aptos"/>
                <a:ea typeface="Aptos"/>
                <a:cs typeface="Aptos"/>
              </a:rPr>
              <a:t>TODAY’S LEARNING PATH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6ED55D-11DF-444C-B64F-CD058EEF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Three ideas build one stronger decision</a:t>
            </a:r>
          </a:p>
        </p:txBody>
      </p:sp>
      <p:sp>
        <p:nvSpPr>
          <p:cNvPr id="4" name="idea-number-1">
            <a:extLst xmlns:a="http://schemas.openxmlformats.org/drawingml/2006/main">
              <a:ext uri="{FF2B5EF4-FFF2-40B4-BE49-F238E27FC236}">
                <a16:creationId xmlns:a16="http://schemas.microsoft.com/office/drawing/2014/main" id="{0B81CE20-DFE2-44F0-9F36-669BEEB1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idea-line-1">
            <a:extLst xmlns:a="http://schemas.openxmlformats.org/drawingml/2006/main">
              <a:ext uri="{FF2B5EF4-FFF2-40B4-BE49-F238E27FC236}">
                <a16:creationId xmlns:a16="http://schemas.microsoft.com/office/drawing/2014/main" id="{13578AE3-ADF1-4200-863E-F99EC313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146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6B66"/>
            </a:solidFill>
            <a:prstDash val="solid"/>
          </a:ln>
        </p:spPr>
      </p:sp>
      <p:sp>
        <p:nvSpPr>
          <p:cNvPr id="6" name="idea-title-1">
            <a:extLst xmlns:a="http://schemas.openxmlformats.org/drawingml/2006/main">
              <a:ext uri="{FF2B5EF4-FFF2-40B4-BE49-F238E27FC236}">
                <a16:creationId xmlns:a16="http://schemas.microsoft.com/office/drawing/2014/main" id="{EE4A0970-DCC8-4494-B787-790E6B95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Choosing the Tote or Drawstring Pathway</a:t>
            </a:r>
          </a:p>
        </p:txBody>
      </p:sp>
      <p:sp>
        <p:nvSpPr>
          <p:cNvPr id="7" name="idea-number-2">
            <a:extLst xmlns:a="http://schemas.openxmlformats.org/drawingml/2006/main">
              <a:ext uri="{FF2B5EF4-FFF2-40B4-BE49-F238E27FC236}">
                <a16:creationId xmlns:a16="http://schemas.microsoft.com/office/drawing/2014/main" id="{C12B85A5-5E0E-4608-8921-C9574E8B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idea-line-2">
            <a:extLst xmlns:a="http://schemas.openxmlformats.org/drawingml/2006/main">
              <a:ext uri="{FF2B5EF4-FFF2-40B4-BE49-F238E27FC236}">
                <a16:creationId xmlns:a16="http://schemas.microsoft.com/office/drawing/2014/main" id="{765D384E-BC74-4D41-A6D3-BF6794B2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F4C5A"/>
            </a:solidFill>
            <a:prstDash val="solid"/>
          </a:ln>
        </p:spPr>
      </p:sp>
      <p:sp>
        <p:nvSpPr>
          <p:cNvPr id="9" name="idea-title-2">
            <a:extLst xmlns:a="http://schemas.openxmlformats.org/drawingml/2006/main">
              <a:ext uri="{FF2B5EF4-FFF2-40B4-BE49-F238E27FC236}">
                <a16:creationId xmlns:a16="http://schemas.microsoft.com/office/drawing/2014/main" id="{37401085-4922-48E6-8B88-593BE7F0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765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Preparing, Decorating and Sewing the Bag Body</a:t>
            </a:r>
          </a:p>
        </p:txBody>
      </p:sp>
      <p:sp>
        <p:nvSpPr>
          <p:cNvPr id="10" name="idea-number-3">
            <a:extLst xmlns:a="http://schemas.openxmlformats.org/drawingml/2006/main">
              <a:ext uri="{FF2B5EF4-FFF2-40B4-BE49-F238E27FC236}">
                <a16:creationId xmlns:a16="http://schemas.microsoft.com/office/drawing/2014/main" id="{FE218A85-CBC4-44F8-8CE5-FCBB3007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idea-line-3">
            <a:extLst xmlns:a="http://schemas.openxmlformats.org/drawingml/2006/main">
              <a:ext uri="{FF2B5EF4-FFF2-40B4-BE49-F238E27FC236}">
                <a16:creationId xmlns:a16="http://schemas.microsoft.com/office/drawing/2014/main" id="{D9CB27DE-DC02-4E16-937E-84DCDE28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6B66"/>
            </a:solidFill>
            <a:prstDash val="solid"/>
          </a:ln>
        </p:spPr>
      </p:sp>
      <p:sp>
        <p:nvSpPr>
          <p:cNvPr id="12" name="idea-title-3">
            <a:extLst xmlns:a="http://schemas.openxmlformats.org/drawingml/2006/main">
              <a:ext uri="{FF2B5EF4-FFF2-40B4-BE49-F238E27FC236}">
                <a16:creationId xmlns:a16="http://schemas.microsoft.com/office/drawing/2014/main" id="{064D18F4-9D46-4B9B-AD6D-3A0AE8AD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43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Completing Casings, Straps and Finishing Details</a:t>
            </a:r>
          </a:p>
        </p:txBody>
      </p:sp>
      <p:sp>
        <p:nvSpPr>
          <p:cNvPr id="13" name="warm-up">
            <a:extLst xmlns:a="http://schemas.openxmlformats.org/drawingml/2006/main">
              <a:ext uri="{FF2B5EF4-FFF2-40B4-BE49-F238E27FC236}">
                <a16:creationId xmlns:a16="http://schemas.microsoft.com/office/drawing/2014/main" id="{1672810A-21D7-4727-B3A7-3A8B88A5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33550"/>
            <a:ext cx="4591050" cy="337185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0C4E4A"/>
          </a:solidFill>
          <a:ln xmlns:a="http://schemas.openxmlformats.org/drawingml/2006/main" w="9525">
            <a:solidFill>
              <a:srgbClr val="0C4E4A"/>
            </a:solidFill>
            <a:prstDash val="solid"/>
          </a:ln>
        </p:spPr>
      </p:sp>
      <p:sp>
        <p:nvSpPr>
          <p:cNvPr id="14" name="warm-up-label">
            <a:extLst xmlns:a="http://schemas.openxmlformats.org/drawingml/2006/main">
              <a:ext uri="{FF2B5EF4-FFF2-40B4-BE49-F238E27FC236}">
                <a16:creationId xmlns:a16="http://schemas.microsoft.com/office/drawing/2014/main" id="{635F7434-3C79-4F47-938C-B65B1275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717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RETRIEVAL WARM-UP</a:t>
            </a:r>
          </a:p>
        </p:txBody>
      </p:sp>
      <p:sp>
        <p:nvSpPr>
          <p:cNvPr id="15" name="warm-up-question">
            <a:extLst xmlns:a="http://schemas.openxmlformats.org/drawingml/2006/main">
              <a:ext uri="{FF2B5EF4-FFF2-40B4-BE49-F238E27FC236}">
                <a16:creationId xmlns:a16="http://schemas.microsoft.com/office/drawing/2014/main" id="{2BCDBFA2-8201-4118-9C82-90A2FCE3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14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production-ready plan aligns user, function, resources, sequence, samples and safety arrangements.</a:t>
            </a:r>
          </a:p>
        </p:txBody>
      </p:sp>
      <p:sp>
        <p:nvSpPr>
          <p:cNvPr id="16" name="warm-up-instruction">
            <a:extLst xmlns:a="http://schemas.openxmlformats.org/drawingml/2006/main">
              <a:ext uri="{FF2B5EF4-FFF2-40B4-BE49-F238E27FC236}">
                <a16:creationId xmlns:a16="http://schemas.microsoft.com/office/drawing/2014/main" id="{97E69AC8-1397-4A92-A21F-F3B30D22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434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EF6F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EEF6F3"/>
                </a:solidFill>
                <a:latin typeface="Aptos"/>
                <a:ea typeface="Aptos"/>
                <a:cs typeface="Aptos"/>
              </a:rPr>
              <a:t>Think silently. Name one useful idea. Be ready to explain why it matters.</a:t>
            </a:r>
          </a:p>
        </p:txBody>
      </p:sp>
      <p:sp>
        <p:nvSpPr>
          <p:cNvPr id="17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18B54472-7620-4881-8A80-63BDFEAC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09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EBBEDCD-EA8C-4BB5-BD27-3BBCD2C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83540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ule">
            <a:extLst xmlns:a="http://schemas.openxmlformats.org/drawingml/2006/main">
              <a:ext uri="{FF2B5EF4-FFF2-40B4-BE49-F238E27FC236}">
                <a16:creationId xmlns:a16="http://schemas.microsoft.com/office/drawing/2014/main" id="{58FBD3C0-7456-4FBB-99BF-309E5652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F566229-BD9F-4258-B652-B3D7F71C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1. CHOOSING THE TOTE OR DRAWSTRING PATHWAY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8635F6-9E81-4852-A1AA-EE329D0B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One approved pathway at a time</a:t>
            </a:r>
          </a:p>
        </p:txBody>
      </p:sp>
      <p:pic>
        <p:nvPicPr>
          <p:cNvPr id="17" name="Teaching visual - A structured tote and a drawstring bag stand above their corresponding fabric pieces, straps, casing components and cord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221dae5c94bbb"/>
          <a:stretch xmlns:a="http://schemas.openxmlformats.org/drawingml/2006/main"/>
        </p:blipFill>
        <p:spPr>
          <a:xfrm xmlns:a="http://schemas.openxmlformats.org/drawingml/2006/main">
            <a:off x="6610350" y="1698625"/>
            <a:ext cx="5048250" cy="33655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theory">
            <a:extLst xmlns:a="http://schemas.openxmlformats.org/drawingml/2006/main">
              <a:ext uri="{FF2B5EF4-FFF2-40B4-BE49-F238E27FC236}">
                <a16:creationId xmlns:a16="http://schemas.microsoft.com/office/drawing/2014/main" id="{9855BE5F-FFFD-4EAF-951B-56851069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638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0302E"/>
                </a:solidFill>
                <a:latin typeface="Aptos"/>
                <a:ea typeface="Aptos"/>
                <a:cs typeface="Aptos"/>
              </a:rPr>
              <a:t>The tote and drawstring pathways solve the carry-item challenge with different opening and carrying systems, so their production sequences are related but not interchangeable. The tote pathway forms a bag body from fabric placed on a fold and uses two straps as the carrying system. The drawstring pathway uses two rectangular body pieces and creates a casing at the upper edge.</a:t>
            </a:r>
          </a:p>
        </p:txBody>
      </p:sp>
      <p:sp>
        <p:nvSpPr>
          <p:cNvPr id="6" name="notice">
            <a:extLst xmlns:a="http://schemas.openxmlformats.org/drawingml/2006/main">
              <a:ext uri="{FF2B5EF4-FFF2-40B4-BE49-F238E27FC236}">
                <a16:creationId xmlns:a16="http://schemas.microsoft.com/office/drawing/2014/main" id="{8CC86F52-427B-4875-9460-F01AA912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6388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B9CEC7"/>
            </a:solidFill>
            <a:prstDash val="solid"/>
          </a:ln>
        </p:spPr>
      </p:sp>
      <p:sp>
        <p:nvSpPr>
          <p:cNvPr id="7" name="notice-label">
            <a:extLst xmlns:a="http://schemas.openxmlformats.org/drawingml/2006/main">
              <a:ext uri="{FF2B5EF4-FFF2-40B4-BE49-F238E27FC236}">
                <a16:creationId xmlns:a16="http://schemas.microsoft.com/office/drawing/2014/main" id="{7B3424BC-D335-432F-9904-F50105AD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LOOK AT THE VISUAL</a:t>
            </a:r>
          </a:p>
        </p:txBody>
      </p:sp>
      <p:sp>
        <p:nvSpPr>
          <p:cNvPr id="8" name="notice-text">
            <a:extLst xmlns:a="http://schemas.openxmlformats.org/drawingml/2006/main">
              <a:ext uri="{FF2B5EF4-FFF2-40B4-BE49-F238E27FC236}">
                <a16:creationId xmlns:a16="http://schemas.microsoft.com/office/drawing/2014/main" id="{084EF419-19BF-4191-823F-2BB70177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25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Compare the body, opening and carrying system. Which structural decisions depend on the teacher-confirmed pathway and pattern?</a:t>
            </a:r>
          </a:p>
        </p:txBody>
      </p:sp>
      <p:sp>
        <p:nvSpPr>
          <p:cNvPr id="9" name="prompt-band">
            <a:extLst xmlns:a="http://schemas.openxmlformats.org/drawingml/2006/main">
              <a:ext uri="{FF2B5EF4-FFF2-40B4-BE49-F238E27FC236}">
                <a16:creationId xmlns:a16="http://schemas.microsoft.com/office/drawing/2014/main" id="{269EFD7C-D903-4803-8500-A3405A1B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2E6"/>
          </a:solidFill>
          <a:ln xmlns:a="http://schemas.openxmlformats.org/drawingml/2006/main" w="9525">
            <a:solidFill>
              <a:srgbClr val="EBC2C9"/>
            </a:solidFill>
            <a:prstDash val="solid"/>
          </a:ln>
        </p:spPr>
      </p:sp>
      <p:sp>
        <p:nvSpPr>
          <p:cNvPr id="10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BFEE5219-7D6C-420B-8B53-2F984B66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11" name="prompt-text">
            <a:extLst xmlns:a="http://schemas.openxmlformats.org/drawingml/2006/main">
              <a:ext uri="{FF2B5EF4-FFF2-40B4-BE49-F238E27FC236}">
                <a16:creationId xmlns:a16="http://schemas.microsoft.com/office/drawing/2014/main" id="{08A67A4F-5982-4EEB-A580-C4027550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81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Sort production cards into shared, tote-specific and drawstring-specific groups, then explain two structural relationships.</a:t>
            </a:r>
          </a:p>
        </p:txBody>
      </p:sp>
      <p:sp>
        <p:nvSpPr>
          <p:cNvPr id="12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B3A92EC3-14BE-48D5-A469-9ED08B40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09</a:t>
            </a:r>
          </a:p>
        </p:txBody>
      </p:sp>
      <p:sp>
        <p:nvSpPr>
          <p:cNvPr id="1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8E83C4D-DAFF-49D5-8FB3-04716415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485591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ule">
            <a:extLst xmlns:a="http://schemas.openxmlformats.org/drawingml/2006/main">
              <a:ext uri="{FF2B5EF4-FFF2-40B4-BE49-F238E27FC236}">
                <a16:creationId xmlns:a16="http://schemas.microsoft.com/office/drawing/2014/main" id="{C96A1483-444C-4D91-8B9E-AA033E35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1805DD3-D497-40BF-B01F-072173DA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2. PREPARING, DECORATING AND SEWING THE BAG BODY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22F11F-89BF-464D-BDBA-0E271402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Check before you cover it</a:t>
            </a:r>
          </a:p>
        </p:txBody>
      </p:sp>
      <p:pic>
        <p:nvPicPr>
          <p:cNvPr id="17" name="Teaching visual - Hands guide fabric at a sewing machine while the edge and stitch zone remain visibl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83c8bc64840bc"/>
          <a:stretch xmlns:a="http://schemas.openxmlformats.org/drawingml/2006/main"/>
        </p:blipFill>
        <p:spPr>
          <a:xfrm xmlns:a="http://schemas.openxmlformats.org/drawingml/2006/main">
            <a:off x="581025" y="1524000"/>
            <a:ext cx="4953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theory">
            <a:extLst xmlns:a="http://schemas.openxmlformats.org/drawingml/2006/main">
              <a:ext uri="{FF2B5EF4-FFF2-40B4-BE49-F238E27FC236}">
                <a16:creationId xmlns:a16="http://schemas.microsoft.com/office/drawing/2014/main" id="{9B56DFDE-81FD-41F0-BD89-52823EFF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62100"/>
            <a:ext cx="5638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0302E"/>
                </a:solidFill>
                <a:latin typeface="Aptos"/>
                <a:ea typeface="Aptos"/>
                <a:cs typeface="Aptos"/>
              </a:rPr>
              <a:t>Good body construction is a chain of small controlled actions; accuracy lost early is difficult to hide at the finishing stage. Preparation protects the design before joining begins. The authorised bag procedures use a 1.5 cm seam allowance and backstitching at seam ends.</a:t>
            </a:r>
          </a:p>
        </p:txBody>
      </p:sp>
      <p:sp>
        <p:nvSpPr>
          <p:cNvPr id="6" name="notice">
            <a:extLst xmlns:a="http://schemas.openxmlformats.org/drawingml/2006/main">
              <a:ext uri="{FF2B5EF4-FFF2-40B4-BE49-F238E27FC236}">
                <a16:creationId xmlns:a16="http://schemas.microsoft.com/office/drawing/2014/main" id="{50E1CF89-B5F5-47F3-B50D-C0F8F25A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56388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B9CEC7"/>
            </a:solidFill>
            <a:prstDash val="solid"/>
          </a:ln>
        </p:spPr>
      </p:sp>
      <p:sp>
        <p:nvSpPr>
          <p:cNvPr id="7" name="notice-label">
            <a:extLst xmlns:a="http://schemas.openxmlformats.org/drawingml/2006/main">
              <a:ext uri="{FF2B5EF4-FFF2-40B4-BE49-F238E27FC236}">
                <a16:creationId xmlns:a16="http://schemas.microsoft.com/office/drawing/2014/main" id="{AC7BC953-C2A5-4739-A687-A1932B99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LOOK AT THE VISUAL</a:t>
            </a:r>
          </a:p>
        </p:txBody>
      </p:sp>
      <p:sp>
        <p:nvSpPr>
          <p:cNvPr id="8" name="notice-text">
            <a:extLst xmlns:a="http://schemas.openxmlformats.org/drawingml/2006/main">
              <a:ext uri="{FF2B5EF4-FFF2-40B4-BE49-F238E27FC236}">
                <a16:creationId xmlns:a16="http://schemas.microsoft.com/office/drawing/2014/main" id="{D616530F-75C6-491C-9FD8-E8274F0D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525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Identify the visible control point, then name two required checks that are outside this close-up.</a:t>
            </a:r>
          </a:p>
        </p:txBody>
      </p:sp>
      <p:sp>
        <p:nvSpPr>
          <p:cNvPr id="9" name="prompt-band">
            <a:extLst xmlns:a="http://schemas.openxmlformats.org/drawingml/2006/main">
              <a:ext uri="{FF2B5EF4-FFF2-40B4-BE49-F238E27FC236}">
                <a16:creationId xmlns:a16="http://schemas.microsoft.com/office/drawing/2014/main" id="{45A88CE9-4831-4ED8-8264-8205FB6A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2E6"/>
          </a:solidFill>
          <a:ln xmlns:a="http://schemas.openxmlformats.org/drawingml/2006/main" w="9525">
            <a:solidFill>
              <a:srgbClr val="EBC2C9"/>
            </a:solidFill>
            <a:prstDash val="solid"/>
          </a:ln>
        </p:spPr>
      </p:sp>
      <p:sp>
        <p:nvSpPr>
          <p:cNvPr id="10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5A399982-1CB2-4653-8671-E29887B0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11" name="prompt-text">
            <a:extLst xmlns:a="http://schemas.openxmlformats.org/drawingml/2006/main">
              <a:ext uri="{FF2B5EF4-FFF2-40B4-BE49-F238E27FC236}">
                <a16:creationId xmlns:a16="http://schemas.microsoft.com/office/drawing/2014/main" id="{C5CE02EC-F67A-427E-B4C7-833ECFAD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81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Use the close-up to identify the edge-guidance control point, then record two required unseen checks before continuing production.</a:t>
            </a:r>
          </a:p>
        </p:txBody>
      </p:sp>
      <p:sp>
        <p:nvSpPr>
          <p:cNvPr id="12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45FF3A03-7B83-410D-9931-9ECB92F5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09</a:t>
            </a:r>
          </a:p>
        </p:txBody>
      </p:sp>
      <p:sp>
        <p:nvSpPr>
          <p:cNvPr id="1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F3BDB12-2324-4EDE-A046-2FD14E35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809655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ule">
            <a:extLst xmlns:a="http://schemas.openxmlformats.org/drawingml/2006/main">
              <a:ext uri="{FF2B5EF4-FFF2-40B4-BE49-F238E27FC236}">
                <a16:creationId xmlns:a16="http://schemas.microsoft.com/office/drawing/2014/main" id="{2C018385-F527-4A25-90C7-0C5FF4D0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53015FC-5E73-4B19-949E-794A226A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3. COMPLETING CASINGS, STRAPS AND FINISHING DETAILS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70C41F-EE83-4149-9296-412A80F6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Test the connection, not just the surface</a:t>
            </a:r>
          </a:p>
        </p:txBody>
      </p:sp>
      <p:pic>
        <p:nvPicPr>
          <p:cNvPr id="17" name="Teaching visual - Close-up construction samples show a box-and-cross tote strap reinforcement and a folded drawstring casing with cord moving through the fabric tunnel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6bffda0e84da8"/>
          <a:stretch xmlns:a="http://schemas.openxmlformats.org/drawingml/2006/main"/>
        </p:blipFill>
        <p:spPr>
          <a:xfrm xmlns:a="http://schemas.openxmlformats.org/drawingml/2006/main">
            <a:off x="6610350" y="1698625"/>
            <a:ext cx="5048250" cy="33655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theory">
            <a:extLst xmlns:a="http://schemas.openxmlformats.org/drawingml/2006/main">
              <a:ext uri="{FF2B5EF4-FFF2-40B4-BE49-F238E27FC236}">
                <a16:creationId xmlns:a16="http://schemas.microsoft.com/office/drawing/2014/main" id="{3FE2B1ED-FBEE-4101-BCDE-46AC573F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638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0302E"/>
                </a:solidFill>
                <a:latin typeface="Aptos"/>
                <a:ea typeface="Aptos"/>
                <a:cs typeface="Aptos"/>
              </a:rPr>
              <a:t>Finishing details are structural decisions: a neat upper edge, a clear casing or a reinforced strap join affects how the bag looks, carries and lasts. In the tote pathway, the authorised upper edge is formed with a first fold of 1 cm followed by a second fold of 3 cm. In the drawstring pathway, the authorised casing is also formed with a 1 cm fold followed by a 3 cm fold.</a:t>
            </a:r>
          </a:p>
        </p:txBody>
      </p:sp>
      <p:sp>
        <p:nvSpPr>
          <p:cNvPr id="6" name="notice">
            <a:extLst xmlns:a="http://schemas.openxmlformats.org/drawingml/2006/main">
              <a:ext uri="{FF2B5EF4-FFF2-40B4-BE49-F238E27FC236}">
                <a16:creationId xmlns:a16="http://schemas.microsoft.com/office/drawing/2014/main" id="{74A03763-5EB7-479A-B38E-2F76F7AF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6388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B9CEC7"/>
            </a:solidFill>
            <a:prstDash val="solid"/>
          </a:ln>
        </p:spPr>
      </p:sp>
      <p:sp>
        <p:nvSpPr>
          <p:cNvPr id="7" name="notice-label">
            <a:extLst xmlns:a="http://schemas.openxmlformats.org/drawingml/2006/main">
              <a:ext uri="{FF2B5EF4-FFF2-40B4-BE49-F238E27FC236}">
                <a16:creationId xmlns:a16="http://schemas.microsoft.com/office/drawing/2014/main" id="{2464F430-11F8-40AB-9FC0-2F347A5D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LOOK AT THE VISUAL</a:t>
            </a:r>
          </a:p>
        </p:txBody>
      </p:sp>
      <p:sp>
        <p:nvSpPr>
          <p:cNvPr id="8" name="notice-text">
            <a:extLst xmlns:a="http://schemas.openxmlformats.org/drawingml/2006/main">
              <a:ext uri="{FF2B5EF4-FFF2-40B4-BE49-F238E27FC236}">
                <a16:creationId xmlns:a16="http://schemas.microsoft.com/office/drawing/2014/main" id="{285D4E7D-7C15-44EA-A939-EFE4400E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25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Trace the force through the strap join and the movement through the casing. What must stay reinforced or clear?</a:t>
            </a:r>
          </a:p>
        </p:txBody>
      </p:sp>
      <p:sp>
        <p:nvSpPr>
          <p:cNvPr id="9" name="prompt-band">
            <a:extLst xmlns:a="http://schemas.openxmlformats.org/drawingml/2006/main">
              <a:ext uri="{FF2B5EF4-FFF2-40B4-BE49-F238E27FC236}">
                <a16:creationId xmlns:a16="http://schemas.microsoft.com/office/drawing/2014/main" id="{D31313DC-7538-4B06-BA57-C07DB236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2E6"/>
          </a:solidFill>
          <a:ln xmlns:a="http://schemas.openxmlformats.org/drawingml/2006/main" w="9525">
            <a:solidFill>
              <a:srgbClr val="EBC2C9"/>
            </a:solidFill>
            <a:prstDash val="solid"/>
          </a:ln>
        </p:spPr>
      </p:sp>
      <p:sp>
        <p:nvSpPr>
          <p:cNvPr id="10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888E3906-BC7B-46C1-BEF3-11B4C0C0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11" name="prompt-text">
            <a:extLst xmlns:a="http://schemas.openxmlformats.org/drawingml/2006/main">
              <a:ext uri="{FF2B5EF4-FFF2-40B4-BE49-F238E27FC236}">
                <a16:creationId xmlns:a16="http://schemas.microsoft.com/office/drawing/2014/main" id="{F832B13D-A38A-44DF-B39A-FB3C1964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81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Use the two close-up construction samples to compare one strap-load check and one casing-clearance check; diagnose other faults from physical samples or the teacher-confirmed plan.</a:t>
            </a:r>
          </a:p>
        </p:txBody>
      </p:sp>
      <p:sp>
        <p:nvSpPr>
          <p:cNvPr id="12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0DB87B72-E2CC-4B18-866B-FA4D555A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09</a:t>
            </a:r>
          </a:p>
        </p:txBody>
      </p:sp>
      <p:sp>
        <p:nvSpPr>
          <p:cNvPr id="1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494806E-DC35-43A1-8115-59BD5A26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52675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4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">
            <a:extLst xmlns:a="http://schemas.openxmlformats.org/drawingml/2006/main">
              <a:ext uri="{FF2B5EF4-FFF2-40B4-BE49-F238E27FC236}">
                <a16:creationId xmlns:a16="http://schemas.microsoft.com/office/drawing/2014/main" id="{E5B1CD1A-0C53-48E7-8455-A2F9E6F6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FD32709-3A70-4BDA-9F1A-D5198A06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CHECK YOUR UNDERSTANDING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BAE697-2FDE-44DA-8E87-14515AE2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Stop. Think. Explain.</a:t>
            </a:r>
          </a:p>
        </p:txBody>
      </p:sp>
      <p:sp>
        <p:nvSpPr>
          <p:cNvPr id="4" name="instruction">
            <a:extLst xmlns:a="http://schemas.openxmlformats.org/drawingml/2006/main">
              <a:ext uri="{FF2B5EF4-FFF2-40B4-BE49-F238E27FC236}">
                <a16:creationId xmlns:a16="http://schemas.microsoft.com/office/drawing/2014/main" id="{1ACC855E-FE2E-4C94-A237-5084EE2E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C8D6D2"/>
                </a:solidFill>
                <a:latin typeface="Aptos"/>
                <a:ea typeface="Aptos"/>
                <a:cs typeface="Aptos"/>
              </a:rPr>
              <a:t>Answer silently first. Then justify one answer with a partner.</a:t>
            </a:r>
          </a:p>
        </p:txBody>
      </p:sp>
      <p:sp>
        <p:nvSpPr>
          <p:cNvPr id="5" name="check-number-1">
            <a:extLst xmlns:a="http://schemas.openxmlformats.org/drawingml/2006/main">
              <a:ext uri="{FF2B5EF4-FFF2-40B4-BE49-F238E27FC236}">
                <a16:creationId xmlns:a16="http://schemas.microsoft.com/office/drawing/2014/main" id="{56AF824A-D099-4D42-BD3D-8EA55A73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check-line-1">
            <a:extLst xmlns:a="http://schemas.openxmlformats.org/drawingml/2006/main">
              <a:ext uri="{FF2B5EF4-FFF2-40B4-BE49-F238E27FC236}">
                <a16:creationId xmlns:a16="http://schemas.microsoft.com/office/drawing/2014/main" id="{DF4CCD12-F33D-4B8E-8E47-B2448BE7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38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07A"/>
            </a:solidFill>
            <a:prstDash val="solid"/>
          </a:ln>
        </p:spPr>
      </p:sp>
      <p:sp>
        <p:nvSpPr>
          <p:cNvPr id="7" name="check-1">
            <a:extLst xmlns:a="http://schemas.openxmlformats.org/drawingml/2006/main">
              <a:ext uri="{FF2B5EF4-FFF2-40B4-BE49-F238E27FC236}">
                <a16:creationId xmlns:a16="http://schemas.microsoft.com/office/drawing/2014/main" id="{D2C743E5-5DAE-4215-9922-22DFAB47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4312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feature identifies the authorised tote structure?</a:t>
            </a:r>
          </a:p>
        </p:txBody>
      </p:sp>
      <p:sp>
        <p:nvSpPr>
          <p:cNvPr id="8" name="check-number-2">
            <a:extLst xmlns:a="http://schemas.openxmlformats.org/drawingml/2006/main">
              <a:ext uri="{FF2B5EF4-FFF2-40B4-BE49-F238E27FC236}">
                <a16:creationId xmlns:a16="http://schemas.microsoft.com/office/drawing/2014/main" id="{00D5682E-FF4D-4452-906E-77710D90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check-line-2">
            <a:extLst xmlns:a="http://schemas.openxmlformats.org/drawingml/2006/main">
              <a:ext uri="{FF2B5EF4-FFF2-40B4-BE49-F238E27FC236}">
                <a16:creationId xmlns:a16="http://schemas.microsoft.com/office/drawing/2014/main" id="{9224AAB1-D425-4F7A-BEBC-4EE8BEFC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07A"/>
            </a:solidFill>
            <a:prstDash val="solid"/>
          </a:ln>
        </p:spPr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0A8767EF-2CA7-40D5-A0A0-34234DDD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146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is approved surface decoration completed before main body assembly?</a:t>
            </a:r>
          </a:p>
        </p:txBody>
      </p:sp>
      <p:sp>
        <p:nvSpPr>
          <p:cNvPr id="11" name="check-number-3">
            <a:extLst xmlns:a="http://schemas.openxmlformats.org/drawingml/2006/main">
              <a:ext uri="{FF2B5EF4-FFF2-40B4-BE49-F238E27FC236}">
                <a16:creationId xmlns:a16="http://schemas.microsoft.com/office/drawing/2014/main" id="{F9865B7F-03DD-464D-817D-83DB409D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check-line-3">
            <a:extLst xmlns:a="http://schemas.openxmlformats.org/drawingml/2006/main">
              <a:ext uri="{FF2B5EF4-FFF2-40B4-BE49-F238E27FC236}">
                <a16:creationId xmlns:a16="http://schemas.microsoft.com/office/drawing/2014/main" id="{640DE82C-2746-44F0-80BD-61EB38BF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07A"/>
            </a:solidFill>
            <a:prstDash val="solid"/>
          </a:ln>
        </p:spPr>
      </p:sp>
      <p:sp>
        <p:nvSpPr>
          <p:cNvPr id="13" name="check-3">
            <a:extLst xmlns:a="http://schemas.openxmlformats.org/drawingml/2006/main">
              <a:ext uri="{FF2B5EF4-FFF2-40B4-BE49-F238E27FC236}">
                <a16:creationId xmlns:a16="http://schemas.microsoft.com/office/drawing/2014/main" id="{76E5516B-6423-4F97-BF55-3EC90DCC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8622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is the stable authorised fold sequence for the tote upper edge?</a:t>
            </a:r>
          </a:p>
        </p:txBody>
      </p:sp>
      <p:sp>
        <p:nvSpPr>
          <p:cNvPr id="14" name="check-number-4">
            <a:extLst xmlns:a="http://schemas.openxmlformats.org/drawingml/2006/main">
              <a:ext uri="{FF2B5EF4-FFF2-40B4-BE49-F238E27FC236}">
                <a16:creationId xmlns:a16="http://schemas.microsoft.com/office/drawing/2014/main" id="{D0AF79FF-76B5-4975-8742-29F29772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check-line-4">
            <a:extLst xmlns:a="http://schemas.openxmlformats.org/drawingml/2006/main">
              <a:ext uri="{FF2B5EF4-FFF2-40B4-BE49-F238E27FC236}">
                <a16:creationId xmlns:a16="http://schemas.microsoft.com/office/drawing/2014/main" id="{6C91ADCD-AC18-4BBB-9B9F-6293C349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530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07A"/>
            </a:solidFill>
            <a:prstDash val="solid"/>
          </a:ln>
        </p:spPr>
      </p:sp>
      <p:sp>
        <p:nvSpPr>
          <p:cNvPr id="16" name="check-4">
            <a:extLst xmlns:a="http://schemas.openxmlformats.org/drawingml/2006/main">
              <a:ext uri="{FF2B5EF4-FFF2-40B4-BE49-F238E27FC236}">
                <a16:creationId xmlns:a16="http://schemas.microsoft.com/office/drawing/2014/main" id="{64C29432-BA3D-4EE9-8F04-54873294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577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idea from this module most changes your next design or production decision?</a:t>
            </a:r>
          </a:p>
        </p:txBody>
      </p:sp>
      <p:sp>
        <p:nvSpPr>
          <p:cNvPr id="17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0E6F0328-C165-4B34-A6AB-9D11108E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6D2"/>
                </a:solidFill>
                <a:latin typeface="Aptos"/>
                <a:ea typeface="Aptos"/>
                <a:cs typeface="Aptos"/>
              </a:rPr>
              <a:t>SEW AWESOME  •  MODULE 09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1037E3D-A899-450E-8485-9356370A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6D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420049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ule">
            <a:extLst xmlns:a="http://schemas.openxmlformats.org/drawingml/2006/main">
              <a:ext uri="{FF2B5EF4-FFF2-40B4-BE49-F238E27FC236}">
                <a16:creationId xmlns:a16="http://schemas.microsoft.com/office/drawing/2014/main" id="{A6478105-662B-43C1-A7D9-36DD3499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998054D5-59AA-4408-84B0-BDF4E678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MODEL A LONGER RESPONSE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0CBDE1-A8D3-4854-82FA-6FF84CD2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Read → Select → Explain → Check</a:t>
            </a:r>
          </a:p>
        </p:txBody>
      </p:sp>
      <p:sp>
        <p:nvSpPr>
          <p:cNvPr id="4" name="question-surface">
            <a:extLst xmlns:a="http://schemas.openxmlformats.org/drawingml/2006/main">
              <a:ext uri="{FF2B5EF4-FFF2-40B4-BE49-F238E27FC236}">
                <a16:creationId xmlns:a16="http://schemas.microsoft.com/office/drawing/2014/main" id="{1577C676-67D8-4C69-8553-22F080C1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1252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5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C05C295D-D10A-4865-8734-B5F8F191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THE QUESTION</a:t>
            </a:r>
          </a:p>
        </p:txBody>
      </p:sp>
      <p:sp>
        <p:nvSpPr>
          <p:cNvPr id="6" name="question">
            <a:extLst xmlns:a="http://schemas.openxmlformats.org/drawingml/2006/main">
              <a:ext uri="{FF2B5EF4-FFF2-40B4-BE49-F238E27FC236}">
                <a16:creationId xmlns:a16="http://schemas.microsoft.com/office/drawing/2014/main" id="{D37D4D8C-1796-497C-A102-C484ADF4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62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Evaluate how finishing details make either an approved tote or drawstring bag functional, durable and ready for testing.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F6ECF319-3501-410F-A698-43B32208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386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2D1F2A73-392F-4DC8-AC8F-761331C8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1  READ</a:t>
            </a:r>
          </a:p>
        </p:txBody>
      </p:sp>
      <p:sp>
        <p:nvSpPr>
          <p:cNvPr id="9" name="step-text-1">
            <a:extLst xmlns:a="http://schemas.openxmlformats.org/drawingml/2006/main">
              <a:ext uri="{FF2B5EF4-FFF2-40B4-BE49-F238E27FC236}">
                <a16:creationId xmlns:a16="http://schemas.microsoft.com/office/drawing/2014/main" id="{694AE891-391E-4099-B67D-C72F9278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302E"/>
                </a:solidFill>
                <a:latin typeface="Aptos"/>
                <a:ea typeface="Aptos"/>
                <a:cs typeface="Aptos"/>
              </a:rPr>
              <a:t>Describe the relevant upper-edge and carrying or opening structure.</a:t>
            </a:r>
          </a:p>
        </p:txBody>
      </p:sp>
      <p:sp>
        <p:nvSpPr>
          <p:cNvPr id="10" name="arrow-2">
            <a:extLst xmlns:a="http://schemas.openxmlformats.org/drawingml/2006/main">
              <a:ext uri="{FF2B5EF4-FFF2-40B4-BE49-F238E27FC236}">
                <a16:creationId xmlns:a16="http://schemas.microsoft.com/office/drawing/2014/main" id="{22AE4B13-51CD-4485-8AAD-8498070F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386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CF787884-52D1-41A4-AF1D-C3D7F6FA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2  SELECT</a:t>
            </a:r>
          </a:p>
        </p:txBody>
      </p:sp>
      <p:sp>
        <p:nvSpPr>
          <p:cNvPr id="12" name="step-text-2">
            <a:extLst xmlns:a="http://schemas.openxmlformats.org/drawingml/2006/main">
              <a:ext uri="{FF2B5EF4-FFF2-40B4-BE49-F238E27FC236}">
                <a16:creationId xmlns:a16="http://schemas.microsoft.com/office/drawing/2014/main" id="{7FE7C40F-1CF8-4B4A-8C5B-E0E7E1C2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814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302E"/>
                </a:solidFill>
                <a:latin typeface="Aptos"/>
                <a:ea typeface="Aptos"/>
                <a:cs typeface="Aptos"/>
              </a:rPr>
              <a:t>Explain why reinforcement or a clear casing path matters to repeated use.</a:t>
            </a:r>
          </a:p>
        </p:txBody>
      </p:sp>
      <p:sp>
        <p:nvSpPr>
          <p:cNvPr id="13" name="arrow-3">
            <a:extLst xmlns:a="http://schemas.openxmlformats.org/drawingml/2006/main">
              <a:ext uri="{FF2B5EF4-FFF2-40B4-BE49-F238E27FC236}">
                <a16:creationId xmlns:a16="http://schemas.microsoft.com/office/drawing/2014/main" id="{548547DE-0C5E-4A00-908D-FE986C9D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386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38EFD710-D772-4E7D-B785-7B003B1B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9A3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49A34"/>
                </a:solidFill>
                <a:latin typeface="Aptos"/>
                <a:ea typeface="Aptos"/>
                <a:cs typeface="Aptos"/>
              </a:rPr>
              <a:t>3  EXPLAIN</a:t>
            </a:r>
          </a:p>
        </p:txBody>
      </p:sp>
      <p:sp>
        <p:nvSpPr>
          <p:cNvPr id="15" name="step-text-3">
            <a:extLst xmlns:a="http://schemas.openxmlformats.org/drawingml/2006/main">
              <a:ext uri="{FF2B5EF4-FFF2-40B4-BE49-F238E27FC236}">
                <a16:creationId xmlns:a16="http://schemas.microsoft.com/office/drawing/2014/main" id="{8BE71D1F-7C9C-4D6F-B906-A0A90E74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814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302E"/>
                </a:solidFill>
                <a:latin typeface="Aptos"/>
                <a:ea typeface="Aptos"/>
                <a:cs typeface="Aptos"/>
              </a:rPr>
              <a:t>Identify internal and external quality checks for the chosen pathway.</a:t>
            </a:r>
          </a:p>
        </p:txBody>
      </p:sp>
      <p:sp>
        <p:nvSpPr>
          <p:cNvPr id="16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5F160E4C-DDB4-4B5E-9035-AE7B6AFA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4E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4E4A"/>
                </a:solidFill>
                <a:latin typeface="Aptos"/>
                <a:ea typeface="Aptos"/>
                <a:cs typeface="Aptos"/>
              </a:rPr>
              <a:t>4  CHECK</a:t>
            </a:r>
          </a:p>
        </p:txBody>
      </p:sp>
      <p:sp>
        <p:nvSpPr>
          <p:cNvPr id="17" name="step-text-4">
            <a:extLst xmlns:a="http://schemas.openxmlformats.org/drawingml/2006/main">
              <a:ext uri="{FF2B5EF4-FFF2-40B4-BE49-F238E27FC236}">
                <a16:creationId xmlns:a16="http://schemas.microsoft.com/office/drawing/2014/main" id="{8C6667B7-B5D2-4B12-A0FB-1D15657A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302E"/>
                </a:solidFill>
                <a:latin typeface="Aptos"/>
                <a:ea typeface="Aptos"/>
                <a:cs typeface="Aptos"/>
              </a:rPr>
              <a:t>Apply defect-to-cause reasoning to one likely finishing problem and propose an approved correction point.</a:t>
            </a:r>
          </a:p>
        </p:txBody>
      </p:sp>
      <p:sp>
        <p:nvSpPr>
          <p:cNvPr id="18" name="starter">
            <a:extLst xmlns:a="http://schemas.openxmlformats.org/drawingml/2006/main">
              <a:ext uri="{FF2B5EF4-FFF2-40B4-BE49-F238E27FC236}">
                <a16:creationId xmlns:a16="http://schemas.microsoft.com/office/drawing/2014/main" id="{091619A3-9DE9-450A-8B9D-C3FB780C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4D5"/>
          </a:solidFill>
          <a:ln xmlns:a="http://schemas.openxmlformats.org/drawingml/2006/main" w="9525">
            <a:solidFill>
              <a:srgbClr val="E7C87E"/>
            </a:solidFill>
            <a:prstDash val="solid"/>
          </a:ln>
        </p:spPr>
      </p:sp>
      <p:sp>
        <p:nvSpPr>
          <p:cNvPr id="1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0C9C750C-CD63-4C86-B14D-4DDCA323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SENTENCE STARTER</a:t>
            </a:r>
          </a:p>
        </p:txBody>
      </p:sp>
      <p:sp>
        <p:nvSpPr>
          <p:cNvPr id="20" name="starter-text">
            <a:extLst xmlns:a="http://schemas.openxmlformats.org/drawingml/2006/main">
              <a:ext uri="{FF2B5EF4-FFF2-40B4-BE49-F238E27FC236}">
                <a16:creationId xmlns:a16="http://schemas.microsoft.com/office/drawing/2014/main" id="{83A54E7A-ED70-40EE-9F36-6A21DA74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53075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The strongest evidence is … because it shows … This changes my decision by …</a:t>
            </a:r>
          </a:p>
        </p:txBody>
      </p:sp>
      <p:sp>
        <p:nvSpPr>
          <p:cNvPr id="21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853CADCA-6CCE-4CD6-9C47-5B97939F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09</a:t>
            </a:r>
          </a:p>
        </p:txBody>
      </p:sp>
      <p:sp>
        <p:nvSpPr>
          <p:cNvPr id="2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29717B6-F73C-43E1-BD6E-211DA974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64333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BF4C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ule">
            <a:extLst xmlns:a="http://schemas.openxmlformats.org/drawingml/2006/main">
              <a:ext uri="{FF2B5EF4-FFF2-40B4-BE49-F238E27FC236}">
                <a16:creationId xmlns:a16="http://schemas.microsoft.com/office/drawing/2014/main" id="{EA7508DC-A029-4E12-B699-9B1082BA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D8C4C1C-684F-4684-8FB5-C461328D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0B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0BF"/>
                </a:solidFill>
                <a:latin typeface="Aptos"/>
                <a:ea typeface="Aptos"/>
                <a:cs typeface="Aptos"/>
              </a:rPr>
              <a:t>CLOSE THE LOOP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EAD17B-C7A8-49E3-A165-E6AF59C7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Before you pack up…</a:t>
            </a:r>
          </a:p>
        </p:txBody>
      </p:sp>
      <p:sp>
        <p:nvSpPr>
          <p:cNvPr id="4" name="exit-1">
            <a:extLst xmlns:a="http://schemas.openxmlformats.org/drawingml/2006/main">
              <a:ext uri="{FF2B5EF4-FFF2-40B4-BE49-F238E27FC236}">
                <a16:creationId xmlns:a16="http://schemas.microsoft.com/office/drawing/2014/main" id="{3E56D091-13CB-42F2-8460-9567FD4D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8096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C2C8"/>
            </a:solidFill>
            <a:prstDash val="solid"/>
          </a:ln>
        </p:spPr>
      </p:sp>
      <p:sp>
        <p:nvSpPr>
          <p:cNvPr id="5" name="exit-text-1">
            <a:extLst xmlns:a="http://schemas.openxmlformats.org/drawingml/2006/main">
              <a:ext uri="{FF2B5EF4-FFF2-40B4-BE49-F238E27FC236}">
                <a16:creationId xmlns:a16="http://schemas.microsoft.com/office/drawing/2014/main" id="{588A4B6C-5C63-418A-ADE8-558F1602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1. One idea I can now explain is…</a:t>
            </a:r>
          </a:p>
        </p:txBody>
      </p:sp>
      <p:sp>
        <p:nvSpPr>
          <p:cNvPr id="6" name="exit-2">
            <a:extLst xmlns:a="http://schemas.openxmlformats.org/drawingml/2006/main">
              <a:ext uri="{FF2B5EF4-FFF2-40B4-BE49-F238E27FC236}">
                <a16:creationId xmlns:a16="http://schemas.microsoft.com/office/drawing/2014/main" id="{FBFBFEA3-025A-4364-83D4-B0E9FDE7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8096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C2C8"/>
            </a:solidFill>
            <a:prstDash val="solid"/>
          </a:ln>
        </p:spPr>
      </p:sp>
      <p:sp>
        <p:nvSpPr>
          <p:cNvPr id="7" name="exit-text-2">
            <a:extLst xmlns:a="http://schemas.openxmlformats.org/drawingml/2006/main">
              <a:ext uri="{FF2B5EF4-FFF2-40B4-BE49-F238E27FC236}">
                <a16:creationId xmlns:a16="http://schemas.microsoft.com/office/drawing/2014/main" id="{C63025A5-3171-4307-9DB6-61A90C97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2. One decision or practical action this changes is…</a:t>
            </a:r>
          </a:p>
        </p:txBody>
      </p:sp>
      <p:sp>
        <p:nvSpPr>
          <p:cNvPr id="8" name="exit-3">
            <a:extLst xmlns:a="http://schemas.openxmlformats.org/drawingml/2006/main">
              <a:ext uri="{FF2B5EF4-FFF2-40B4-BE49-F238E27FC236}">
                <a16:creationId xmlns:a16="http://schemas.microsoft.com/office/drawing/2014/main" id="{6CC3AF5F-3CC3-4C8E-9596-6F29C9A7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8096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C2C8"/>
            </a:solidFill>
            <a:prstDash val="solid"/>
          </a:ln>
        </p:spPr>
      </p:sp>
      <p:sp>
        <p:nvSpPr>
          <p:cNvPr id="9" name="exit-text-3">
            <a:extLst xmlns:a="http://schemas.openxmlformats.org/drawingml/2006/main">
              <a:ext uri="{FF2B5EF4-FFF2-40B4-BE49-F238E27FC236}">
                <a16:creationId xmlns:a16="http://schemas.microsoft.com/office/drawing/2014/main" id="{0B29FF21-15EE-465F-9AFF-11EC377F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99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3. One question I still need answered is…</a:t>
            </a:r>
          </a:p>
        </p:txBody>
      </p:sp>
      <p:sp>
        <p:nvSpPr>
          <p:cNvPr id="10" name="evidence-circle">
            <a:extLst xmlns:a="http://schemas.openxmlformats.org/drawingml/2006/main">
              <a:ext uri="{FF2B5EF4-FFF2-40B4-BE49-F238E27FC236}">
                <a16:creationId xmlns:a16="http://schemas.microsoft.com/office/drawing/2014/main" id="{94178D8E-6878-495F-B169-76D5ECF9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193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9525">
            <a:solidFill>
              <a:srgbClr val="D49A34"/>
            </a:solidFill>
            <a:prstDash val="solid"/>
          </a:ln>
        </p:spPr>
      </p:sp>
      <p:sp>
        <p:nvSpPr>
          <p:cNvPr id="11" name="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FB9460BC-E710-42D3-9249-23D6DC42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362200"/>
            <a:ext cx="123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C4E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E4A"/>
                </a:solidFill>
                <a:latin typeface="Aptos"/>
                <a:ea typeface="Aptos"/>
                <a:cs typeface="Aptos"/>
              </a:rPr>
              <a:t>SAVE</a:t>
            </a:r>
          </a:p>
          <a:p xmlns:a="http://schemas.openxmlformats.org/drawingml/2006/main">
            <a:pPr algn="ctr">
              <a:defRPr sz="1500" b="1">
                <a:solidFill>
                  <a:srgbClr val="0C4E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E4A"/>
                </a:solidFill>
                <a:latin typeface="Aptos"/>
                <a:ea typeface="Aptos"/>
                <a:cs typeface="Aptos"/>
              </a:rPr>
              <a:t>MY FOLIO</a:t>
            </a:r>
          </a:p>
          <a:p xmlns:a="http://schemas.openxmlformats.org/drawingml/2006/main">
            <a:pPr algn="ctr">
              <a:defRPr sz="1500" b="1">
                <a:solidFill>
                  <a:srgbClr val="0C4E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E4A"/>
                </a:solidFill>
                <a:latin typeface="Aptos"/>
                <a:ea typeface="Aptos"/>
                <a:cs typeface="Aptos"/>
              </a:rPr>
              <a:t>MODULE 9</a:t>
            </a:r>
          </a:p>
        </p:txBody>
      </p:sp>
      <p:sp>
        <p:nvSpPr>
          <p:cNvPr id="12" name="teacher-confirm">
            <a:extLst xmlns:a="http://schemas.openxmlformats.org/drawingml/2006/main">
              <a:ext uri="{FF2B5EF4-FFF2-40B4-BE49-F238E27FC236}">
                <a16:creationId xmlns:a16="http://schemas.microsoft.com/office/drawing/2014/main" id="{FFAA16C7-20DE-4BDD-97C7-BB0B59A4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1125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8F3340"/>
          </a:solidFill>
          <a:ln xmlns:a="http://schemas.openxmlformats.org/drawingml/2006/main" w="9525">
            <a:solidFill>
              <a:srgbClr val="D9828E"/>
            </a:solidFill>
            <a:prstDash val="solid"/>
          </a:ln>
        </p:spPr>
      </p:sp>
      <p:sp>
        <p:nvSpPr>
          <p:cNvPr id="13" name="teacher-confirm-text">
            <a:extLst xmlns:a="http://schemas.openxmlformats.org/drawingml/2006/main">
              <a:ext uri="{FF2B5EF4-FFF2-40B4-BE49-F238E27FC236}">
                <a16:creationId xmlns:a16="http://schemas.microsoft.com/office/drawing/2014/main" id="{AC885C5E-106C-4B8F-B535-7FEC6358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070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TEACHER TO CONFIRM  •  which bag pathway each student must produce; approved full-size pattern or cutting template and exact finished dimensions</a:t>
            </a:r>
          </a:p>
        </p:txBody>
      </p:sp>
      <p:sp>
        <p:nvSpPr>
          <p:cNvPr id="14" name="next-step-label">
            <a:extLst xmlns:a="http://schemas.openxmlformats.org/drawingml/2006/main">
              <a:ext uri="{FF2B5EF4-FFF2-40B4-BE49-F238E27FC236}">
                <a16:creationId xmlns:a16="http://schemas.microsoft.com/office/drawing/2014/main" id="{A7E5CE3E-FF15-4C5F-BC95-6AE4397A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0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0BF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15" name="next-step">
            <a:extLst xmlns:a="http://schemas.openxmlformats.org/drawingml/2006/main">
              <a:ext uri="{FF2B5EF4-FFF2-40B4-BE49-F238E27FC236}">
                <a16:creationId xmlns:a16="http://schemas.microsoft.com/office/drawing/2014/main" id="{DD9947F7-C1C8-47E1-9FFD-65BADCAC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completed product can now be tested against function, appearance, durability, ergonomics, ethics, environmental impact and safety.</a:t>
            </a:r>
          </a:p>
        </p:txBody>
      </p:sp>
      <p:sp>
        <p:nvSpPr>
          <p:cNvPr id="16" name="status-boundary">
            <a:extLst xmlns:a="http://schemas.openxmlformats.org/drawingml/2006/main">
              <a:ext uri="{FF2B5EF4-FFF2-40B4-BE49-F238E27FC236}">
                <a16:creationId xmlns:a16="http://schemas.microsoft.com/office/drawing/2014/main" id="{924A2B44-2A4A-4222-BFCB-0D0E2DC5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BE5E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FBE5E8"/>
                </a:solidFill>
                <a:latin typeface="Aptos"/>
                <a:ea typeface="Aptos"/>
                <a:cs typeface="Aptos"/>
              </a:rPr>
              <a:t>Formative classroom evidence only — follow your teacher’s current submission process.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B0DEDA10-1D9C-4921-8266-3F7594B8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19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BE5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E5E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01739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2026-08-27T08:40:49.5140000Z</dcterms:created>
  <dcterms:modified xsi:type="dcterms:W3CDTF">2026-08-27T08:40:49.5140000Z</dcterms:modified>
</coreProperties>
</file>