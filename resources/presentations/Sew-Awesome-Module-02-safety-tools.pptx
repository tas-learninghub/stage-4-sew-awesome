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cbda3db24046dc" /><Relationship Type="http://schemas.openxmlformats.org/officeDocument/2006/relationships/extended-properties" Target="/docProps/app.xml" Id="Rc03e223508174a9d" /><Relationship Type="http://schemas.openxmlformats.org/officeDocument/2006/relationships/officeDocument" Target="/ppt/presentation.xml" Id="R5ac049d53f3a4e0a" /></Relationships>
</file>

<file path=ppt/presentation.xml><?xml version="1.0" encoding="utf-8"?>
<p:presentation xmlns:p="http://schemas.openxmlformats.org/presentationml/2006/main">
  <p:sldMasterIdLst>
    <p:sldMasterId xmlns:r="http://schemas.openxmlformats.org/officeDocument/2006/relationships" id="2147483648" r:id="Rd4bb89c99c244348"/>
  </p:sldMasterIdLst>
  <p:notesMasterIdLst>
    <p:notesMasterId xmlns:r="http://schemas.openxmlformats.org/officeDocument/2006/relationships" r:id="Rc6dab16637d94c32"/>
  </p:notesMasterIdLst>
  <p:sldIdLst>
    <p:sldId xmlns:r="http://schemas.openxmlformats.org/officeDocument/2006/relationships" id="256" r:id="Rd46b9fce50d449e2"/>
    <p:sldId xmlns:r="http://schemas.openxmlformats.org/officeDocument/2006/relationships" id="257" r:id="R8e849f1f67424732"/>
    <p:sldId xmlns:r="http://schemas.openxmlformats.org/officeDocument/2006/relationships" id="258" r:id="Ra064901d23a14b79"/>
    <p:sldId xmlns:r="http://schemas.openxmlformats.org/officeDocument/2006/relationships" id="259" r:id="Re11fd8b273014e3b"/>
    <p:sldId xmlns:r="http://schemas.openxmlformats.org/officeDocument/2006/relationships" id="260" r:id="Rca06528cfd56472d"/>
    <p:sldId xmlns:r="http://schemas.openxmlformats.org/officeDocument/2006/relationships" id="261" r:id="Rc54d52b6cd1a4e37"/>
    <p:sldId xmlns:r="http://schemas.openxmlformats.org/officeDocument/2006/relationships" id="262" r:id="Re49a6069320e453f"/>
    <p:sldId xmlns:r="http://schemas.openxmlformats.org/officeDocument/2006/relationships" id="263" r:id="R49f9dad9089f4d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936263b8474cea" /><Relationship Type="http://schemas.openxmlformats.org/officeDocument/2006/relationships/slideMaster" Target="/ppt/slideMasters/slideMaster1.xml" Id="Rd4bb89c99c244348" /><Relationship Type="http://schemas.openxmlformats.org/officeDocument/2006/relationships/notesMaster" Target="/ppt/notesMasters/notesMaster1.xml" Id="Rc6dab16637d94c32" /><Relationship Type="http://schemas.openxmlformats.org/officeDocument/2006/relationships/presProps" Target="/ppt/presProps.xml" Id="R512c84e1d6714c29" /><Relationship Type="http://schemas.openxmlformats.org/officeDocument/2006/relationships/tableStyles" Target="/ppt/tableStyles.xml" Id="R0268cc3464e64944" /><Relationship Type="http://schemas.openxmlformats.org/officeDocument/2006/relationships/slide" Target="/ppt/slides/slide1.xml" Id="Rd46b9fce50d449e2" /><Relationship Type="http://schemas.openxmlformats.org/officeDocument/2006/relationships/slide" Target="/ppt/slides/slide2.xml" Id="R8e849f1f67424732" /><Relationship Type="http://schemas.openxmlformats.org/officeDocument/2006/relationships/slide" Target="/ppt/slides/slide3.xml" Id="Ra064901d23a14b79" /><Relationship Type="http://schemas.openxmlformats.org/officeDocument/2006/relationships/slide" Target="/ppt/slides/slide4.xml" Id="Re11fd8b273014e3b" /><Relationship Type="http://schemas.openxmlformats.org/officeDocument/2006/relationships/slide" Target="/ppt/slides/slide5.xml" Id="Rca06528cfd56472d" /><Relationship Type="http://schemas.openxmlformats.org/officeDocument/2006/relationships/slide" Target="/ppt/slides/slide6.xml" Id="Rc54d52b6cd1a4e37" /><Relationship Type="http://schemas.openxmlformats.org/officeDocument/2006/relationships/slide" Target="/ppt/slides/slide7.xml" Id="Re49a6069320e453f" /><Relationship Type="http://schemas.openxmlformats.org/officeDocument/2006/relationships/slide" Target="/ppt/slides/slide8.xml" Id="R49f9dad9089f4d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4cb1102c0c4e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60539267e84559" /><Relationship Type="http://schemas.openxmlformats.org/officeDocument/2006/relationships/notesMaster" Target="/ppt/notesMasters/notesMaster1.xml" Id="Rb9ba777be20c42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4645b668834457" /><Relationship Type="http://schemas.openxmlformats.org/officeDocument/2006/relationships/notesMaster" Target="/ppt/notesMasters/notesMaster1.xml" Id="Re0b9ee602bab49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0fcfc83020495f" /><Relationship Type="http://schemas.openxmlformats.org/officeDocument/2006/relationships/notesMaster" Target="/ppt/notesMasters/notesMaster1.xml" Id="R4d6de9d13cb042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d1438352d14c9d" /><Relationship Type="http://schemas.openxmlformats.org/officeDocument/2006/relationships/notesMaster" Target="/ppt/notesMasters/notesMaster1.xml" Id="Rda04e0e5154243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384647fb164ef9" /><Relationship Type="http://schemas.openxmlformats.org/officeDocument/2006/relationships/notesMaster" Target="/ppt/notesMasters/notesMaster1.xml" Id="R22848b69c4cb42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791bda387b4133" /><Relationship Type="http://schemas.openxmlformats.org/officeDocument/2006/relationships/notesMaster" Target="/ppt/notesMasters/notesMaster1.xml" Id="R3e3384473d6742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804f011b084a46" /><Relationship Type="http://schemas.openxmlformats.org/officeDocument/2006/relationships/notesMaster" Target="/ppt/notesMasters/notesMaster1.xml" Id="R8e79f0f363cd4b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35652c3fe841e1" /><Relationship Type="http://schemas.openxmlformats.org/officeDocument/2006/relationships/notesMaster" Target="/ppt/notesMasters/notesMaster1.xml" Id="R39f89aee3fbc47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 outcome: Students learn to recognise hazards, use common hand and heat tools responsibly, and justify tool choices through task, material, quality and safety evidence.</a:t>
            </a:r>
          </a:p>
          <a:p xmlns:a="http://schemas.openxmlformats.org/drawingml/2006/main">
            <a:r>
              <a:t>Invite one student example or prediction before showing the learning map.</a:t>
            </a:r>
          </a:p>
          <a:p xmlns:a="http://schemas.openxmlformats.org/drawingml/2006/main">
            <a:r>
              <a:t>Transition: the module has three connected ideas, and each will end in a decision or evidence action.</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sew-awesome-hero.png;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ideas as one learning pathway, not three disconnected topics.</a:t>
            </a:r>
          </a:p>
          <a:p xmlns:a="http://schemas.openxmlformats.org/drawingml/2006/main">
            <a:r>
              <a:t>Warm-up prompt: Students understand the Awesome Bag's design purpose and the need for evidence-based decisions.</a:t>
            </a:r>
          </a:p>
          <a:p xmlns:a="http://schemas.openxmlformats.org/drawingml/2006/main">
            <a:r>
              <a:t>Ask one student to connect prior knowledge to the first section, then signpost the later evidence response.</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Develop a repeatable scan–assess–control–report routine for hazards without replacing teacher instructions or local procedures.</a:t>
            </a:r>
          </a:p>
          <a:p xmlns:a="http://schemas.openxmlformats.org/drawingml/2006/main">
            <a:r>
              <a:t>Visual purpose: Support a whole-room scan for hazards and controls across floor, bench, sharps, heat and electrical zones.</a:t>
            </a:r>
          </a:p>
          <a:p xmlns:a="http://schemas.openxmlformats.org/drawingml/2006/main">
            <a:r>
              <a:t>Explain only what is shown: A textiles workroom contains five visible hazards: a blocked walkway, loose pins, open scissors near an edge, a hot iron on fabric and a damaged electrical lead.</a:t>
            </a:r>
          </a:p>
          <a:p xmlns:a="http://schemas.openxmlformats.org/drawingml/2006/main">
            <a:r>
              <a:t>Student observation prompt: Scan each zone. Which condition needs attention first, what harm could occur, and what control would you use?</a:t>
            </a:r>
          </a:p>
          <a:p xmlns:a="http://schemas.openxmlformats.org/drawingml/2006/main">
            <a:r>
              <a:t>Applied activity: Use the illustrated room to record hazard, possible harm and control for two zones, then justify which condition needs action first.</a:t>
            </a:r>
          </a:p>
          <a:p xmlns:a="http://schemas.openxmlformats.org/drawingml/2006/main">
            <a:r>
              <a:t>Transition: Students will apply the hazard routine to needles, scissors and irons.</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visual-m02-s1.png;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Connect the form and energy of common textiles tools to specific safe handling decisions.</a:t>
            </a:r>
          </a:p>
          <a:p xmlns:a="http://schemas.openxmlformats.org/drawingml/2006/main">
            <a:r>
              <a:t>Visual purpose: Compare sharp-tool controls with heat and electrical controls.</a:t>
            </a:r>
          </a:p>
          <a:p xmlns:a="http://schemas.openxmlformats.org/drawingml/2006/main">
            <a:r>
              <a:t>Explain only what is shown: A split workshop scene contrasts safely stored sharps and an upright iron with a tagged damaged cord isolated from use.</a:t>
            </a:r>
          </a:p>
          <a:p xmlns:a="http://schemas.openxmlformats.org/drawingml/2006/main">
            <a:r>
              <a:t>Student observation prompt: Compare the safe and isolated work areas. Which visible placement contains sharp risk, which controls heat, and what equipment must stay out of use?</a:t>
            </a:r>
          </a:p>
          <a:p xmlns:a="http://schemas.openxmlformats.org/drawingml/2006/main">
            <a:r>
              <a:t>Applied activity: Compare the safe and isolated work areas. Name the visible sharp, heat and electrical controls, then confirm each procedure through the teacher demonstration.</a:t>
            </a:r>
          </a:p>
          <a:p xmlns:a="http://schemas.openxmlformats.org/drawingml/2006/main">
            <a:r>
              <a:t>Transition: Students will justify selecting the right tool for a particular textile task.</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visual-m02-s2.png;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Teach students to justify an approved tool choice by connecting task, material, precision, quality and safe control.</a:t>
            </a:r>
          </a:p>
          <a:p xmlns:a="http://schemas.openxmlformats.org/drawingml/2006/main">
            <a:r>
              <a:t>Visual purpose: Model the reasoning chain from task to material, tool feature and safe justification.</a:t>
            </a:r>
          </a:p>
          <a:p xmlns:a="http://schemas.openxmlformats.org/drawingml/2006/main">
            <a:r>
              <a:t>Explain only what is shown: A textiles tool-selection workspace shows approved tools, material offcuts and a finished sample ready for comparison and justification.</a:t>
            </a:r>
          </a:p>
          <a:p xmlns:a="http://schemas.openxmlformats.org/drawingml/2006/main">
            <a:r>
              <a:t>Student observation prompt: Compare the tools, material offcut and finished sample. What test evidence would justify a tool choice before final material is changed?</a:t>
            </a:r>
          </a:p>
          <a:p xmlns:a="http://schemas.openxmlformats.org/drawingml/2006/main">
            <a:r>
              <a:t>Applied activity: Choose an approved tool for one sample task and defend the choice to a partner before touching the final material.</a:t>
            </a:r>
          </a:p>
          <a:p xmlns:a="http://schemas.openxmlformats.org/drawingml/2006/main">
            <a:r>
              <a:t>Transition: Students will identify sewing-machine parts and connect each part to a function.</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visual-m02-s3.png;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silent thinking before pair talk so every student retrieves independently.</a:t>
            </a:r>
          </a:p>
          <a:p xmlns:a="http://schemas.openxmlformats.org/drawingml/2006/main">
            <a:r>
              <a:t>Ask students to justify, not merely name, one response.</a:t>
            </a:r>
          </a:p>
          <a:p xmlns:a="http://schemas.openxmlformats.org/drawingml/2006/main">
            <a:r>
              <a:t>Listen for whether students connect each answer to its module idea and evidence.</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response prompt aloud: Justify a set of approved tools for measuring, temporarily holding, cutting and pressing a textile component. Explain how the material and required finish influence each choice.</a:t>
            </a:r>
          </a:p>
          <a:p xmlns:a="http://schemas.openxmlformats.org/drawingml/2006/main">
            <a:r>
              <a:t>Model one sentence that selects evidence and explains its significance.</a:t>
            </a:r>
          </a:p>
          <a:p xmlns:a="http://schemas.openxmlformats.org/drawingml/2006/main">
            <a:r>
              <a:t>Success criteria: Links each tool to task, material and finish evidence. | Includes approval, condition, testing and safe-control reasoning.</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time to write all three exit statements before discussion.</a:t>
            </a:r>
          </a:p>
          <a:p xmlns:a="http://schemas.openxmlformats.org/drawingml/2006/main">
            <a:r>
              <a:t>Evidence destination: My folio, Module 2; this is formative browser-local evidence, not proof of formal submission.</a:t>
            </a:r>
          </a:p>
          <a:p xmlns:a="http://schemas.openxmlformats.org/drawingml/2006/main">
            <a:r>
              <a:t>Next learning link: Students will identify sewing-machine parts and connect each part to a function.</a:t>
            </a:r>
          </a:p>
          <a:p xmlns:a="http://schemas.openxmlformats.org/drawingml/2006/main">
            <a:r>
              <a:t>Likely misconceptions: A hazard matters only after someone is injured. | Being careful is always an adequate control for damaged equipment.</a:t>
            </a:r>
          </a:p>
          <a:p xmlns:a="http://schemas.openxmlformats.org/drawingml/2006/main">
            <a:r>
              <a:t>Teacher to confirm: Current local textiles-room induction; Iron permissions and local heat-tool procedure; Broken-needle and sharp-waste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42e4c7e02b42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377d7b2768431f" /><Relationship Type="http://schemas.openxmlformats.org/officeDocument/2006/relationships/slideLayout" Target="/ppt/slideLayouts/slideLayout1.xml" Id="Rbc38892f08d948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38892f08d948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2204bcde7f4a0e" /><Relationship Type="http://schemas.openxmlformats.org/officeDocument/2006/relationships/image" Target="/ppt/media/image.png" Id="Raae7acd03acf4fa9" /><Relationship Type="http://schemas.openxmlformats.org/officeDocument/2006/relationships/notesSlide" Target="/ppt/notesSlides/notesSlide1.xml" Id="R6589fc957f774c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5f585f27a54ff5" /><Relationship Type="http://schemas.openxmlformats.org/officeDocument/2006/relationships/notesSlide" Target="/ppt/notesSlides/notesSlide2.xml" Id="R70c849db2f0e4b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028b1c0bcb49e4" /><Relationship Type="http://schemas.openxmlformats.org/officeDocument/2006/relationships/image" Target="/ppt/media/image2.png" Id="R2d955446000e434e" /><Relationship Type="http://schemas.openxmlformats.org/officeDocument/2006/relationships/notesSlide" Target="/ppt/notesSlides/notesSlide3.xml" Id="Rdaff7311d2ed4c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b203a5ed4d49c7" /><Relationship Type="http://schemas.openxmlformats.org/officeDocument/2006/relationships/image" Target="/ppt/media/image3.png" Id="R6dc3e153998d4543" /><Relationship Type="http://schemas.openxmlformats.org/officeDocument/2006/relationships/notesSlide" Target="/ppt/notesSlides/notesSlide4.xml" Id="R5921dc8adb6442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9a4c91dbe141d6" /><Relationship Type="http://schemas.openxmlformats.org/officeDocument/2006/relationships/image" Target="/ppt/media/image4.png" Id="R6c43a7ce88e74e12" /><Relationship Type="http://schemas.openxmlformats.org/officeDocument/2006/relationships/notesSlide" Target="/ppt/notesSlides/notesSlide5.xml" Id="R13398f240c9c41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4eb328597f450f" /><Relationship Type="http://schemas.openxmlformats.org/officeDocument/2006/relationships/notesSlide" Target="/ppt/notesSlides/notesSlide6.xml" Id="R6ee9b4ea56df49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f3d6746b694c24" /><Relationship Type="http://schemas.openxmlformats.org/officeDocument/2006/relationships/notesSlide" Target="/ppt/notesSlides/notesSlide7.xml" Id="R2ca8afbad97c4d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646aa91667409c" /><Relationship Type="http://schemas.openxmlformats.org/officeDocument/2006/relationships/notesSlide" Target="/ppt/notesSlides/notesSlide8.xml" Id="R2c18161cba8b4a36" /></Relationships>
</file>

<file path=ppt/slides/slide1.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pic>
        <p:nvPicPr>
          <p:cNvPr id="9" name="Teaching visual - Sew Awesome course identity: reusable textile carry items and sewing materials"/>
          <p:cNvPicPr>
            <a:picLocks xmlns:a="http://schemas.openxmlformats.org/drawingml/2006/main" noChangeAspect="1"/>
          </p:cNvPicPr>
          <p:nvPr/>
        </p:nvPicPr>
        <p:blipFill>
          <a:blip xmlns:r="http://schemas.openxmlformats.org/officeDocument/2006/relationships" xmlns:a="http://schemas.openxmlformats.org/drawingml/2006/main" r:embed="Raae7acd03acf4fa9"/>
          <a:srcRect xmlns:a="http://schemas.openxmlformats.org/drawingml/2006/main" l="26389" t="0" r="26389"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image-wash">
            <a:extLst xmlns:a="http://schemas.openxmlformats.org/drawingml/2006/main">
              <a:ext uri="{FF2B5EF4-FFF2-40B4-BE49-F238E27FC236}">
                <a16:creationId xmlns:a16="http://schemas.microsoft.com/office/drawing/2014/main" id="{7205667B-104F-405A-B18D-24C50AA431C1}"/>
              </a:ext>
            </a:extLst>
          </p:cNvPr>
          <p:cNvSpPr>
            <a:spLocks xmlns:a="http://schemas.openxmlformats.org/drawingml/2006/main" noGrp="1"/>
          </p:cNvSpPr>
          <p:nvPr/>
        </p:nvSpPr>
        <p:spPr>
          <a:xfrm xmlns:a="http://schemas.openxmlformats.org/drawingml/2006/main">
            <a:off x="7067550" y="0"/>
            <a:ext cx="857250" cy="6858000"/>
          </a:xfrm>
          <a:prstGeom xmlns:a="http://schemas.openxmlformats.org/drawingml/2006/main" prst="rect">
            <a:avLst/>
          </a:prstGeom>
          <a:gradFill xmlns:a="http://schemas.openxmlformats.org/drawingml/2006/main">
            <a:gsLst>
              <a:gs pos="0">
                <a:srgbClr val="0C4E4A"/>
              </a:gs>
              <a:gs pos="100000">
                <a:srgbClr val="0C4E4A">
                  <a:alpha val="0"/>
                </a:srgbClr>
              </a:gs>
            </a:gsLst>
            <a:lin ang="0"/>
          </a:gradFill>
          <a:ln xmlns:a="http://schemas.openxmlformats.org/drawingml/2006/main" w="0">
            <a:noFill/>
            <a:prstDash val="solid"/>
          </a:ln>
        </p:spPr>
      </p:sp>
      <p:sp>
        <p:nvSpPr>
          <p:cNvPr id="3" name="accent-rule">
            <a:extLst xmlns:a="http://schemas.openxmlformats.org/drawingml/2006/main">
              <a:ext uri="{FF2B5EF4-FFF2-40B4-BE49-F238E27FC236}">
                <a16:creationId xmlns:a16="http://schemas.microsoft.com/office/drawing/2014/main" id="{3DFB7081-8303-41AA-BB17-20A5C07338F3}"/>
              </a:ext>
            </a:extLst>
          </p:cNvPr>
          <p:cNvSpPr>
            <a:spLocks xmlns:a="http://schemas.openxmlformats.org/drawingml/2006/main" noGrp="1"/>
          </p:cNvSpPr>
          <p:nvPr/>
        </p:nvSpPr>
        <p:spPr>
          <a:xfrm xmlns:a="http://schemas.openxmlformats.org/drawingml/2006/main">
            <a:off x="533400" y="628650"/>
            <a:ext cx="685800" cy="85725"/>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4" name="course-label">
            <a:extLst xmlns:a="http://schemas.openxmlformats.org/drawingml/2006/main">
              <a:ext uri="{FF2B5EF4-FFF2-40B4-BE49-F238E27FC236}">
                <a16:creationId xmlns:a16="http://schemas.microsoft.com/office/drawing/2014/main" id="{F5332ABC-956D-4CFF-A581-9A08338EE083}"/>
              </a:ext>
            </a:extLst>
          </p:cNvPr>
          <p:cNvSpPr>
            <a:spLocks xmlns:a="http://schemas.openxmlformats.org/drawingml/2006/main" noGrp="1"/>
          </p:cNvSpPr>
          <p:nvPr/>
        </p:nvSpPr>
        <p:spPr>
          <a:xfrm xmlns:a="http://schemas.openxmlformats.org/drawingml/2006/main">
            <a:off x="533400" y="990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E4A4"/>
                </a:solidFill>
                <a:latin typeface="Aptos"/>
                <a:ea typeface="Aptos"/>
                <a:cs typeface="Aptos"/>
              </a:defRPr>
            </a:pPr>
            <a:r>
              <a:rPr sz="1200" b="1">
                <a:solidFill>
                  <a:srgbClr val="FFE4A4"/>
                </a:solidFill>
                <a:latin typeface="Aptos"/>
                <a:ea typeface="Aptos"/>
                <a:cs typeface="Aptos"/>
              </a:rPr>
              <a:t>SEW AWESOME  •  MODULE 02</a:t>
            </a:r>
          </a:p>
        </p:txBody>
      </p:sp>
      <p:sp>
        <p:nvSpPr>
          <p:cNvPr id="5" name="title">
            <a:extLst xmlns:a="http://schemas.openxmlformats.org/drawingml/2006/main">
              <a:ext uri="{FF2B5EF4-FFF2-40B4-BE49-F238E27FC236}">
                <a16:creationId xmlns:a16="http://schemas.microsoft.com/office/drawing/2014/main" id="{B0C51238-3BFE-45E1-84B3-9BA50F068150}"/>
              </a:ext>
            </a:extLst>
          </p:cNvPr>
          <p:cNvSpPr>
            <a:spLocks xmlns:a="http://schemas.openxmlformats.org/drawingml/2006/main" noGrp="1"/>
          </p:cNvSpPr>
          <p:nvPr/>
        </p:nvSpPr>
        <p:spPr>
          <a:xfrm xmlns:a="http://schemas.openxmlformats.org/drawingml/2006/main">
            <a:off x="533400" y="20574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Safe textiles practice</a:t>
            </a:r>
          </a:p>
        </p:txBody>
      </p:sp>
      <p:sp>
        <p:nvSpPr>
          <p:cNvPr id="6" name="outcome">
            <a:extLst xmlns:a="http://schemas.openxmlformats.org/drawingml/2006/main">
              <a:ext uri="{FF2B5EF4-FFF2-40B4-BE49-F238E27FC236}">
                <a16:creationId xmlns:a16="http://schemas.microsoft.com/office/drawing/2014/main" id="{8238B552-23A1-42CA-BC7B-345AA9E28E4E}"/>
              </a:ext>
            </a:extLst>
          </p:cNvPr>
          <p:cNvSpPr>
            <a:spLocks xmlns:a="http://schemas.openxmlformats.org/drawingml/2006/main" noGrp="1"/>
          </p:cNvSpPr>
          <p:nvPr/>
        </p:nvSpPr>
        <p:spPr>
          <a:xfrm xmlns:a="http://schemas.openxmlformats.org/drawingml/2006/main">
            <a:off x="533400" y="3733800"/>
            <a:ext cx="5905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5000"/>
              </a:lnSpc>
              <a:buNone/>
              <a:defRPr sz="1800">
                <a:solidFill>
                  <a:srgbClr val="EEF6F3"/>
                </a:solidFill>
                <a:latin typeface="Aptos"/>
                <a:ea typeface="Aptos"/>
                <a:cs typeface="Aptos"/>
              </a:defRPr>
            </a:pPr>
            <a:r>
              <a:rPr sz="1800">
                <a:solidFill>
                  <a:srgbClr val="EEF6F3"/>
                </a:solidFill>
                <a:latin typeface="Aptos"/>
                <a:ea typeface="Aptos"/>
                <a:cs typeface="Aptos"/>
              </a:rPr>
              <a:t>Students learn to recognise hazards, use common hand and heat tools responsibly, and justify tool choices through task, material, quality and safety evidence.</a:t>
            </a:r>
          </a:p>
        </p:txBody>
      </p:sp>
      <p:sp>
        <p:nvSpPr>
          <p:cNvPr id="7" name="student-copy">
            <a:extLst xmlns:a="http://schemas.openxmlformats.org/drawingml/2006/main">
              <a:ext uri="{FF2B5EF4-FFF2-40B4-BE49-F238E27FC236}">
                <a16:creationId xmlns:a16="http://schemas.microsoft.com/office/drawing/2014/main" id="{51DA7DCE-6B6B-4D7B-8A2C-4F700B8CAF24}"/>
              </a:ext>
            </a:extLst>
          </p:cNvPr>
          <p:cNvSpPr>
            <a:spLocks xmlns:a="http://schemas.openxmlformats.org/drawingml/2006/main" noGrp="1"/>
          </p:cNvSpPr>
          <p:nvPr/>
        </p:nvSpPr>
        <p:spPr>
          <a:xfrm xmlns:a="http://schemas.openxmlformats.org/drawingml/2006/main">
            <a:off x="533400" y="60388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C8D6D2"/>
                </a:solidFill>
                <a:latin typeface="Aptos"/>
                <a:ea typeface="Aptos"/>
                <a:cs typeface="Aptos"/>
              </a:defRPr>
            </a:pPr>
            <a:r>
              <a:rPr sz="1200">
                <a:solidFill>
                  <a:srgbClr val="C8D6D2"/>
                </a:solidFill>
                <a:latin typeface="Aptos"/>
                <a:ea typeface="Aptos"/>
                <a:cs typeface="Aptos"/>
              </a:rPr>
              <a:t>Classroom presentation  •  student copy</a:t>
            </a:r>
          </a:p>
        </p:txBody>
      </p:sp>
      <p:sp>
        <p:nvSpPr>
          <p:cNvPr id="8" name="page">
            <a:extLst xmlns:a="http://schemas.openxmlformats.org/drawingml/2006/main">
              <a:ext uri="{FF2B5EF4-FFF2-40B4-BE49-F238E27FC236}">
                <a16:creationId xmlns:a16="http://schemas.microsoft.com/office/drawing/2014/main" id="{48BB9F57-3CC6-4768-9041-77D21C2AC299}"/>
              </a:ext>
            </a:extLst>
          </p:cNvPr>
          <p:cNvSpPr>
            <a:spLocks xmlns:a="http://schemas.openxmlformats.org/drawingml/2006/main" noGrp="1"/>
          </p:cNvSpPr>
          <p:nvPr/>
        </p:nvSpPr>
        <p:spPr>
          <a:xfrm xmlns:a="http://schemas.openxmlformats.org/drawingml/2006/main">
            <a:off x="6553200" y="605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8D6D2"/>
                </a:solidFill>
                <a:latin typeface="Aptos"/>
                <a:ea typeface="Aptos"/>
                <a:cs typeface="Aptos"/>
              </a:defRPr>
            </a:pPr>
            <a:r>
              <a:rPr sz="1050" b="1">
                <a:solidFill>
                  <a:srgbClr val="C8D6D2"/>
                </a:solidFill>
                <a:latin typeface="Aptos"/>
                <a:ea typeface="Aptos"/>
                <a:cs typeface="Aptos"/>
              </a:rPr>
              <a:t>01</a:t>
            </a:r>
          </a:p>
        </p:txBody>
      </p:sp>
    </p:spTree>
    <p:extLst>
      <p:ext uri="{BB962C8B-B14F-4D97-AF65-F5344CB8AC3E}">
        <p14:creationId xmlns:p14="http://schemas.microsoft.com/office/powerpoint/2010/main" val="1916185914"/>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36F49D4C-EA10-43DA-94F1-9C7B5543539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77955CC0-7F69-4C9F-9F74-86AD160F4872}"/>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D49A34"/>
                </a:solidFill>
                <a:latin typeface="Aptos"/>
                <a:ea typeface="Aptos"/>
                <a:cs typeface="Aptos"/>
              </a:defRPr>
            </a:pPr>
            <a:r>
              <a:rPr sz="1050" b="1">
                <a:solidFill>
                  <a:srgbClr val="D49A34"/>
                </a:solidFill>
                <a:latin typeface="Aptos"/>
                <a:ea typeface="Aptos"/>
                <a:cs typeface="Aptos"/>
              </a:rPr>
              <a:t>TODAY’S LEARNING PATH</a:t>
            </a:r>
          </a:p>
        </p:txBody>
      </p:sp>
      <p:sp>
        <p:nvSpPr>
          <p:cNvPr id="3" name="title">
            <a:extLst xmlns:a="http://schemas.openxmlformats.org/drawingml/2006/main">
              <a:ext uri="{FF2B5EF4-FFF2-40B4-BE49-F238E27FC236}">
                <a16:creationId xmlns:a16="http://schemas.microsoft.com/office/drawing/2014/main" id="{A5D791A6-3A52-4A92-BD08-1B35735A71E2}"/>
              </a:ext>
            </a:extLst>
          </p:cNvPr>
          <p:cNvSpPr>
            <a:spLocks xmlns:a="http://schemas.openxmlformats.org/drawingml/2006/main" noGrp="1"/>
          </p:cNvSpPr>
          <p:nvPr/>
        </p:nvSpPr>
        <p:spPr>
          <a:xfrm xmlns:a="http://schemas.openxmlformats.org/drawingml/2006/main">
            <a:off x="533400" y="742950"/>
            <a:ext cx="828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Three ideas build one stronger decision</a:t>
            </a:r>
          </a:p>
        </p:txBody>
      </p:sp>
      <p:sp>
        <p:nvSpPr>
          <p:cNvPr id="4" name="idea-number-1">
            <a:extLst xmlns:a="http://schemas.openxmlformats.org/drawingml/2006/main">
              <a:ext uri="{FF2B5EF4-FFF2-40B4-BE49-F238E27FC236}">
                <a16:creationId xmlns:a16="http://schemas.microsoft.com/office/drawing/2014/main" id="{D73C4E84-D295-4050-A700-26F0931130AD}"/>
              </a:ext>
            </a:extLst>
          </p:cNvPr>
          <p:cNvSpPr>
            <a:spLocks xmlns:a="http://schemas.openxmlformats.org/drawingml/2006/main" noGrp="1"/>
          </p:cNvSpPr>
          <p:nvPr/>
        </p:nvSpPr>
        <p:spPr>
          <a:xfrm xmlns:a="http://schemas.openxmlformats.org/drawingml/2006/main">
            <a:off x="590550" y="18859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1</a:t>
            </a:r>
          </a:p>
        </p:txBody>
      </p:sp>
      <p:sp>
        <p:nvSpPr>
          <p:cNvPr id="5" name="idea-line-1">
            <a:extLst xmlns:a="http://schemas.openxmlformats.org/drawingml/2006/main">
              <a:ext uri="{FF2B5EF4-FFF2-40B4-BE49-F238E27FC236}">
                <a16:creationId xmlns:a16="http://schemas.microsoft.com/office/drawing/2014/main" id="{C14C1267-83BF-4269-A9AA-5DB63982E318}"/>
              </a:ext>
            </a:extLst>
          </p:cNvPr>
          <p:cNvSpPr>
            <a:spLocks xmlns:a="http://schemas.openxmlformats.org/drawingml/2006/main" noGrp="1"/>
          </p:cNvSpPr>
          <p:nvPr/>
        </p:nvSpPr>
        <p:spPr>
          <a:xfrm xmlns:a="http://schemas.openxmlformats.org/drawingml/2006/main">
            <a:off x="1257300" y="25146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6" name="idea-title-1">
            <a:extLst xmlns:a="http://schemas.openxmlformats.org/drawingml/2006/main">
              <a:ext uri="{FF2B5EF4-FFF2-40B4-BE49-F238E27FC236}">
                <a16:creationId xmlns:a16="http://schemas.microsoft.com/office/drawing/2014/main" id="{E85A5FE0-892F-45DE-81E1-95095C08D0D1}"/>
              </a:ext>
            </a:extLst>
          </p:cNvPr>
          <p:cNvSpPr>
            <a:spLocks xmlns:a="http://schemas.openxmlformats.org/drawingml/2006/main" noGrp="1"/>
          </p:cNvSpPr>
          <p:nvPr/>
        </p:nvSpPr>
        <p:spPr>
          <a:xfrm xmlns:a="http://schemas.openxmlformats.org/drawingml/2006/main">
            <a:off x="1466850" y="1809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Recognising Textile-Room Hazards</a:t>
            </a:r>
          </a:p>
        </p:txBody>
      </p:sp>
      <p:sp>
        <p:nvSpPr>
          <p:cNvPr id="7" name="idea-number-2">
            <a:extLst xmlns:a="http://schemas.openxmlformats.org/drawingml/2006/main">
              <a:ext uri="{FF2B5EF4-FFF2-40B4-BE49-F238E27FC236}">
                <a16:creationId xmlns:a16="http://schemas.microsoft.com/office/drawing/2014/main" id="{15A8C100-E069-4E96-A6D3-E90FD94BB9F4}"/>
              </a:ext>
            </a:extLst>
          </p:cNvPr>
          <p:cNvSpPr>
            <a:spLocks xmlns:a="http://schemas.openxmlformats.org/drawingml/2006/main" noGrp="1"/>
          </p:cNvSpPr>
          <p:nvPr/>
        </p:nvSpPr>
        <p:spPr>
          <a:xfrm xmlns:a="http://schemas.openxmlformats.org/drawingml/2006/main">
            <a:off x="590550" y="29527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BF4C5A"/>
                </a:solidFill>
                <a:latin typeface="Aptos"/>
                <a:ea typeface="Aptos"/>
                <a:cs typeface="Aptos"/>
              </a:defRPr>
            </a:pPr>
            <a:r>
              <a:rPr sz="2250" b="1">
                <a:solidFill>
                  <a:srgbClr val="BF4C5A"/>
                </a:solidFill>
                <a:latin typeface="Aptos"/>
                <a:ea typeface="Aptos"/>
                <a:cs typeface="Aptos"/>
              </a:rPr>
              <a:t>2</a:t>
            </a:r>
          </a:p>
        </p:txBody>
      </p:sp>
      <p:sp>
        <p:nvSpPr>
          <p:cNvPr id="8" name="idea-line-2">
            <a:extLst xmlns:a="http://schemas.openxmlformats.org/drawingml/2006/main">
              <a:ext uri="{FF2B5EF4-FFF2-40B4-BE49-F238E27FC236}">
                <a16:creationId xmlns:a16="http://schemas.microsoft.com/office/drawing/2014/main" id="{2D6244BF-A02F-48B1-9D35-D81A7FE2C0A0}"/>
              </a:ext>
            </a:extLst>
          </p:cNvPr>
          <p:cNvSpPr>
            <a:spLocks xmlns:a="http://schemas.openxmlformats.org/drawingml/2006/main" noGrp="1"/>
          </p:cNvSpPr>
          <p:nvPr/>
        </p:nvSpPr>
        <p:spPr>
          <a:xfrm xmlns:a="http://schemas.openxmlformats.org/drawingml/2006/main">
            <a:off x="1257300" y="3581400"/>
            <a:ext cx="4953000" cy="0"/>
          </a:xfrm>
          <a:prstGeom xmlns:a="http://schemas.openxmlformats.org/drawingml/2006/main" prst="line">
            <a:avLst/>
          </a:prstGeom>
          <a:noFill xmlns:a="http://schemas.openxmlformats.org/drawingml/2006/main"/>
          <a:ln xmlns:a="http://schemas.openxmlformats.org/drawingml/2006/main" w="28575">
            <a:solidFill>
              <a:srgbClr val="BF4C5A"/>
            </a:solidFill>
            <a:prstDash val="solid"/>
          </a:ln>
        </p:spPr>
      </p:sp>
      <p:sp>
        <p:nvSpPr>
          <p:cNvPr id="9" name="idea-title-2">
            <a:extLst xmlns:a="http://schemas.openxmlformats.org/drawingml/2006/main">
              <a:ext uri="{FF2B5EF4-FFF2-40B4-BE49-F238E27FC236}">
                <a16:creationId xmlns:a16="http://schemas.microsoft.com/office/drawing/2014/main" id="{78487E0C-1662-426F-A8F2-D684DCDCCF72}"/>
              </a:ext>
            </a:extLst>
          </p:cNvPr>
          <p:cNvSpPr>
            <a:spLocks xmlns:a="http://schemas.openxmlformats.org/drawingml/2006/main" noGrp="1"/>
          </p:cNvSpPr>
          <p:nvPr/>
        </p:nvSpPr>
        <p:spPr>
          <a:xfrm xmlns:a="http://schemas.openxmlformats.org/drawingml/2006/main">
            <a:off x="1466850" y="28765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Safe Use of Needles, Scissors and Irons</a:t>
            </a:r>
          </a:p>
        </p:txBody>
      </p:sp>
      <p:sp>
        <p:nvSpPr>
          <p:cNvPr id="10" name="idea-number-3">
            <a:extLst xmlns:a="http://schemas.openxmlformats.org/drawingml/2006/main">
              <a:ext uri="{FF2B5EF4-FFF2-40B4-BE49-F238E27FC236}">
                <a16:creationId xmlns:a16="http://schemas.microsoft.com/office/drawing/2014/main" id="{6DF3EE8C-9EB4-4DF1-8A6E-4CCE26084DC4}"/>
              </a:ext>
            </a:extLst>
          </p:cNvPr>
          <p:cNvSpPr>
            <a:spLocks xmlns:a="http://schemas.openxmlformats.org/drawingml/2006/main" noGrp="1"/>
          </p:cNvSpPr>
          <p:nvPr/>
        </p:nvSpPr>
        <p:spPr>
          <a:xfrm xmlns:a="http://schemas.openxmlformats.org/drawingml/2006/main">
            <a:off x="590550" y="40195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3</a:t>
            </a:r>
          </a:p>
        </p:txBody>
      </p:sp>
      <p:sp>
        <p:nvSpPr>
          <p:cNvPr id="11" name="idea-line-3">
            <a:extLst xmlns:a="http://schemas.openxmlformats.org/drawingml/2006/main">
              <a:ext uri="{FF2B5EF4-FFF2-40B4-BE49-F238E27FC236}">
                <a16:creationId xmlns:a16="http://schemas.microsoft.com/office/drawing/2014/main" id="{DD0C8E06-3A65-44F1-8E44-E336E95E392C}"/>
              </a:ext>
            </a:extLst>
          </p:cNvPr>
          <p:cNvSpPr>
            <a:spLocks xmlns:a="http://schemas.openxmlformats.org/drawingml/2006/main" noGrp="1"/>
          </p:cNvSpPr>
          <p:nvPr/>
        </p:nvSpPr>
        <p:spPr>
          <a:xfrm xmlns:a="http://schemas.openxmlformats.org/drawingml/2006/main">
            <a:off x="1257300" y="46482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12" name="idea-title-3">
            <a:extLst xmlns:a="http://schemas.openxmlformats.org/drawingml/2006/main">
              <a:ext uri="{FF2B5EF4-FFF2-40B4-BE49-F238E27FC236}">
                <a16:creationId xmlns:a16="http://schemas.microsoft.com/office/drawing/2014/main" id="{A878768C-80AC-4855-A3ED-242A8FB1EC8F}"/>
              </a:ext>
            </a:extLst>
          </p:cNvPr>
          <p:cNvSpPr>
            <a:spLocks xmlns:a="http://schemas.openxmlformats.org/drawingml/2006/main" noGrp="1"/>
          </p:cNvSpPr>
          <p:nvPr/>
        </p:nvSpPr>
        <p:spPr>
          <a:xfrm xmlns:a="http://schemas.openxmlformats.org/drawingml/2006/main">
            <a:off x="1466850" y="39433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Selecting and Justifying Textile Tools</a:t>
            </a:r>
          </a:p>
        </p:txBody>
      </p:sp>
      <p:sp>
        <p:nvSpPr>
          <p:cNvPr id="13" name="warm-up">
            <a:extLst xmlns:a="http://schemas.openxmlformats.org/drawingml/2006/main">
              <a:ext uri="{FF2B5EF4-FFF2-40B4-BE49-F238E27FC236}">
                <a16:creationId xmlns:a16="http://schemas.microsoft.com/office/drawing/2014/main" id="{58748D3A-92FC-43EF-B13A-4B5245FD3E42}"/>
              </a:ext>
            </a:extLst>
          </p:cNvPr>
          <p:cNvSpPr>
            <a:spLocks xmlns:a="http://schemas.openxmlformats.org/drawingml/2006/main" noGrp="1"/>
          </p:cNvSpPr>
          <p:nvPr/>
        </p:nvSpPr>
        <p:spPr>
          <a:xfrm xmlns:a="http://schemas.openxmlformats.org/drawingml/2006/main">
            <a:off x="7067550" y="1733550"/>
            <a:ext cx="4591050" cy="3371850"/>
          </a:xfrm>
          <a:prstGeom xmlns:a="http://schemas.openxmlformats.org/drawingml/2006/main" prst="roundRect">
            <a:avLst>
              <a:gd name="adj" fmla="val 4520"/>
            </a:avLst>
          </a:prstGeom>
          <a:solidFill xmlns:a="http://schemas.openxmlformats.org/drawingml/2006/main">
            <a:srgbClr val="0C4E4A"/>
          </a:solidFill>
          <a:ln xmlns:a="http://schemas.openxmlformats.org/drawingml/2006/main" w="9525">
            <a:solidFill>
              <a:srgbClr val="0C4E4A"/>
            </a:solidFill>
            <a:prstDash val="solid"/>
          </a:ln>
        </p:spPr>
      </p:sp>
      <p:sp>
        <p:nvSpPr>
          <p:cNvPr id="14" name="warm-up-label">
            <a:extLst xmlns:a="http://schemas.openxmlformats.org/drawingml/2006/main">
              <a:ext uri="{FF2B5EF4-FFF2-40B4-BE49-F238E27FC236}">
                <a16:creationId xmlns:a16="http://schemas.microsoft.com/office/drawing/2014/main" id="{91C727DC-75CA-4AF7-8F45-9C4B77D5555A}"/>
              </a:ext>
            </a:extLst>
          </p:cNvPr>
          <p:cNvSpPr>
            <a:spLocks xmlns:a="http://schemas.openxmlformats.org/drawingml/2006/main" noGrp="1"/>
          </p:cNvSpPr>
          <p:nvPr/>
        </p:nvSpPr>
        <p:spPr>
          <a:xfrm xmlns:a="http://schemas.openxmlformats.org/drawingml/2006/main">
            <a:off x="7448550" y="217170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RETRIEVAL WARM-UP</a:t>
            </a:r>
          </a:p>
        </p:txBody>
      </p:sp>
      <p:sp>
        <p:nvSpPr>
          <p:cNvPr id="15" name="warm-up-question">
            <a:extLst xmlns:a="http://schemas.openxmlformats.org/drawingml/2006/main">
              <a:ext uri="{FF2B5EF4-FFF2-40B4-BE49-F238E27FC236}">
                <a16:creationId xmlns:a16="http://schemas.microsoft.com/office/drawing/2014/main" id="{F246E6F1-6E90-403D-B21B-90D934C73213}"/>
              </a:ext>
            </a:extLst>
          </p:cNvPr>
          <p:cNvSpPr>
            <a:spLocks xmlns:a="http://schemas.openxmlformats.org/drawingml/2006/main" noGrp="1"/>
          </p:cNvSpPr>
          <p:nvPr/>
        </p:nvSpPr>
        <p:spPr>
          <a:xfrm xmlns:a="http://schemas.openxmlformats.org/drawingml/2006/main">
            <a:off x="7448550" y="2647950"/>
            <a:ext cx="352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Students understand the Awesome Bag's design purpose and the need for evidence-based decisions.</a:t>
            </a:r>
          </a:p>
        </p:txBody>
      </p:sp>
      <p:sp>
        <p:nvSpPr>
          <p:cNvPr id="16" name="warm-up-instruction">
            <a:extLst xmlns:a="http://schemas.openxmlformats.org/drawingml/2006/main">
              <a:ext uri="{FF2B5EF4-FFF2-40B4-BE49-F238E27FC236}">
                <a16:creationId xmlns:a16="http://schemas.microsoft.com/office/drawing/2014/main" id="{7E1A37D8-B617-40DB-92A1-A42F8F90D31A}"/>
              </a:ext>
            </a:extLst>
          </p:cNvPr>
          <p:cNvSpPr>
            <a:spLocks xmlns:a="http://schemas.openxmlformats.org/drawingml/2006/main" noGrp="1"/>
          </p:cNvSpPr>
          <p:nvPr/>
        </p:nvSpPr>
        <p:spPr>
          <a:xfrm xmlns:a="http://schemas.openxmlformats.org/drawingml/2006/main">
            <a:off x="7448550" y="43434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EEF6F3"/>
                </a:solidFill>
                <a:latin typeface="Aptos"/>
                <a:ea typeface="Aptos"/>
                <a:cs typeface="Aptos"/>
              </a:defRPr>
            </a:pPr>
            <a:r>
              <a:rPr sz="1350">
                <a:solidFill>
                  <a:srgbClr val="EEF6F3"/>
                </a:solidFill>
                <a:latin typeface="Aptos"/>
                <a:ea typeface="Aptos"/>
                <a:cs typeface="Aptos"/>
              </a:rPr>
              <a:t>Think silently. Name one useful idea. Be ready to explain why it matters.</a:t>
            </a:r>
          </a:p>
        </p:txBody>
      </p:sp>
      <p:sp>
        <p:nvSpPr>
          <p:cNvPr id="17" name="footer-module">
            <a:extLst xmlns:a="http://schemas.openxmlformats.org/drawingml/2006/main">
              <a:ext uri="{FF2B5EF4-FFF2-40B4-BE49-F238E27FC236}">
                <a16:creationId xmlns:a16="http://schemas.microsoft.com/office/drawing/2014/main" id="{02967FAB-6659-41A2-B9B0-36A53D73BEA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02</a:t>
            </a:r>
          </a:p>
        </p:txBody>
      </p:sp>
      <p:sp>
        <p:nvSpPr>
          <p:cNvPr id="18" name="footer-page">
            <a:extLst xmlns:a="http://schemas.openxmlformats.org/drawingml/2006/main">
              <a:ext uri="{FF2B5EF4-FFF2-40B4-BE49-F238E27FC236}">
                <a16:creationId xmlns:a16="http://schemas.microsoft.com/office/drawing/2014/main" id="{74F37B2D-8582-4715-8E33-630FADEEC9A0}"/>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02</a:t>
            </a:r>
          </a:p>
        </p:txBody>
      </p:sp>
    </p:spTree>
    <p:extLst>
      <p:ext uri="{BB962C8B-B14F-4D97-AF65-F5344CB8AC3E}">
        <p14:creationId xmlns:p14="http://schemas.microsoft.com/office/powerpoint/2010/main" val="784558370"/>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7290E74F-B412-433C-B702-4E9EE55E609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FF702A35-0967-4A7A-9DED-5723B1E34F18}"/>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1. RECOGNISING TEXTILE-ROOM HAZARDS</a:t>
            </a:r>
          </a:p>
        </p:txBody>
      </p:sp>
      <p:sp>
        <p:nvSpPr>
          <p:cNvPr id="3" name="title">
            <a:extLst xmlns:a="http://schemas.openxmlformats.org/drawingml/2006/main">
              <a:ext uri="{FF2B5EF4-FFF2-40B4-BE49-F238E27FC236}">
                <a16:creationId xmlns:a16="http://schemas.microsoft.com/office/drawing/2014/main" id="{FB9F9173-0A5C-4F09-8C0D-30BAE050724C}"/>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Pause is productive</a:t>
            </a:r>
          </a:p>
        </p:txBody>
      </p:sp>
      <p:pic>
        <p:nvPicPr>
          <p:cNvPr id="17" name="Teaching visual - A textiles workroom contains five visible hazards: a blocked walkway, loose pins, open scissors near an edge, a hot iron on fabric and a…"/>
          <p:cNvPicPr>
            <a:picLocks xmlns:a="http://schemas.openxmlformats.org/drawingml/2006/main" noChangeAspect="1"/>
          </p:cNvPicPr>
          <p:nvPr/>
        </p:nvPicPr>
        <p:blipFill>
          <a:blip xmlns:r="http://schemas.openxmlformats.org/officeDocument/2006/relationships" xmlns:a="http://schemas.openxmlformats.org/drawingml/2006/main" r:embed="R2d955446000e434e"/>
          <a:stretch xmlns:a="http://schemas.openxmlformats.org/drawingml/2006/main"/>
        </p:blipFill>
        <p:spPr>
          <a:xfrm xmlns:a="http://schemas.openxmlformats.org/drawingml/2006/main">
            <a:off x="661035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FCAC2EEA-3506-439B-AA75-845458E205E0}"/>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Safe practical work begins before a tool is touched. A hazard is something with the potential to cause harm; risk considers how likely that harm is and how serious it could be in the current situation. Textile rooms combine sharp objects, heat, electricity, moving machine parts, loose materials and people sharing space. A useful routine is scan, assess, control and report.</a:t>
            </a:r>
          </a:p>
        </p:txBody>
      </p:sp>
      <p:sp>
        <p:nvSpPr>
          <p:cNvPr id="6" name="notice">
            <a:extLst xmlns:a="http://schemas.openxmlformats.org/drawingml/2006/main">
              <a:ext uri="{FF2B5EF4-FFF2-40B4-BE49-F238E27FC236}">
                <a16:creationId xmlns:a16="http://schemas.microsoft.com/office/drawing/2014/main" id="{9D9C5D69-C842-4B40-B380-F85DAA7F76CB}"/>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A0CDCB27-325A-464B-A287-EA6CE03748D8}"/>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9F8A09EA-A355-4A05-BC44-64A6212EFA72}"/>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Scan each zone. Which condition needs attention first, what harm could occur, and what control would you use?</a:t>
            </a:r>
          </a:p>
        </p:txBody>
      </p:sp>
      <p:sp>
        <p:nvSpPr>
          <p:cNvPr id="9" name="prompt-band">
            <a:extLst xmlns:a="http://schemas.openxmlformats.org/drawingml/2006/main">
              <a:ext uri="{FF2B5EF4-FFF2-40B4-BE49-F238E27FC236}">
                <a16:creationId xmlns:a16="http://schemas.microsoft.com/office/drawing/2014/main" id="{D0831F6F-B3B5-44D1-AF2D-DB5602A7AAA9}"/>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997F2D5E-4125-49D8-823F-017BAC80ED4E}"/>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9E9D5FBD-D756-4329-AF1C-891D2D8FF243}"/>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Use the illustrated room to record hazard, possible harm and control for two zones, then justify which condition needs action first.</a:t>
            </a:r>
          </a:p>
        </p:txBody>
      </p:sp>
      <p:sp>
        <p:nvSpPr>
          <p:cNvPr id="12" name="footer-module">
            <a:extLst xmlns:a="http://schemas.openxmlformats.org/drawingml/2006/main">
              <a:ext uri="{FF2B5EF4-FFF2-40B4-BE49-F238E27FC236}">
                <a16:creationId xmlns:a16="http://schemas.microsoft.com/office/drawing/2014/main" id="{5E054AE3-4E64-4080-A1C9-C2274B98356F}"/>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02</a:t>
            </a:r>
          </a:p>
        </p:txBody>
      </p:sp>
      <p:sp>
        <p:nvSpPr>
          <p:cNvPr id="13" name="footer-page">
            <a:extLst xmlns:a="http://schemas.openxmlformats.org/drawingml/2006/main">
              <a:ext uri="{FF2B5EF4-FFF2-40B4-BE49-F238E27FC236}">
                <a16:creationId xmlns:a16="http://schemas.microsoft.com/office/drawing/2014/main" id="{09DC0B6E-7C4E-4495-9ECF-631F743232C0}"/>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03</a:t>
            </a:r>
          </a:p>
        </p:txBody>
      </p:sp>
    </p:spTree>
    <p:extLst>
      <p:ext uri="{BB962C8B-B14F-4D97-AF65-F5344CB8AC3E}">
        <p14:creationId xmlns:p14="http://schemas.microsoft.com/office/powerpoint/2010/main" val="611960048"/>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0E9579DF-9668-4D03-8932-2CAC27DF1D7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BF68AF05-177A-4C3E-9708-F41044266D87}"/>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2. SAFE USE OF NEEDLES, SCISSORS AND IRONS</a:t>
            </a:r>
          </a:p>
        </p:txBody>
      </p:sp>
      <p:sp>
        <p:nvSpPr>
          <p:cNvPr id="3" name="title">
            <a:extLst xmlns:a="http://schemas.openxmlformats.org/drawingml/2006/main">
              <a:ext uri="{FF2B5EF4-FFF2-40B4-BE49-F238E27FC236}">
                <a16:creationId xmlns:a16="http://schemas.microsoft.com/office/drawing/2014/main" id="{AB821B82-286A-4197-B83A-FA43CCC39416}"/>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Account for sharps</a:t>
            </a:r>
          </a:p>
        </p:txBody>
      </p:sp>
      <p:pic>
        <p:nvPicPr>
          <p:cNvPr id="17" name="Teaching visual - A split workshop scene contrasts safely stored sharps and an upright iron with a tagged damaged cord isolated from use."/>
          <p:cNvPicPr>
            <a:picLocks xmlns:a="http://schemas.openxmlformats.org/drawingml/2006/main" noChangeAspect="1"/>
          </p:cNvPicPr>
          <p:nvPr/>
        </p:nvPicPr>
        <p:blipFill>
          <a:blip xmlns:r="http://schemas.openxmlformats.org/officeDocument/2006/relationships" xmlns:a="http://schemas.openxmlformats.org/drawingml/2006/main" r:embed="R6dc3e153998d4543"/>
          <a:stretch xmlns:a="http://schemas.openxmlformats.org/drawingml/2006/main"/>
        </p:blipFill>
        <p:spPr>
          <a:xfrm xmlns:a="http://schemas.openxmlformats.org/drawingml/2006/main">
            <a:off x="53340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13173C02-D235-4263-8C1E-6B20F2329CDA}"/>
              </a:ext>
            </a:extLst>
          </p:cNvPr>
          <p:cNvSpPr>
            <a:spLocks xmlns:a="http://schemas.openxmlformats.org/drawingml/2006/main" noGrp="1"/>
          </p:cNvSpPr>
          <p:nvPr/>
        </p:nvSpPr>
        <p:spPr>
          <a:xfrm xmlns:a="http://schemas.openxmlformats.org/drawingml/2006/main">
            <a:off x="60198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Needles, scissors and irons are useful because they concentrate force or heat. The same feature that makes each tool effective can cause harm, so safe use is built into preparation, handling, placement and pack-up. Pins and needles make small, precise punctures. Scissors cut because two sharp blades move past each other.</a:t>
            </a:r>
          </a:p>
        </p:txBody>
      </p:sp>
      <p:sp>
        <p:nvSpPr>
          <p:cNvPr id="6" name="notice">
            <a:extLst xmlns:a="http://schemas.openxmlformats.org/drawingml/2006/main">
              <a:ext uri="{FF2B5EF4-FFF2-40B4-BE49-F238E27FC236}">
                <a16:creationId xmlns:a16="http://schemas.microsoft.com/office/drawing/2014/main" id="{FBF428AF-66ED-4315-94F8-F73B6ED7588E}"/>
              </a:ext>
            </a:extLst>
          </p:cNvPr>
          <p:cNvSpPr>
            <a:spLocks xmlns:a="http://schemas.openxmlformats.org/drawingml/2006/main" noGrp="1"/>
          </p:cNvSpPr>
          <p:nvPr/>
        </p:nvSpPr>
        <p:spPr>
          <a:xfrm xmlns:a="http://schemas.openxmlformats.org/drawingml/2006/main">
            <a:off x="60198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4489E66A-78BA-4347-B1C3-C4DE842C06D4}"/>
              </a:ext>
            </a:extLst>
          </p:cNvPr>
          <p:cNvSpPr>
            <a:spLocks xmlns:a="http://schemas.openxmlformats.org/drawingml/2006/main" noGrp="1"/>
          </p:cNvSpPr>
          <p:nvPr/>
        </p:nvSpPr>
        <p:spPr>
          <a:xfrm xmlns:a="http://schemas.openxmlformats.org/drawingml/2006/main">
            <a:off x="62103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B511D6D3-014F-40F7-993E-C9B08F3B4314}"/>
              </a:ext>
            </a:extLst>
          </p:cNvPr>
          <p:cNvSpPr>
            <a:spLocks xmlns:a="http://schemas.openxmlformats.org/drawingml/2006/main" noGrp="1"/>
          </p:cNvSpPr>
          <p:nvPr/>
        </p:nvSpPr>
        <p:spPr>
          <a:xfrm xmlns:a="http://schemas.openxmlformats.org/drawingml/2006/main">
            <a:off x="62103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Compare the safe and isolated work areas. Which visible placement contains sharp risk, which controls heat, and what equipment must stay out of use?</a:t>
            </a:r>
          </a:p>
        </p:txBody>
      </p:sp>
      <p:sp>
        <p:nvSpPr>
          <p:cNvPr id="9" name="prompt-band">
            <a:extLst xmlns:a="http://schemas.openxmlformats.org/drawingml/2006/main">
              <a:ext uri="{FF2B5EF4-FFF2-40B4-BE49-F238E27FC236}">
                <a16:creationId xmlns:a16="http://schemas.microsoft.com/office/drawing/2014/main" id="{A8F37CC2-EFE7-4DD5-8385-834F4E7D3032}"/>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13FE6015-C97C-42AC-8E91-B92AED5A3B08}"/>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49D25CC3-647D-477D-8FC9-84F8A0E40D4F}"/>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Compare the safe and isolated work areas. Name the visible sharp, heat and electrical controls, then confirm each procedure through the teacher demonstration.</a:t>
            </a:r>
          </a:p>
        </p:txBody>
      </p:sp>
      <p:sp>
        <p:nvSpPr>
          <p:cNvPr id="12" name="footer-module">
            <a:extLst xmlns:a="http://schemas.openxmlformats.org/drawingml/2006/main">
              <a:ext uri="{FF2B5EF4-FFF2-40B4-BE49-F238E27FC236}">
                <a16:creationId xmlns:a16="http://schemas.microsoft.com/office/drawing/2014/main" id="{0FA7142B-1E93-4653-AD03-06D33E9D75B8}"/>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02</a:t>
            </a:r>
          </a:p>
        </p:txBody>
      </p:sp>
      <p:sp>
        <p:nvSpPr>
          <p:cNvPr id="13" name="footer-page">
            <a:extLst xmlns:a="http://schemas.openxmlformats.org/drawingml/2006/main">
              <a:ext uri="{FF2B5EF4-FFF2-40B4-BE49-F238E27FC236}">
                <a16:creationId xmlns:a16="http://schemas.microsoft.com/office/drawing/2014/main" id="{A9721E9D-AEC2-4465-95B8-CB12F88B3EFF}"/>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04</a:t>
            </a:r>
          </a:p>
        </p:txBody>
      </p:sp>
    </p:spTree>
    <p:extLst>
      <p:ext uri="{BB962C8B-B14F-4D97-AF65-F5344CB8AC3E}">
        <p14:creationId xmlns:p14="http://schemas.microsoft.com/office/powerpoint/2010/main" val="187970307"/>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8479807E-9239-4FA0-84B8-0D5A5D83DA4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171A0BAB-35AC-4A95-AF61-07F4085C0543}"/>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3. SELECTING AND JUSTIFYING TEXTILE TOOLS</a:t>
            </a:r>
          </a:p>
        </p:txBody>
      </p:sp>
      <p:sp>
        <p:nvSpPr>
          <p:cNvPr id="3" name="title">
            <a:extLst xmlns:a="http://schemas.openxmlformats.org/drawingml/2006/main">
              <a:ext uri="{FF2B5EF4-FFF2-40B4-BE49-F238E27FC236}">
                <a16:creationId xmlns:a16="http://schemas.microsoft.com/office/drawing/2014/main" id="{84C40471-3386-480D-A5FD-4C355F8713F7}"/>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Tool reasoning</a:t>
            </a:r>
          </a:p>
        </p:txBody>
      </p:sp>
      <p:pic>
        <p:nvPicPr>
          <p:cNvPr id="17" name="Teaching visual - A textiles tool-selection workspace shows approved tools, material offcuts and a finished sample ready for comparison and justification."/>
          <p:cNvPicPr>
            <a:picLocks xmlns:a="http://schemas.openxmlformats.org/drawingml/2006/main" noChangeAspect="1"/>
          </p:cNvPicPr>
          <p:nvPr/>
        </p:nvPicPr>
        <p:blipFill>
          <a:blip xmlns:r="http://schemas.openxmlformats.org/officeDocument/2006/relationships" xmlns:a="http://schemas.openxmlformats.org/drawingml/2006/main" r:embed="R6c43a7ce88e74e12"/>
          <a:stretch xmlns:a="http://schemas.openxmlformats.org/drawingml/2006/main"/>
        </p:blipFill>
        <p:spPr>
          <a:xfrm xmlns:a="http://schemas.openxmlformats.org/drawingml/2006/main">
            <a:off x="661035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6AFC9F45-B77B-4CD9-B884-8367F0E10173}"/>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Selecting a tool is a design decision. The best choice is not automatically the fastest or most powerful; it is the approved tool that can perform the required action accurately, safely and without unnecessary damage to the material. Begin with the action: measuring, marking, holding, cutting, removing stitches, pressing or joining. Quality requirements shape selection.</a:t>
            </a:r>
          </a:p>
        </p:txBody>
      </p:sp>
      <p:sp>
        <p:nvSpPr>
          <p:cNvPr id="6" name="notice">
            <a:extLst xmlns:a="http://schemas.openxmlformats.org/drawingml/2006/main">
              <a:ext uri="{FF2B5EF4-FFF2-40B4-BE49-F238E27FC236}">
                <a16:creationId xmlns:a16="http://schemas.microsoft.com/office/drawing/2014/main" id="{31D16A62-5FD4-427B-87DF-4A3DA8EAC195}"/>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F30B0CAA-3119-4D32-90AE-FBDA59E91150}"/>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F2B167F8-7FF6-40DF-93A5-31088F922FF3}"/>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Compare the tools, material offcut and finished sample. What test evidence would justify a tool choice before final material is changed?</a:t>
            </a:r>
          </a:p>
        </p:txBody>
      </p:sp>
      <p:sp>
        <p:nvSpPr>
          <p:cNvPr id="9" name="prompt-band">
            <a:extLst xmlns:a="http://schemas.openxmlformats.org/drawingml/2006/main">
              <a:ext uri="{FF2B5EF4-FFF2-40B4-BE49-F238E27FC236}">
                <a16:creationId xmlns:a16="http://schemas.microsoft.com/office/drawing/2014/main" id="{09CBC33F-8D6B-4AE9-BED9-00B303EA7D2D}"/>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C523F73C-270D-40CD-B2C1-72EF533C2C55}"/>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0362DEFA-2009-4C52-836C-A49345D73330}"/>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Choose an approved tool for one sample task and defend the choice to a partner before touching the final material.</a:t>
            </a:r>
          </a:p>
        </p:txBody>
      </p:sp>
      <p:sp>
        <p:nvSpPr>
          <p:cNvPr id="12" name="footer-module">
            <a:extLst xmlns:a="http://schemas.openxmlformats.org/drawingml/2006/main">
              <a:ext uri="{FF2B5EF4-FFF2-40B4-BE49-F238E27FC236}">
                <a16:creationId xmlns:a16="http://schemas.microsoft.com/office/drawing/2014/main" id="{5C4D0D9F-9B5A-488A-B8CB-2DEDA49CA643}"/>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02</a:t>
            </a:r>
          </a:p>
        </p:txBody>
      </p:sp>
      <p:sp>
        <p:nvSpPr>
          <p:cNvPr id="13" name="footer-page">
            <a:extLst xmlns:a="http://schemas.openxmlformats.org/drawingml/2006/main">
              <a:ext uri="{FF2B5EF4-FFF2-40B4-BE49-F238E27FC236}">
                <a16:creationId xmlns:a16="http://schemas.microsoft.com/office/drawing/2014/main" id="{2027A7DD-70B2-4044-A30C-079A8EDDD6C0}"/>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05</a:t>
            </a:r>
          </a:p>
        </p:txBody>
      </p:sp>
    </p:spTree>
    <p:extLst>
      <p:ext uri="{BB962C8B-B14F-4D97-AF65-F5344CB8AC3E}">
        <p14:creationId xmlns:p14="http://schemas.microsoft.com/office/powerpoint/2010/main" val="2113627812"/>
      </p:ext>
    </p:extLst>
  </p:cSld>
</p:sld>
</file>

<file path=ppt/slides/slide6.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AF0E1114-4A62-439F-8C88-10AD9E5163C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A08F7B16-B0E6-49F6-842A-5C0988FDEE88}"/>
              </a:ext>
            </a:extLst>
          </p:cNvPr>
          <p:cNvSpPr>
            <a:spLocks xmlns:a="http://schemas.openxmlformats.org/drawingml/2006/main" noGrp="1"/>
          </p:cNvSpPr>
          <p:nvPr/>
        </p:nvSpPr>
        <p:spPr>
          <a:xfrm xmlns:a="http://schemas.openxmlformats.org/drawingml/2006/main">
            <a:off x="533400" y="3048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CHECK YOUR UNDERSTANDING</a:t>
            </a:r>
          </a:p>
        </p:txBody>
      </p:sp>
      <p:sp>
        <p:nvSpPr>
          <p:cNvPr id="3" name="title">
            <a:extLst xmlns:a="http://schemas.openxmlformats.org/drawingml/2006/main">
              <a:ext uri="{FF2B5EF4-FFF2-40B4-BE49-F238E27FC236}">
                <a16:creationId xmlns:a16="http://schemas.microsoft.com/office/drawing/2014/main" id="{411DCA43-ACAC-40DA-A71C-B3B9E564D889}"/>
              </a:ext>
            </a:extLst>
          </p:cNvPr>
          <p:cNvSpPr>
            <a:spLocks xmlns:a="http://schemas.openxmlformats.org/drawingml/2006/main" noGrp="1"/>
          </p:cNvSpPr>
          <p:nvPr/>
        </p:nvSpPr>
        <p:spPr>
          <a:xfrm xmlns:a="http://schemas.openxmlformats.org/drawingml/2006/main">
            <a:off x="533400" y="80010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Stop. Think. Explain.</a:t>
            </a:r>
          </a:p>
        </p:txBody>
      </p:sp>
      <p:sp>
        <p:nvSpPr>
          <p:cNvPr id="4" name="instruction">
            <a:extLst xmlns:a="http://schemas.openxmlformats.org/drawingml/2006/main">
              <a:ext uri="{FF2B5EF4-FFF2-40B4-BE49-F238E27FC236}">
                <a16:creationId xmlns:a16="http://schemas.microsoft.com/office/drawing/2014/main" id="{E864F8EB-FC26-4019-B88C-7FBC8346741C}"/>
              </a:ext>
            </a:extLst>
          </p:cNvPr>
          <p:cNvSpPr>
            <a:spLocks xmlns:a="http://schemas.openxmlformats.org/drawingml/2006/main" noGrp="1"/>
          </p:cNvSpPr>
          <p:nvPr/>
        </p:nvSpPr>
        <p:spPr>
          <a:xfrm xmlns:a="http://schemas.openxmlformats.org/drawingml/2006/main">
            <a:off x="533400" y="142875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a:solidFill>
                  <a:srgbClr val="C8D6D2"/>
                </a:solidFill>
                <a:latin typeface="Aptos"/>
                <a:ea typeface="Aptos"/>
                <a:cs typeface="Aptos"/>
              </a:defRPr>
            </a:pPr>
            <a:r>
              <a:rPr sz="1425">
                <a:solidFill>
                  <a:srgbClr val="C8D6D2"/>
                </a:solidFill>
                <a:latin typeface="Aptos"/>
                <a:ea typeface="Aptos"/>
                <a:cs typeface="Aptos"/>
              </a:rPr>
              <a:t>Answer silently first. Then justify one answer with a partner.</a:t>
            </a:r>
          </a:p>
        </p:txBody>
      </p:sp>
      <p:sp>
        <p:nvSpPr>
          <p:cNvPr id="5" name="check-number-1">
            <a:extLst xmlns:a="http://schemas.openxmlformats.org/drawingml/2006/main">
              <a:ext uri="{FF2B5EF4-FFF2-40B4-BE49-F238E27FC236}">
                <a16:creationId xmlns:a16="http://schemas.microsoft.com/office/drawing/2014/main" id="{A2BF6859-5F79-41DC-A575-FE712F5CA0DC}"/>
              </a:ext>
            </a:extLst>
          </p:cNvPr>
          <p:cNvSpPr>
            <a:spLocks xmlns:a="http://schemas.openxmlformats.org/drawingml/2006/main" noGrp="1"/>
          </p:cNvSpPr>
          <p:nvPr/>
        </p:nvSpPr>
        <p:spPr>
          <a:xfrm xmlns:a="http://schemas.openxmlformats.org/drawingml/2006/main">
            <a:off x="685800" y="22383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1</a:t>
            </a:r>
          </a:p>
        </p:txBody>
      </p:sp>
      <p:sp>
        <p:nvSpPr>
          <p:cNvPr id="6" name="check-line-1">
            <a:extLst xmlns:a="http://schemas.openxmlformats.org/drawingml/2006/main">
              <a:ext uri="{FF2B5EF4-FFF2-40B4-BE49-F238E27FC236}">
                <a16:creationId xmlns:a16="http://schemas.microsoft.com/office/drawing/2014/main" id="{C7517B69-6B72-43CD-9A1D-09A9D342A4FE}"/>
              </a:ext>
            </a:extLst>
          </p:cNvPr>
          <p:cNvSpPr>
            <a:spLocks xmlns:a="http://schemas.openxmlformats.org/drawingml/2006/main" noGrp="1"/>
          </p:cNvSpPr>
          <p:nvPr/>
        </p:nvSpPr>
        <p:spPr>
          <a:xfrm xmlns:a="http://schemas.openxmlformats.org/drawingml/2006/main">
            <a:off x="1257300" y="24384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7" name="check-1">
            <a:extLst xmlns:a="http://schemas.openxmlformats.org/drawingml/2006/main">
              <a:ext uri="{FF2B5EF4-FFF2-40B4-BE49-F238E27FC236}">
                <a16:creationId xmlns:a16="http://schemas.microsoft.com/office/drawing/2014/main" id="{8B6707CE-34A1-4AA5-AF10-26496A1846FA}"/>
              </a:ext>
            </a:extLst>
          </p:cNvPr>
          <p:cNvSpPr>
            <a:spLocks xmlns:a="http://schemas.openxmlformats.org/drawingml/2006/main" noGrp="1"/>
          </p:cNvSpPr>
          <p:nvPr/>
        </p:nvSpPr>
        <p:spPr>
          <a:xfrm xmlns:a="http://schemas.openxmlformats.org/drawingml/2006/main">
            <a:off x="1524000" y="21431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statement correctly distinguishes a hazard from risk?</a:t>
            </a:r>
          </a:p>
        </p:txBody>
      </p:sp>
      <p:sp>
        <p:nvSpPr>
          <p:cNvPr id="8" name="check-number-2">
            <a:extLst xmlns:a="http://schemas.openxmlformats.org/drawingml/2006/main">
              <a:ext uri="{FF2B5EF4-FFF2-40B4-BE49-F238E27FC236}">
                <a16:creationId xmlns:a16="http://schemas.microsoft.com/office/drawing/2014/main" id="{A9F20CF6-C5F7-4A5F-8795-D04EAFD41150}"/>
              </a:ext>
            </a:extLst>
          </p:cNvPr>
          <p:cNvSpPr>
            <a:spLocks xmlns:a="http://schemas.openxmlformats.org/drawingml/2006/main" noGrp="1"/>
          </p:cNvSpPr>
          <p:nvPr/>
        </p:nvSpPr>
        <p:spPr>
          <a:xfrm xmlns:a="http://schemas.openxmlformats.org/drawingml/2006/main">
            <a:off x="685800" y="32099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2</a:t>
            </a:r>
          </a:p>
        </p:txBody>
      </p:sp>
      <p:sp>
        <p:nvSpPr>
          <p:cNvPr id="9" name="check-line-2">
            <a:extLst xmlns:a="http://schemas.openxmlformats.org/drawingml/2006/main">
              <a:ext uri="{FF2B5EF4-FFF2-40B4-BE49-F238E27FC236}">
                <a16:creationId xmlns:a16="http://schemas.microsoft.com/office/drawing/2014/main" id="{C63A4E16-EF00-4A6F-9CE4-D4CDDA0BAB04}"/>
              </a:ext>
            </a:extLst>
          </p:cNvPr>
          <p:cNvSpPr>
            <a:spLocks xmlns:a="http://schemas.openxmlformats.org/drawingml/2006/main" noGrp="1"/>
          </p:cNvSpPr>
          <p:nvPr/>
        </p:nvSpPr>
        <p:spPr>
          <a:xfrm xmlns:a="http://schemas.openxmlformats.org/drawingml/2006/main">
            <a:off x="1257300" y="34099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0" name="check-2">
            <a:extLst xmlns:a="http://schemas.openxmlformats.org/drawingml/2006/main">
              <a:ext uri="{FF2B5EF4-FFF2-40B4-BE49-F238E27FC236}">
                <a16:creationId xmlns:a16="http://schemas.microsoft.com/office/drawing/2014/main" id="{2C21AE4E-721B-4B78-9D74-08238D724EF4}"/>
              </a:ext>
            </a:extLst>
          </p:cNvPr>
          <p:cNvSpPr>
            <a:spLocks xmlns:a="http://schemas.openxmlformats.org/drawingml/2006/main" noGrp="1"/>
          </p:cNvSpPr>
          <p:nvPr/>
        </p:nvSpPr>
        <p:spPr>
          <a:xfrm xmlns:a="http://schemas.openxmlformats.org/drawingml/2006/main">
            <a:off x="1524000" y="31146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Why must pins and needles never be held in the mouth?</a:t>
            </a:r>
          </a:p>
        </p:txBody>
      </p:sp>
      <p:sp>
        <p:nvSpPr>
          <p:cNvPr id="11" name="check-number-3">
            <a:extLst xmlns:a="http://schemas.openxmlformats.org/drawingml/2006/main">
              <a:ext uri="{FF2B5EF4-FFF2-40B4-BE49-F238E27FC236}">
                <a16:creationId xmlns:a16="http://schemas.microsoft.com/office/drawing/2014/main" id="{0A832D09-25AB-4EFB-98E5-E5419930D69B}"/>
              </a:ext>
            </a:extLst>
          </p:cNvPr>
          <p:cNvSpPr>
            <a:spLocks xmlns:a="http://schemas.openxmlformats.org/drawingml/2006/main" noGrp="1"/>
          </p:cNvSpPr>
          <p:nvPr/>
        </p:nvSpPr>
        <p:spPr>
          <a:xfrm xmlns:a="http://schemas.openxmlformats.org/drawingml/2006/main">
            <a:off x="685800" y="41814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3</a:t>
            </a:r>
          </a:p>
        </p:txBody>
      </p:sp>
      <p:sp>
        <p:nvSpPr>
          <p:cNvPr id="12" name="check-line-3">
            <a:extLst xmlns:a="http://schemas.openxmlformats.org/drawingml/2006/main">
              <a:ext uri="{FF2B5EF4-FFF2-40B4-BE49-F238E27FC236}">
                <a16:creationId xmlns:a16="http://schemas.microsoft.com/office/drawing/2014/main" id="{C8C354F4-66D0-4F20-9079-936BC057992E}"/>
              </a:ext>
            </a:extLst>
          </p:cNvPr>
          <p:cNvSpPr>
            <a:spLocks xmlns:a="http://schemas.openxmlformats.org/drawingml/2006/main" noGrp="1"/>
          </p:cNvSpPr>
          <p:nvPr/>
        </p:nvSpPr>
        <p:spPr>
          <a:xfrm xmlns:a="http://schemas.openxmlformats.org/drawingml/2006/main">
            <a:off x="1257300" y="43815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3" name="check-3">
            <a:extLst xmlns:a="http://schemas.openxmlformats.org/drawingml/2006/main">
              <a:ext uri="{FF2B5EF4-FFF2-40B4-BE49-F238E27FC236}">
                <a16:creationId xmlns:a16="http://schemas.microsoft.com/office/drawing/2014/main" id="{83857D07-49C6-4ADE-A8EB-252EA61A66FE}"/>
              </a:ext>
            </a:extLst>
          </p:cNvPr>
          <p:cNvSpPr>
            <a:spLocks xmlns:a="http://schemas.openxmlformats.org/drawingml/2006/main" noGrp="1"/>
          </p:cNvSpPr>
          <p:nvPr/>
        </p:nvSpPr>
        <p:spPr>
          <a:xfrm xmlns:a="http://schemas.openxmlformats.org/drawingml/2006/main">
            <a:off x="1524000" y="40862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What should a student identify first when selecting a textile tool?</a:t>
            </a:r>
          </a:p>
        </p:txBody>
      </p:sp>
      <p:sp>
        <p:nvSpPr>
          <p:cNvPr id="14" name="check-number-4">
            <a:extLst xmlns:a="http://schemas.openxmlformats.org/drawingml/2006/main">
              <a:ext uri="{FF2B5EF4-FFF2-40B4-BE49-F238E27FC236}">
                <a16:creationId xmlns:a16="http://schemas.microsoft.com/office/drawing/2014/main" id="{B892C800-F591-48F3-9B12-001A02E9C1AE}"/>
              </a:ext>
            </a:extLst>
          </p:cNvPr>
          <p:cNvSpPr>
            <a:spLocks xmlns:a="http://schemas.openxmlformats.org/drawingml/2006/main" noGrp="1"/>
          </p:cNvSpPr>
          <p:nvPr/>
        </p:nvSpPr>
        <p:spPr>
          <a:xfrm xmlns:a="http://schemas.openxmlformats.org/drawingml/2006/main">
            <a:off x="685800" y="51530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4</a:t>
            </a:r>
          </a:p>
        </p:txBody>
      </p:sp>
      <p:sp>
        <p:nvSpPr>
          <p:cNvPr id="15" name="check-line-4">
            <a:extLst xmlns:a="http://schemas.openxmlformats.org/drawingml/2006/main">
              <a:ext uri="{FF2B5EF4-FFF2-40B4-BE49-F238E27FC236}">
                <a16:creationId xmlns:a16="http://schemas.microsoft.com/office/drawing/2014/main" id="{233CAE8F-B067-46D1-A506-E705083CD5A3}"/>
              </a:ext>
            </a:extLst>
          </p:cNvPr>
          <p:cNvSpPr>
            <a:spLocks xmlns:a="http://schemas.openxmlformats.org/drawingml/2006/main" noGrp="1"/>
          </p:cNvSpPr>
          <p:nvPr/>
        </p:nvSpPr>
        <p:spPr>
          <a:xfrm xmlns:a="http://schemas.openxmlformats.org/drawingml/2006/main">
            <a:off x="1257300" y="53530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6" name="check-4">
            <a:extLst xmlns:a="http://schemas.openxmlformats.org/drawingml/2006/main">
              <a:ext uri="{FF2B5EF4-FFF2-40B4-BE49-F238E27FC236}">
                <a16:creationId xmlns:a16="http://schemas.microsoft.com/office/drawing/2014/main" id="{DE2620C2-F744-4B54-8C13-49351F79FAA3}"/>
              </a:ext>
            </a:extLst>
          </p:cNvPr>
          <p:cNvSpPr>
            <a:spLocks xmlns:a="http://schemas.openxmlformats.org/drawingml/2006/main" noGrp="1"/>
          </p:cNvSpPr>
          <p:nvPr/>
        </p:nvSpPr>
        <p:spPr>
          <a:xfrm xmlns:a="http://schemas.openxmlformats.org/drawingml/2006/main">
            <a:off x="1524000" y="50577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idea from this module most changes your next design or production decision?</a:t>
            </a:r>
          </a:p>
        </p:txBody>
      </p:sp>
      <p:sp>
        <p:nvSpPr>
          <p:cNvPr id="17" name="footer-module">
            <a:extLst xmlns:a="http://schemas.openxmlformats.org/drawingml/2006/main">
              <a:ext uri="{FF2B5EF4-FFF2-40B4-BE49-F238E27FC236}">
                <a16:creationId xmlns:a16="http://schemas.microsoft.com/office/drawing/2014/main" id="{D9CACC98-2226-4242-85AF-ADCCEB6A10B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8D6D2"/>
                </a:solidFill>
                <a:latin typeface="Aptos"/>
                <a:ea typeface="Aptos"/>
                <a:cs typeface="Aptos"/>
              </a:defRPr>
            </a:pPr>
            <a:r>
              <a:rPr sz="900" b="1">
                <a:solidFill>
                  <a:srgbClr val="C8D6D2"/>
                </a:solidFill>
                <a:latin typeface="Aptos"/>
                <a:ea typeface="Aptos"/>
                <a:cs typeface="Aptos"/>
              </a:rPr>
              <a:t>SEW AWESOME  •  MODULE 02</a:t>
            </a:r>
          </a:p>
        </p:txBody>
      </p:sp>
      <p:sp>
        <p:nvSpPr>
          <p:cNvPr id="18" name="footer-page">
            <a:extLst xmlns:a="http://schemas.openxmlformats.org/drawingml/2006/main">
              <a:ext uri="{FF2B5EF4-FFF2-40B4-BE49-F238E27FC236}">
                <a16:creationId xmlns:a16="http://schemas.microsoft.com/office/drawing/2014/main" id="{03CBEF16-0B43-4393-8BCA-0C44F756019A}"/>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C8D6D2"/>
                </a:solidFill>
                <a:latin typeface="Aptos"/>
                <a:ea typeface="Aptos"/>
                <a:cs typeface="Aptos"/>
              </a:defRPr>
            </a:pPr>
            <a:r>
              <a:rPr sz="900" b="1">
                <a:solidFill>
                  <a:srgbClr val="C8D6D2"/>
                </a:solidFill>
                <a:latin typeface="Aptos"/>
                <a:ea typeface="Aptos"/>
                <a:cs typeface="Aptos"/>
              </a:rPr>
              <a:t>06</a:t>
            </a:r>
          </a:p>
        </p:txBody>
      </p:sp>
    </p:spTree>
    <p:extLst>
      <p:ext uri="{BB962C8B-B14F-4D97-AF65-F5344CB8AC3E}">
        <p14:creationId xmlns:p14="http://schemas.microsoft.com/office/powerpoint/2010/main" val="523716819"/>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3" name="top-rule">
            <a:extLst xmlns:a="http://schemas.openxmlformats.org/drawingml/2006/main">
              <a:ext uri="{FF2B5EF4-FFF2-40B4-BE49-F238E27FC236}">
                <a16:creationId xmlns:a16="http://schemas.microsoft.com/office/drawing/2014/main" id="{EAD9E76A-A21D-4F21-8075-FFDEC1AF73D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89AEEFF4-9975-42EB-B3B9-EFF3D1B5F90C}"/>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MODEL A LONGER RESPONSE</a:t>
            </a:r>
          </a:p>
        </p:txBody>
      </p:sp>
      <p:sp>
        <p:nvSpPr>
          <p:cNvPr id="3" name="title">
            <a:extLst xmlns:a="http://schemas.openxmlformats.org/drawingml/2006/main">
              <a:ext uri="{FF2B5EF4-FFF2-40B4-BE49-F238E27FC236}">
                <a16:creationId xmlns:a16="http://schemas.microsoft.com/office/drawing/2014/main" id="{F96A1922-1232-4F24-A839-E86026859614}"/>
              </a:ext>
            </a:extLst>
          </p:cNvPr>
          <p:cNvSpPr>
            <a:spLocks xmlns:a="http://schemas.openxmlformats.org/drawingml/2006/main" noGrp="1"/>
          </p:cNvSpPr>
          <p:nvPr/>
        </p:nvSpPr>
        <p:spPr>
          <a:xfrm xmlns:a="http://schemas.openxmlformats.org/drawingml/2006/main">
            <a:off x="533400" y="7239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Read → Select → Explain → Check</a:t>
            </a:r>
          </a:p>
        </p:txBody>
      </p:sp>
      <p:sp>
        <p:nvSpPr>
          <p:cNvPr id="4" name="question-surface">
            <a:extLst xmlns:a="http://schemas.openxmlformats.org/drawingml/2006/main">
              <a:ext uri="{FF2B5EF4-FFF2-40B4-BE49-F238E27FC236}">
                <a16:creationId xmlns:a16="http://schemas.microsoft.com/office/drawing/2014/main" id="{6ACA46DD-1E2F-48ED-BA8A-CA50EC58DD6F}"/>
              </a:ext>
            </a:extLst>
          </p:cNvPr>
          <p:cNvSpPr>
            <a:spLocks xmlns:a="http://schemas.openxmlformats.org/drawingml/2006/main" noGrp="1"/>
          </p:cNvSpPr>
          <p:nvPr/>
        </p:nvSpPr>
        <p:spPr>
          <a:xfrm xmlns:a="http://schemas.openxmlformats.org/drawingml/2006/main">
            <a:off x="533400" y="1562100"/>
            <a:ext cx="11125200" cy="14859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D6CC"/>
            </a:solidFill>
            <a:prstDash val="solid"/>
          </a:ln>
        </p:spPr>
      </p:sp>
      <p:sp>
        <p:nvSpPr>
          <p:cNvPr id="5" name="question-label">
            <a:extLst xmlns:a="http://schemas.openxmlformats.org/drawingml/2006/main">
              <a:ext uri="{FF2B5EF4-FFF2-40B4-BE49-F238E27FC236}">
                <a16:creationId xmlns:a16="http://schemas.microsoft.com/office/drawing/2014/main" id="{D67E26F5-F05F-4802-A0ED-B6BB437D66A6}"/>
              </a:ext>
            </a:extLst>
          </p:cNvPr>
          <p:cNvSpPr>
            <a:spLocks xmlns:a="http://schemas.openxmlformats.org/drawingml/2006/main" noGrp="1"/>
          </p:cNvSpPr>
          <p:nvPr/>
        </p:nvSpPr>
        <p:spPr>
          <a:xfrm xmlns:a="http://schemas.openxmlformats.org/drawingml/2006/main">
            <a:off x="762000" y="17716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THE QUESTION</a:t>
            </a:r>
          </a:p>
        </p:txBody>
      </p:sp>
      <p:sp>
        <p:nvSpPr>
          <p:cNvPr id="6" name="question">
            <a:extLst xmlns:a="http://schemas.openxmlformats.org/drawingml/2006/main">
              <a:ext uri="{FF2B5EF4-FFF2-40B4-BE49-F238E27FC236}">
                <a16:creationId xmlns:a16="http://schemas.microsoft.com/office/drawing/2014/main" id="{9AB4270D-E497-442B-8FED-B5F7FB63796E}"/>
              </a:ext>
            </a:extLst>
          </p:cNvPr>
          <p:cNvSpPr>
            <a:spLocks xmlns:a="http://schemas.openxmlformats.org/drawingml/2006/main" noGrp="1"/>
          </p:cNvSpPr>
          <p:nvPr/>
        </p:nvSpPr>
        <p:spPr>
          <a:xfrm xmlns:a="http://schemas.openxmlformats.org/drawingml/2006/main">
            <a:off x="762000" y="2076450"/>
            <a:ext cx="10629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b="1">
                <a:solidFill>
                  <a:srgbClr val="20302E"/>
                </a:solidFill>
                <a:latin typeface="Aptos"/>
                <a:ea typeface="Aptos"/>
                <a:cs typeface="Aptos"/>
              </a:defRPr>
            </a:pPr>
            <a:r>
              <a:rPr sz="1650" b="1">
                <a:solidFill>
                  <a:srgbClr val="20302E"/>
                </a:solidFill>
                <a:latin typeface="Aptos"/>
                <a:ea typeface="Aptos"/>
                <a:cs typeface="Aptos"/>
              </a:rPr>
              <a:t>Justify a set of approved tools for measuring, temporarily holding, cutting and pressing a textile component. Explain how the material and required finish influence each choice.</a:t>
            </a:r>
          </a:p>
        </p:txBody>
      </p:sp>
      <p:sp>
        <p:nvSpPr>
          <p:cNvPr id="7" name="arrow-1">
            <a:extLst xmlns:a="http://schemas.openxmlformats.org/drawingml/2006/main">
              <a:ext uri="{FF2B5EF4-FFF2-40B4-BE49-F238E27FC236}">
                <a16:creationId xmlns:a16="http://schemas.microsoft.com/office/drawing/2014/main" id="{E60BD522-8C81-496D-8E54-C3260078EC34}"/>
              </a:ext>
            </a:extLst>
          </p:cNvPr>
          <p:cNvSpPr>
            <a:spLocks xmlns:a="http://schemas.openxmlformats.org/drawingml/2006/main" noGrp="1"/>
          </p:cNvSpPr>
          <p:nvPr/>
        </p:nvSpPr>
        <p:spPr>
          <a:xfrm xmlns:a="http://schemas.openxmlformats.org/drawingml/2006/main">
            <a:off x="2914650" y="4038600"/>
            <a:ext cx="342900" cy="323850"/>
          </a:xfrm>
          <a:prstGeom xmlns:a="http://schemas.openxmlformats.org/drawingml/2006/main" prst="rightArrow">
            <a:avLst/>
          </a:prstGeom>
          <a:solidFill xmlns:a="http://schemas.openxmlformats.org/drawingml/2006/main">
            <a:srgbClr val="146B66"/>
          </a:solidFill>
          <a:ln xmlns:a="http://schemas.openxmlformats.org/drawingml/2006/main" w="0">
            <a:noFill/>
            <a:prstDash val="solid"/>
          </a:ln>
        </p:spPr>
      </p:sp>
      <p:sp>
        <p:nvSpPr>
          <p:cNvPr id="8" name="step-label-1">
            <a:extLst xmlns:a="http://schemas.openxmlformats.org/drawingml/2006/main">
              <a:ext uri="{FF2B5EF4-FFF2-40B4-BE49-F238E27FC236}">
                <a16:creationId xmlns:a16="http://schemas.microsoft.com/office/drawing/2014/main" id="{9BE8F2E6-524F-4EFB-8442-4B7D22E99959}"/>
              </a:ext>
            </a:extLst>
          </p:cNvPr>
          <p:cNvSpPr>
            <a:spLocks xmlns:a="http://schemas.openxmlformats.org/drawingml/2006/main" noGrp="1"/>
          </p:cNvSpPr>
          <p:nvPr/>
        </p:nvSpPr>
        <p:spPr>
          <a:xfrm xmlns:a="http://schemas.openxmlformats.org/drawingml/2006/main">
            <a:off x="5334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6B66"/>
                </a:solidFill>
                <a:latin typeface="Aptos"/>
                <a:ea typeface="Aptos"/>
                <a:cs typeface="Aptos"/>
              </a:defRPr>
            </a:pPr>
            <a:r>
              <a:rPr sz="1200" b="1">
                <a:solidFill>
                  <a:srgbClr val="146B66"/>
                </a:solidFill>
                <a:latin typeface="Aptos"/>
                <a:ea typeface="Aptos"/>
                <a:cs typeface="Aptos"/>
              </a:rPr>
              <a:t>1  READ</a:t>
            </a:r>
          </a:p>
        </p:txBody>
      </p:sp>
      <p:sp>
        <p:nvSpPr>
          <p:cNvPr id="9" name="step-text-1">
            <a:extLst xmlns:a="http://schemas.openxmlformats.org/drawingml/2006/main">
              <a:ext uri="{FF2B5EF4-FFF2-40B4-BE49-F238E27FC236}">
                <a16:creationId xmlns:a16="http://schemas.microsoft.com/office/drawing/2014/main" id="{6A6D3A28-583F-4A0D-BD42-2D25F189CA44}"/>
              </a:ext>
            </a:extLst>
          </p:cNvPr>
          <p:cNvSpPr>
            <a:spLocks xmlns:a="http://schemas.openxmlformats.org/drawingml/2006/main" noGrp="1"/>
          </p:cNvSpPr>
          <p:nvPr/>
        </p:nvSpPr>
        <p:spPr>
          <a:xfrm xmlns:a="http://schemas.openxmlformats.org/drawingml/2006/main">
            <a:off x="5334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Define each action and its quality requirement.</a:t>
            </a:r>
          </a:p>
        </p:txBody>
      </p:sp>
      <p:sp>
        <p:nvSpPr>
          <p:cNvPr id="10" name="arrow-2">
            <a:extLst xmlns:a="http://schemas.openxmlformats.org/drawingml/2006/main">
              <a:ext uri="{FF2B5EF4-FFF2-40B4-BE49-F238E27FC236}">
                <a16:creationId xmlns:a16="http://schemas.microsoft.com/office/drawing/2014/main" id="{9BD82E1A-D880-4EF2-B62A-4A226BA74549}"/>
              </a:ext>
            </a:extLst>
          </p:cNvPr>
          <p:cNvSpPr>
            <a:spLocks xmlns:a="http://schemas.openxmlformats.org/drawingml/2006/main" noGrp="1"/>
          </p:cNvSpPr>
          <p:nvPr/>
        </p:nvSpPr>
        <p:spPr>
          <a:xfrm xmlns:a="http://schemas.openxmlformats.org/drawingml/2006/main">
            <a:off x="5695950" y="4038600"/>
            <a:ext cx="342900" cy="323850"/>
          </a:xfrm>
          <a:prstGeom xmlns:a="http://schemas.openxmlformats.org/drawingml/2006/main" prst="rightArrow">
            <a:avLst/>
          </a:prstGeom>
          <a:solidFill xmlns:a="http://schemas.openxmlformats.org/drawingml/2006/main">
            <a:srgbClr val="BF4C5A"/>
          </a:solidFill>
          <a:ln xmlns:a="http://schemas.openxmlformats.org/drawingml/2006/main" w="0">
            <a:noFill/>
            <a:prstDash val="solid"/>
          </a:ln>
        </p:spPr>
      </p:sp>
      <p:sp>
        <p:nvSpPr>
          <p:cNvPr id="11" name="step-label-2">
            <a:extLst xmlns:a="http://schemas.openxmlformats.org/drawingml/2006/main">
              <a:ext uri="{FF2B5EF4-FFF2-40B4-BE49-F238E27FC236}">
                <a16:creationId xmlns:a16="http://schemas.microsoft.com/office/drawing/2014/main" id="{F23DD04A-03F9-44D2-B11B-EEDD2FB71DA7}"/>
              </a:ext>
            </a:extLst>
          </p:cNvPr>
          <p:cNvSpPr>
            <a:spLocks xmlns:a="http://schemas.openxmlformats.org/drawingml/2006/main" noGrp="1"/>
          </p:cNvSpPr>
          <p:nvPr/>
        </p:nvSpPr>
        <p:spPr>
          <a:xfrm xmlns:a="http://schemas.openxmlformats.org/drawingml/2006/main">
            <a:off x="33147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BF4C5A"/>
                </a:solidFill>
                <a:latin typeface="Aptos"/>
                <a:ea typeface="Aptos"/>
                <a:cs typeface="Aptos"/>
              </a:defRPr>
            </a:pPr>
            <a:r>
              <a:rPr sz="1200" b="1">
                <a:solidFill>
                  <a:srgbClr val="BF4C5A"/>
                </a:solidFill>
                <a:latin typeface="Aptos"/>
                <a:ea typeface="Aptos"/>
                <a:cs typeface="Aptos"/>
              </a:rPr>
              <a:t>2  SELECT</a:t>
            </a:r>
          </a:p>
        </p:txBody>
      </p:sp>
      <p:sp>
        <p:nvSpPr>
          <p:cNvPr id="12" name="step-text-2">
            <a:extLst xmlns:a="http://schemas.openxmlformats.org/drawingml/2006/main">
              <a:ext uri="{FF2B5EF4-FFF2-40B4-BE49-F238E27FC236}">
                <a16:creationId xmlns:a16="http://schemas.microsoft.com/office/drawing/2014/main" id="{1C60B1AF-E685-4E69-A523-7A516437AA29}"/>
              </a:ext>
            </a:extLst>
          </p:cNvPr>
          <p:cNvSpPr>
            <a:spLocks xmlns:a="http://schemas.openxmlformats.org/drawingml/2006/main" noGrp="1"/>
          </p:cNvSpPr>
          <p:nvPr/>
        </p:nvSpPr>
        <p:spPr>
          <a:xfrm xmlns:a="http://schemas.openxmlformats.org/drawingml/2006/main">
            <a:off x="33147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Describe the material features that could affect tool behaviour.</a:t>
            </a:r>
          </a:p>
        </p:txBody>
      </p:sp>
      <p:sp>
        <p:nvSpPr>
          <p:cNvPr id="13" name="arrow-3">
            <a:extLst xmlns:a="http://schemas.openxmlformats.org/drawingml/2006/main">
              <a:ext uri="{FF2B5EF4-FFF2-40B4-BE49-F238E27FC236}">
                <a16:creationId xmlns:a16="http://schemas.microsoft.com/office/drawing/2014/main" id="{8065906E-A82B-4741-9176-1700A3915056}"/>
              </a:ext>
            </a:extLst>
          </p:cNvPr>
          <p:cNvSpPr>
            <a:spLocks xmlns:a="http://schemas.openxmlformats.org/drawingml/2006/main" noGrp="1"/>
          </p:cNvSpPr>
          <p:nvPr/>
        </p:nvSpPr>
        <p:spPr>
          <a:xfrm xmlns:a="http://schemas.openxmlformats.org/drawingml/2006/main">
            <a:off x="8477250" y="4038600"/>
            <a:ext cx="342900" cy="323850"/>
          </a:xfrm>
          <a:prstGeom xmlns:a="http://schemas.openxmlformats.org/drawingml/2006/main" prst="rightArrow">
            <a:avLst/>
          </a:prstGeom>
          <a:solidFill xmlns:a="http://schemas.openxmlformats.org/drawingml/2006/main">
            <a:srgbClr val="D49A34"/>
          </a:solidFill>
          <a:ln xmlns:a="http://schemas.openxmlformats.org/drawingml/2006/main" w="0">
            <a:noFill/>
            <a:prstDash val="solid"/>
          </a:ln>
        </p:spPr>
      </p:sp>
      <p:sp>
        <p:nvSpPr>
          <p:cNvPr id="14" name="step-label-3">
            <a:extLst xmlns:a="http://schemas.openxmlformats.org/drawingml/2006/main">
              <a:ext uri="{FF2B5EF4-FFF2-40B4-BE49-F238E27FC236}">
                <a16:creationId xmlns:a16="http://schemas.microsoft.com/office/drawing/2014/main" id="{414A1C33-10A0-45A0-8B8D-18669CB60D33}"/>
              </a:ext>
            </a:extLst>
          </p:cNvPr>
          <p:cNvSpPr>
            <a:spLocks xmlns:a="http://schemas.openxmlformats.org/drawingml/2006/main" noGrp="1"/>
          </p:cNvSpPr>
          <p:nvPr/>
        </p:nvSpPr>
        <p:spPr>
          <a:xfrm xmlns:a="http://schemas.openxmlformats.org/drawingml/2006/main">
            <a:off x="60960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49A34"/>
                </a:solidFill>
                <a:latin typeface="Aptos"/>
                <a:ea typeface="Aptos"/>
                <a:cs typeface="Aptos"/>
              </a:defRPr>
            </a:pPr>
            <a:r>
              <a:rPr sz="1200" b="1">
                <a:solidFill>
                  <a:srgbClr val="D49A34"/>
                </a:solidFill>
                <a:latin typeface="Aptos"/>
                <a:ea typeface="Aptos"/>
                <a:cs typeface="Aptos"/>
              </a:rPr>
              <a:t>3  EXPLAIN</a:t>
            </a:r>
          </a:p>
        </p:txBody>
      </p:sp>
      <p:sp>
        <p:nvSpPr>
          <p:cNvPr id="15" name="step-text-3">
            <a:extLst xmlns:a="http://schemas.openxmlformats.org/drawingml/2006/main">
              <a:ext uri="{FF2B5EF4-FFF2-40B4-BE49-F238E27FC236}">
                <a16:creationId xmlns:a16="http://schemas.microsoft.com/office/drawing/2014/main" id="{B726E95E-6009-4910-91ED-B3107990E15E}"/>
              </a:ext>
            </a:extLst>
          </p:cNvPr>
          <p:cNvSpPr>
            <a:spLocks xmlns:a="http://schemas.openxmlformats.org/drawingml/2006/main" noGrp="1"/>
          </p:cNvSpPr>
          <p:nvPr/>
        </p:nvSpPr>
        <p:spPr>
          <a:xfrm xmlns:a="http://schemas.openxmlformats.org/drawingml/2006/main">
            <a:off x="60960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Compare at least one alternative or trade-off for two actions.</a:t>
            </a:r>
          </a:p>
        </p:txBody>
      </p:sp>
      <p:sp>
        <p:nvSpPr>
          <p:cNvPr id="16" name="step-label-4">
            <a:extLst xmlns:a="http://schemas.openxmlformats.org/drawingml/2006/main">
              <a:ext uri="{FF2B5EF4-FFF2-40B4-BE49-F238E27FC236}">
                <a16:creationId xmlns:a16="http://schemas.microsoft.com/office/drawing/2014/main" id="{C44698D5-2AE9-4903-A082-BDD5D38704C3}"/>
              </a:ext>
            </a:extLst>
          </p:cNvPr>
          <p:cNvSpPr>
            <a:spLocks xmlns:a="http://schemas.openxmlformats.org/drawingml/2006/main" noGrp="1"/>
          </p:cNvSpPr>
          <p:nvPr/>
        </p:nvSpPr>
        <p:spPr>
          <a:xfrm xmlns:a="http://schemas.openxmlformats.org/drawingml/2006/main">
            <a:off x="88773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C4E4A"/>
                </a:solidFill>
                <a:latin typeface="Aptos"/>
                <a:ea typeface="Aptos"/>
                <a:cs typeface="Aptos"/>
              </a:defRPr>
            </a:pPr>
            <a:r>
              <a:rPr sz="1200" b="1">
                <a:solidFill>
                  <a:srgbClr val="0C4E4A"/>
                </a:solidFill>
                <a:latin typeface="Aptos"/>
                <a:ea typeface="Aptos"/>
                <a:cs typeface="Aptos"/>
              </a:rPr>
              <a:t>4  CHECK</a:t>
            </a:r>
          </a:p>
        </p:txBody>
      </p:sp>
      <p:sp>
        <p:nvSpPr>
          <p:cNvPr id="17" name="step-text-4">
            <a:extLst xmlns:a="http://schemas.openxmlformats.org/drawingml/2006/main">
              <a:ext uri="{FF2B5EF4-FFF2-40B4-BE49-F238E27FC236}">
                <a16:creationId xmlns:a16="http://schemas.microsoft.com/office/drawing/2014/main" id="{C8AF9925-56E5-44D4-929A-D341B2A36168}"/>
              </a:ext>
            </a:extLst>
          </p:cNvPr>
          <p:cNvSpPr>
            <a:spLocks xmlns:a="http://schemas.openxmlformats.org/drawingml/2006/main" noGrp="1"/>
          </p:cNvSpPr>
          <p:nvPr/>
        </p:nvSpPr>
        <p:spPr>
          <a:xfrm xmlns:a="http://schemas.openxmlformats.org/drawingml/2006/main">
            <a:off x="88773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Propose offcut checks and safe-control steps before final use.</a:t>
            </a:r>
          </a:p>
        </p:txBody>
      </p:sp>
      <p:sp>
        <p:nvSpPr>
          <p:cNvPr id="18" name="starter">
            <a:extLst xmlns:a="http://schemas.openxmlformats.org/drawingml/2006/main">
              <a:ext uri="{FF2B5EF4-FFF2-40B4-BE49-F238E27FC236}">
                <a16:creationId xmlns:a16="http://schemas.microsoft.com/office/drawing/2014/main" id="{1E36503E-934D-4BDB-A999-A564BB900C9F}"/>
              </a:ext>
            </a:extLst>
          </p:cNvPr>
          <p:cNvSpPr>
            <a:spLocks xmlns:a="http://schemas.openxmlformats.org/drawingml/2006/main" noGrp="1"/>
          </p:cNvSpPr>
          <p:nvPr/>
        </p:nvSpPr>
        <p:spPr>
          <a:xfrm xmlns:a="http://schemas.openxmlformats.org/drawingml/2006/main">
            <a:off x="533400" y="5429250"/>
            <a:ext cx="11125200" cy="704850"/>
          </a:xfrm>
          <a:prstGeom xmlns:a="http://schemas.openxmlformats.org/drawingml/2006/main" prst="roundRect">
            <a:avLst>
              <a:gd name="adj" fmla="val 16216"/>
            </a:avLst>
          </a:prstGeom>
          <a:solidFill xmlns:a="http://schemas.openxmlformats.org/drawingml/2006/main">
            <a:srgbClr val="FFF4D5"/>
          </a:solidFill>
          <a:ln xmlns:a="http://schemas.openxmlformats.org/drawingml/2006/main" w="9525">
            <a:solidFill>
              <a:srgbClr val="E7C87E"/>
            </a:solidFill>
            <a:prstDash val="solid"/>
          </a:ln>
        </p:spPr>
      </p:sp>
      <p:sp>
        <p:nvSpPr>
          <p:cNvPr id="19" name="starter-label">
            <a:extLst xmlns:a="http://schemas.openxmlformats.org/drawingml/2006/main">
              <a:ext uri="{FF2B5EF4-FFF2-40B4-BE49-F238E27FC236}">
                <a16:creationId xmlns:a16="http://schemas.microsoft.com/office/drawing/2014/main" id="{434FDE49-5873-4EF0-B529-C6052F37E292}"/>
              </a:ext>
            </a:extLst>
          </p:cNvPr>
          <p:cNvSpPr>
            <a:spLocks xmlns:a="http://schemas.openxmlformats.org/drawingml/2006/main" noGrp="1"/>
          </p:cNvSpPr>
          <p:nvPr/>
        </p:nvSpPr>
        <p:spPr>
          <a:xfrm xmlns:a="http://schemas.openxmlformats.org/drawingml/2006/main">
            <a:off x="742950" y="55816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SENTENCE STARTER</a:t>
            </a:r>
          </a:p>
        </p:txBody>
      </p:sp>
      <p:sp>
        <p:nvSpPr>
          <p:cNvPr id="20" name="starter-text">
            <a:extLst xmlns:a="http://schemas.openxmlformats.org/drawingml/2006/main">
              <a:ext uri="{FF2B5EF4-FFF2-40B4-BE49-F238E27FC236}">
                <a16:creationId xmlns:a16="http://schemas.microsoft.com/office/drawing/2014/main" id="{F8F8B373-AA9D-4317-9473-0AC3C590B761}"/>
              </a:ext>
            </a:extLst>
          </p:cNvPr>
          <p:cNvSpPr>
            <a:spLocks xmlns:a="http://schemas.openxmlformats.org/drawingml/2006/main" noGrp="1"/>
          </p:cNvSpPr>
          <p:nvPr/>
        </p:nvSpPr>
        <p:spPr>
          <a:xfrm xmlns:a="http://schemas.openxmlformats.org/drawingml/2006/main">
            <a:off x="2381250" y="5553075"/>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The strongest evidence is … because it shows … This changes my decision by …</a:t>
            </a:r>
          </a:p>
        </p:txBody>
      </p:sp>
      <p:sp>
        <p:nvSpPr>
          <p:cNvPr id="21" name="footer-module">
            <a:extLst xmlns:a="http://schemas.openxmlformats.org/drawingml/2006/main">
              <a:ext uri="{FF2B5EF4-FFF2-40B4-BE49-F238E27FC236}">
                <a16:creationId xmlns:a16="http://schemas.microsoft.com/office/drawing/2014/main" id="{7A4CAC0E-6C23-4740-8F3B-8C2DBE72EBB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02</a:t>
            </a:r>
          </a:p>
        </p:txBody>
      </p:sp>
      <p:sp>
        <p:nvSpPr>
          <p:cNvPr id="22" name="footer-page">
            <a:extLst xmlns:a="http://schemas.openxmlformats.org/drawingml/2006/main">
              <a:ext uri="{FF2B5EF4-FFF2-40B4-BE49-F238E27FC236}">
                <a16:creationId xmlns:a16="http://schemas.microsoft.com/office/drawing/2014/main" id="{92C9EEE2-59A2-43A2-AC27-144D702DDA28}"/>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07</a:t>
            </a:r>
          </a:p>
        </p:txBody>
      </p:sp>
    </p:spTree>
    <p:extLst>
      <p:ext uri="{BB962C8B-B14F-4D97-AF65-F5344CB8AC3E}">
        <p14:creationId xmlns:p14="http://schemas.microsoft.com/office/powerpoint/2010/main" val="1890702116"/>
      </p:ext>
    </p:extLst>
  </p:cSld>
</p:sld>
</file>

<file path=ppt/slides/slide8.xml><?xml version="1.0" encoding="utf-8"?>
<p:sld xmlns:p="http://schemas.openxmlformats.org/presentationml/2006/main">
  <p:cSld>
    <p:bg>
      <p:bgPr>
        <a:solidFill xmlns:a="http://schemas.openxmlformats.org/drawingml/2006/main">
          <a:srgbClr val="BF4C5A"/>
        </a:solidFill>
      </p:bgPr>
    </p:bg>
    <p:spTree>
      <p:nvGrpSpPr>
        <p:cNvPr id="1" name=""/>
        <p:cNvGrpSpPr/>
        <p:nvPr/>
      </p:nvGrpSpPr>
      <p:grpSpPr>
        <a:xfrm xmlns:a="http://schemas.openxmlformats.org/drawingml/2006/main"/>
      </p:grpSpPr>
      <p:sp>
        <p:nvSpPr>
          <p:cNvPr id="18" name="top-rule">
            <a:extLst xmlns:a="http://schemas.openxmlformats.org/drawingml/2006/main">
              <a:ext uri="{FF2B5EF4-FFF2-40B4-BE49-F238E27FC236}">
                <a16:creationId xmlns:a16="http://schemas.microsoft.com/office/drawing/2014/main" id="{67A44CFB-8D31-4401-8E33-B28982D808F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E18C9687-0893-44CF-A2B9-D34711743E02}"/>
              </a:ext>
            </a:extLst>
          </p:cNvPr>
          <p:cNvSpPr>
            <a:spLocks xmlns:a="http://schemas.openxmlformats.org/drawingml/2006/main" noGrp="1"/>
          </p:cNvSpPr>
          <p:nvPr/>
        </p:nvSpPr>
        <p:spPr>
          <a:xfrm xmlns:a="http://schemas.openxmlformats.org/drawingml/2006/main">
            <a:off x="5334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0BF"/>
                </a:solidFill>
                <a:latin typeface="Aptos"/>
                <a:ea typeface="Aptos"/>
                <a:cs typeface="Aptos"/>
              </a:defRPr>
            </a:pPr>
            <a:r>
              <a:rPr sz="1050" b="1">
                <a:solidFill>
                  <a:srgbClr val="FFF0BF"/>
                </a:solidFill>
                <a:latin typeface="Aptos"/>
                <a:ea typeface="Aptos"/>
                <a:cs typeface="Aptos"/>
              </a:rPr>
              <a:t>CLOSE THE LOOP</a:t>
            </a:r>
          </a:p>
        </p:txBody>
      </p:sp>
      <p:sp>
        <p:nvSpPr>
          <p:cNvPr id="3" name="title">
            <a:extLst xmlns:a="http://schemas.openxmlformats.org/drawingml/2006/main">
              <a:ext uri="{FF2B5EF4-FFF2-40B4-BE49-F238E27FC236}">
                <a16:creationId xmlns:a16="http://schemas.microsoft.com/office/drawing/2014/main" id="{E61BA78C-A9E8-4FF3-80F2-4434C79399CA}"/>
              </a:ext>
            </a:extLst>
          </p:cNvPr>
          <p:cNvSpPr>
            <a:spLocks xmlns:a="http://schemas.openxmlformats.org/drawingml/2006/main" noGrp="1"/>
          </p:cNvSpPr>
          <p:nvPr/>
        </p:nvSpPr>
        <p:spPr>
          <a:xfrm xmlns:a="http://schemas.openxmlformats.org/drawingml/2006/main">
            <a:off x="533400" y="81915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Before you pack up…</a:t>
            </a:r>
          </a:p>
        </p:txBody>
      </p:sp>
      <p:sp>
        <p:nvSpPr>
          <p:cNvPr id="4" name="exit-1">
            <a:extLst xmlns:a="http://schemas.openxmlformats.org/drawingml/2006/main">
              <a:ext uri="{FF2B5EF4-FFF2-40B4-BE49-F238E27FC236}">
                <a16:creationId xmlns:a16="http://schemas.microsoft.com/office/drawing/2014/main" id="{41F26EC2-DC65-4388-8DC2-B598A4DD625C}"/>
              </a:ext>
            </a:extLst>
          </p:cNvPr>
          <p:cNvSpPr>
            <a:spLocks xmlns:a="http://schemas.openxmlformats.org/drawingml/2006/main" noGrp="1"/>
          </p:cNvSpPr>
          <p:nvPr/>
        </p:nvSpPr>
        <p:spPr>
          <a:xfrm xmlns:a="http://schemas.openxmlformats.org/drawingml/2006/main">
            <a:off x="533400" y="17907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5" name="exit-text-1">
            <a:extLst xmlns:a="http://schemas.openxmlformats.org/drawingml/2006/main">
              <a:ext uri="{FF2B5EF4-FFF2-40B4-BE49-F238E27FC236}">
                <a16:creationId xmlns:a16="http://schemas.microsoft.com/office/drawing/2014/main" id="{320D769B-06E4-4BF9-BAD8-DCF6CAB20235}"/>
              </a:ext>
            </a:extLst>
          </p:cNvPr>
          <p:cNvSpPr>
            <a:spLocks xmlns:a="http://schemas.openxmlformats.org/drawingml/2006/main" noGrp="1"/>
          </p:cNvSpPr>
          <p:nvPr/>
        </p:nvSpPr>
        <p:spPr>
          <a:xfrm xmlns:a="http://schemas.openxmlformats.org/drawingml/2006/main">
            <a:off x="781050" y="19335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1. One idea I can now explain is…</a:t>
            </a:r>
          </a:p>
        </p:txBody>
      </p:sp>
      <p:sp>
        <p:nvSpPr>
          <p:cNvPr id="6" name="exit-2">
            <a:extLst xmlns:a="http://schemas.openxmlformats.org/drawingml/2006/main">
              <a:ext uri="{FF2B5EF4-FFF2-40B4-BE49-F238E27FC236}">
                <a16:creationId xmlns:a16="http://schemas.microsoft.com/office/drawing/2014/main" id="{282785D5-B17D-4B99-AF63-76177E507A1C}"/>
              </a:ext>
            </a:extLst>
          </p:cNvPr>
          <p:cNvSpPr>
            <a:spLocks xmlns:a="http://schemas.openxmlformats.org/drawingml/2006/main" noGrp="1"/>
          </p:cNvSpPr>
          <p:nvPr/>
        </p:nvSpPr>
        <p:spPr>
          <a:xfrm xmlns:a="http://schemas.openxmlformats.org/drawingml/2006/main">
            <a:off x="533400" y="26289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7" name="exit-text-2">
            <a:extLst xmlns:a="http://schemas.openxmlformats.org/drawingml/2006/main">
              <a:ext uri="{FF2B5EF4-FFF2-40B4-BE49-F238E27FC236}">
                <a16:creationId xmlns:a16="http://schemas.microsoft.com/office/drawing/2014/main" id="{20CF5576-F76D-4C4C-8666-9190666DB837}"/>
              </a:ext>
            </a:extLst>
          </p:cNvPr>
          <p:cNvSpPr>
            <a:spLocks xmlns:a="http://schemas.openxmlformats.org/drawingml/2006/main" noGrp="1"/>
          </p:cNvSpPr>
          <p:nvPr/>
        </p:nvSpPr>
        <p:spPr>
          <a:xfrm xmlns:a="http://schemas.openxmlformats.org/drawingml/2006/main">
            <a:off x="781050" y="27717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2. One decision or practical action this changes is…</a:t>
            </a:r>
          </a:p>
        </p:txBody>
      </p:sp>
      <p:sp>
        <p:nvSpPr>
          <p:cNvPr id="8" name="exit-3">
            <a:extLst xmlns:a="http://schemas.openxmlformats.org/drawingml/2006/main">
              <a:ext uri="{FF2B5EF4-FFF2-40B4-BE49-F238E27FC236}">
                <a16:creationId xmlns:a16="http://schemas.microsoft.com/office/drawing/2014/main" id="{94ADE869-FBFB-465F-B1E7-EC9C803E7AAD}"/>
              </a:ext>
            </a:extLst>
          </p:cNvPr>
          <p:cNvSpPr>
            <a:spLocks xmlns:a="http://schemas.openxmlformats.org/drawingml/2006/main" noGrp="1"/>
          </p:cNvSpPr>
          <p:nvPr/>
        </p:nvSpPr>
        <p:spPr>
          <a:xfrm xmlns:a="http://schemas.openxmlformats.org/drawingml/2006/main">
            <a:off x="533400" y="34671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9" name="exit-text-3">
            <a:extLst xmlns:a="http://schemas.openxmlformats.org/drawingml/2006/main">
              <a:ext uri="{FF2B5EF4-FFF2-40B4-BE49-F238E27FC236}">
                <a16:creationId xmlns:a16="http://schemas.microsoft.com/office/drawing/2014/main" id="{3F572258-57F8-40B2-9839-0D877237E84F}"/>
              </a:ext>
            </a:extLst>
          </p:cNvPr>
          <p:cNvSpPr>
            <a:spLocks xmlns:a="http://schemas.openxmlformats.org/drawingml/2006/main" noGrp="1"/>
          </p:cNvSpPr>
          <p:nvPr/>
        </p:nvSpPr>
        <p:spPr>
          <a:xfrm xmlns:a="http://schemas.openxmlformats.org/drawingml/2006/main">
            <a:off x="781050" y="36099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3. One question I still need answered is…</a:t>
            </a:r>
          </a:p>
        </p:txBody>
      </p:sp>
      <p:sp>
        <p:nvSpPr>
          <p:cNvPr id="10" name="evidence-circle">
            <a:extLst xmlns:a="http://schemas.openxmlformats.org/drawingml/2006/main">
              <a:ext uri="{FF2B5EF4-FFF2-40B4-BE49-F238E27FC236}">
                <a16:creationId xmlns:a16="http://schemas.microsoft.com/office/drawing/2014/main" id="{08888B1A-6F73-4DBD-BF4B-557D130D0524}"/>
              </a:ext>
            </a:extLst>
          </p:cNvPr>
          <p:cNvSpPr>
            <a:spLocks xmlns:a="http://schemas.openxmlformats.org/drawingml/2006/main" noGrp="1"/>
          </p:cNvSpPr>
          <p:nvPr/>
        </p:nvSpPr>
        <p:spPr>
          <a:xfrm xmlns:a="http://schemas.openxmlformats.org/drawingml/2006/main">
            <a:off x="9277350" y="2019300"/>
            <a:ext cx="1676400" cy="1676400"/>
          </a:xfrm>
          <a:prstGeom xmlns:a="http://schemas.openxmlformats.org/drawingml/2006/main" prst="ellipse">
            <a:avLst/>
          </a:prstGeom>
          <a:solidFill xmlns:a="http://schemas.openxmlformats.org/drawingml/2006/main">
            <a:srgbClr val="D49A34"/>
          </a:solidFill>
          <a:ln xmlns:a="http://schemas.openxmlformats.org/drawingml/2006/main" w="9525">
            <a:solidFill>
              <a:srgbClr val="D49A34"/>
            </a:solidFill>
            <a:prstDash val="solid"/>
          </a:ln>
        </p:spPr>
      </p:sp>
      <p:sp>
        <p:nvSpPr>
          <p:cNvPr id="11" name="evidence-destination">
            <a:extLst xmlns:a="http://schemas.openxmlformats.org/drawingml/2006/main">
              <a:ext uri="{FF2B5EF4-FFF2-40B4-BE49-F238E27FC236}">
                <a16:creationId xmlns:a16="http://schemas.microsoft.com/office/drawing/2014/main" id="{FEEF069B-C1F3-4885-952A-8BA9C2FF5658}"/>
              </a:ext>
            </a:extLst>
          </p:cNvPr>
          <p:cNvSpPr>
            <a:spLocks xmlns:a="http://schemas.openxmlformats.org/drawingml/2006/main" noGrp="1"/>
          </p:cNvSpPr>
          <p:nvPr/>
        </p:nvSpPr>
        <p:spPr>
          <a:xfrm xmlns:a="http://schemas.openxmlformats.org/drawingml/2006/main">
            <a:off x="9496425" y="2362200"/>
            <a:ext cx="123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SAVE</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MY FOLIO</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MODULE 2</a:t>
            </a:r>
          </a:p>
        </p:txBody>
      </p:sp>
      <p:sp>
        <p:nvSpPr>
          <p:cNvPr id="12" name="teacher-confirm">
            <a:extLst xmlns:a="http://schemas.openxmlformats.org/drawingml/2006/main">
              <a:ext uri="{FF2B5EF4-FFF2-40B4-BE49-F238E27FC236}">
                <a16:creationId xmlns:a16="http://schemas.microsoft.com/office/drawing/2014/main" id="{9D025BA0-6AF1-48BF-A6D8-78FD9E9BA341}"/>
              </a:ext>
            </a:extLst>
          </p:cNvPr>
          <p:cNvSpPr>
            <a:spLocks xmlns:a="http://schemas.openxmlformats.org/drawingml/2006/main" noGrp="1"/>
          </p:cNvSpPr>
          <p:nvPr/>
        </p:nvSpPr>
        <p:spPr>
          <a:xfrm xmlns:a="http://schemas.openxmlformats.org/drawingml/2006/main">
            <a:off x="533400" y="4438650"/>
            <a:ext cx="11125200" cy="819150"/>
          </a:xfrm>
          <a:prstGeom xmlns:a="http://schemas.openxmlformats.org/drawingml/2006/main" prst="roundRect">
            <a:avLst>
              <a:gd name="adj" fmla="val 13953"/>
            </a:avLst>
          </a:prstGeom>
          <a:solidFill xmlns:a="http://schemas.openxmlformats.org/drawingml/2006/main">
            <a:srgbClr val="8F3340"/>
          </a:solidFill>
          <a:ln xmlns:a="http://schemas.openxmlformats.org/drawingml/2006/main" w="9525">
            <a:solidFill>
              <a:srgbClr val="D9828E"/>
            </a:solidFill>
            <a:prstDash val="solid"/>
          </a:ln>
        </p:spPr>
      </p:sp>
      <p:sp>
        <p:nvSpPr>
          <p:cNvPr id="13" name="teacher-confirm-text">
            <a:extLst xmlns:a="http://schemas.openxmlformats.org/drawingml/2006/main">
              <a:ext uri="{FF2B5EF4-FFF2-40B4-BE49-F238E27FC236}">
                <a16:creationId xmlns:a16="http://schemas.microsoft.com/office/drawing/2014/main" id="{0F0AECD9-3813-478E-85A6-44B9349ED471}"/>
              </a:ext>
            </a:extLst>
          </p:cNvPr>
          <p:cNvSpPr>
            <a:spLocks xmlns:a="http://schemas.openxmlformats.org/drawingml/2006/main" noGrp="1"/>
          </p:cNvSpPr>
          <p:nvPr/>
        </p:nvSpPr>
        <p:spPr>
          <a:xfrm xmlns:a="http://schemas.openxmlformats.org/drawingml/2006/main">
            <a:off x="742950" y="4572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275" b="1">
                <a:solidFill>
                  <a:srgbClr val="FFFFFF"/>
                </a:solidFill>
                <a:latin typeface="Aptos"/>
                <a:ea typeface="Aptos"/>
                <a:cs typeface="Aptos"/>
              </a:defRPr>
            </a:pPr>
            <a:r>
              <a:rPr sz="1275" b="1">
                <a:solidFill>
                  <a:srgbClr val="FFFFFF"/>
                </a:solidFill>
                <a:latin typeface="Aptos"/>
                <a:ea typeface="Aptos"/>
                <a:cs typeface="Aptos"/>
              </a:rPr>
              <a:t>TEACHER TO CONFIRM  •  Current local textiles-room induction; Iron permissions and local heat-tool procedure</a:t>
            </a:r>
          </a:p>
        </p:txBody>
      </p:sp>
      <p:sp>
        <p:nvSpPr>
          <p:cNvPr id="14" name="next-step-label">
            <a:extLst xmlns:a="http://schemas.openxmlformats.org/drawingml/2006/main">
              <a:ext uri="{FF2B5EF4-FFF2-40B4-BE49-F238E27FC236}">
                <a16:creationId xmlns:a16="http://schemas.microsoft.com/office/drawing/2014/main" id="{9264CD5D-95BD-48E6-A01E-6FF01052E4A8}"/>
              </a:ext>
            </a:extLst>
          </p:cNvPr>
          <p:cNvSpPr>
            <a:spLocks xmlns:a="http://schemas.openxmlformats.org/drawingml/2006/main" noGrp="1"/>
          </p:cNvSpPr>
          <p:nvPr/>
        </p:nvSpPr>
        <p:spPr>
          <a:xfrm xmlns:a="http://schemas.openxmlformats.org/drawingml/2006/main">
            <a:off x="533400" y="55435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0BF"/>
                </a:solidFill>
                <a:latin typeface="Aptos"/>
                <a:ea typeface="Aptos"/>
                <a:cs typeface="Aptos"/>
              </a:defRPr>
            </a:pPr>
            <a:r>
              <a:rPr sz="900" b="1">
                <a:solidFill>
                  <a:srgbClr val="FFF0BF"/>
                </a:solidFill>
                <a:latin typeface="Aptos"/>
                <a:ea typeface="Aptos"/>
                <a:cs typeface="Aptos"/>
              </a:rPr>
              <a:t>NEXT STEP</a:t>
            </a:r>
          </a:p>
        </p:txBody>
      </p:sp>
      <p:sp>
        <p:nvSpPr>
          <p:cNvPr id="15" name="next-step">
            <a:extLst xmlns:a="http://schemas.openxmlformats.org/drawingml/2006/main">
              <a:ext uri="{FF2B5EF4-FFF2-40B4-BE49-F238E27FC236}">
                <a16:creationId xmlns:a16="http://schemas.microsoft.com/office/drawing/2014/main" id="{C92E2C77-5ABC-4A71-83CE-9EE68E8AB0FA}"/>
              </a:ext>
            </a:extLst>
          </p:cNvPr>
          <p:cNvSpPr>
            <a:spLocks xmlns:a="http://schemas.openxmlformats.org/drawingml/2006/main" noGrp="1"/>
          </p:cNvSpPr>
          <p:nvPr/>
        </p:nvSpPr>
        <p:spPr>
          <a:xfrm xmlns:a="http://schemas.openxmlformats.org/drawingml/2006/main">
            <a:off x="1676400" y="5486400"/>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FFFFFF"/>
                </a:solidFill>
                <a:latin typeface="Aptos"/>
                <a:ea typeface="Aptos"/>
                <a:cs typeface="Aptos"/>
              </a:defRPr>
            </a:pPr>
            <a:r>
              <a:rPr sz="1350" b="1">
                <a:solidFill>
                  <a:srgbClr val="FFFFFF"/>
                </a:solidFill>
                <a:latin typeface="Aptos"/>
                <a:ea typeface="Aptos"/>
                <a:cs typeface="Aptos"/>
              </a:rPr>
              <a:t>Students will identify sewing-machine parts and connect each part to a function.</a:t>
            </a:r>
          </a:p>
        </p:txBody>
      </p:sp>
      <p:sp>
        <p:nvSpPr>
          <p:cNvPr id="16" name="status-boundary">
            <a:extLst xmlns:a="http://schemas.openxmlformats.org/drawingml/2006/main">
              <a:ext uri="{FF2B5EF4-FFF2-40B4-BE49-F238E27FC236}">
                <a16:creationId xmlns:a16="http://schemas.microsoft.com/office/drawing/2014/main" id="{759B7B52-693B-438A-84D7-FB4D6F26BB47}"/>
              </a:ext>
            </a:extLst>
          </p:cNvPr>
          <p:cNvSpPr>
            <a:spLocks xmlns:a="http://schemas.openxmlformats.org/drawingml/2006/main" noGrp="1"/>
          </p:cNvSpPr>
          <p:nvPr/>
        </p:nvSpPr>
        <p:spPr>
          <a:xfrm xmlns:a="http://schemas.openxmlformats.org/drawingml/2006/main">
            <a:off x="533400" y="61912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a:solidFill>
                  <a:srgbClr val="FBE5E8"/>
                </a:solidFill>
                <a:latin typeface="Aptos"/>
                <a:ea typeface="Aptos"/>
                <a:cs typeface="Aptos"/>
              </a:defRPr>
            </a:pPr>
            <a:r>
              <a:rPr sz="975">
                <a:solidFill>
                  <a:srgbClr val="FBE5E8"/>
                </a:solidFill>
                <a:latin typeface="Aptos"/>
                <a:ea typeface="Aptos"/>
                <a:cs typeface="Aptos"/>
              </a:rPr>
              <a:t>Formative classroom evidence only — follow your teacher’s current submission process.</a:t>
            </a:r>
          </a:p>
        </p:txBody>
      </p:sp>
      <p:sp>
        <p:nvSpPr>
          <p:cNvPr id="17" name="page">
            <a:extLst xmlns:a="http://schemas.openxmlformats.org/drawingml/2006/main">
              <a:ext uri="{FF2B5EF4-FFF2-40B4-BE49-F238E27FC236}">
                <a16:creationId xmlns:a16="http://schemas.microsoft.com/office/drawing/2014/main" id="{779E2C4A-BBA9-4FFB-9BDE-EB7D47BD2F82}"/>
              </a:ext>
            </a:extLst>
          </p:cNvPr>
          <p:cNvSpPr>
            <a:spLocks xmlns:a="http://schemas.openxmlformats.org/drawingml/2006/main" noGrp="1"/>
          </p:cNvSpPr>
          <p:nvPr/>
        </p:nvSpPr>
        <p:spPr>
          <a:xfrm xmlns:a="http://schemas.openxmlformats.org/drawingml/2006/main">
            <a:off x="11182350" y="61912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FBE5E8"/>
                </a:solidFill>
                <a:latin typeface="Aptos"/>
                <a:ea typeface="Aptos"/>
                <a:cs typeface="Aptos"/>
              </a:defRPr>
            </a:pPr>
            <a:r>
              <a:rPr sz="900" b="1">
                <a:solidFill>
                  <a:srgbClr val="FBE5E8"/>
                </a:solidFill>
                <a:latin typeface="Aptos"/>
                <a:ea typeface="Aptos"/>
                <a:cs typeface="Aptos"/>
              </a:rPr>
              <a:t>08</a:t>
            </a:r>
          </a:p>
        </p:txBody>
      </p:sp>
    </p:spTree>
    <p:extLst>
      <p:ext uri="{BB962C8B-B14F-4D97-AF65-F5344CB8AC3E}">
        <p14:creationId xmlns:p14="http://schemas.microsoft.com/office/powerpoint/2010/main" val="12220319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2026-08-27T08:40:33.7090000Z</dcterms:created>
  <dcterms:modified xsi:type="dcterms:W3CDTF">2026-08-27T08:40:33.7090000Z</dcterms:modified>
</coreProperties>
</file>