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4e638a2aed481e" /><Relationship Type="http://schemas.openxmlformats.org/officeDocument/2006/relationships/extended-properties" Target="/docProps/app.xml" Id="Rb9e07fa56fe54cdd" /><Relationship Type="http://schemas.openxmlformats.org/officeDocument/2006/relationships/officeDocument" Target="/ppt/presentation.xml" Id="Re433c29f064c4ede" /></Relationships>
</file>

<file path=ppt/presentation.xml><?xml version="1.0" encoding="utf-8"?>
<p:presentation xmlns:p="http://schemas.openxmlformats.org/presentationml/2006/main">
  <p:sldMasterIdLst>
    <p:sldMasterId xmlns:r="http://schemas.openxmlformats.org/officeDocument/2006/relationships" id="2147483648" r:id="R48481a1d50074db1"/>
  </p:sldMasterIdLst>
  <p:notesMasterIdLst>
    <p:notesMasterId xmlns:r="http://schemas.openxmlformats.org/officeDocument/2006/relationships" r:id="Raa1bdb99a2f64cf3"/>
  </p:notesMasterIdLst>
  <p:sldIdLst>
    <p:sldId xmlns:r="http://schemas.openxmlformats.org/officeDocument/2006/relationships" id="256" r:id="Rcdc926c7f2e649d2"/>
    <p:sldId xmlns:r="http://schemas.openxmlformats.org/officeDocument/2006/relationships" id="257" r:id="Re05741aeec5245c1"/>
    <p:sldId xmlns:r="http://schemas.openxmlformats.org/officeDocument/2006/relationships" id="258" r:id="R529328d7b677404b"/>
    <p:sldId xmlns:r="http://schemas.openxmlformats.org/officeDocument/2006/relationships" id="259" r:id="R80f631fdce194b2e"/>
    <p:sldId xmlns:r="http://schemas.openxmlformats.org/officeDocument/2006/relationships" id="260" r:id="R4e3b7498c6334d75"/>
    <p:sldId xmlns:r="http://schemas.openxmlformats.org/officeDocument/2006/relationships" id="261" r:id="R7b3af0e6758a499d"/>
    <p:sldId xmlns:r="http://schemas.openxmlformats.org/officeDocument/2006/relationships" id="262" r:id="Rd67fb9f2e24d4c1d"/>
    <p:sldId xmlns:r="http://schemas.openxmlformats.org/officeDocument/2006/relationships" id="263" r:id="Rc706478d5bea47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2304dbdc6d4ef7" /><Relationship Type="http://schemas.openxmlformats.org/officeDocument/2006/relationships/slideMaster" Target="/ppt/slideMasters/slideMaster1.xml" Id="R48481a1d50074db1" /><Relationship Type="http://schemas.openxmlformats.org/officeDocument/2006/relationships/notesMaster" Target="/ppt/notesMasters/notesMaster1.xml" Id="Raa1bdb99a2f64cf3" /><Relationship Type="http://schemas.openxmlformats.org/officeDocument/2006/relationships/presProps" Target="/ppt/presProps.xml" Id="R4e8cbd82c239400b" /><Relationship Type="http://schemas.openxmlformats.org/officeDocument/2006/relationships/tableStyles" Target="/ppt/tableStyles.xml" Id="R9c56d9894c464568" /><Relationship Type="http://schemas.openxmlformats.org/officeDocument/2006/relationships/slide" Target="/ppt/slides/slide1.xml" Id="Rcdc926c7f2e649d2" /><Relationship Type="http://schemas.openxmlformats.org/officeDocument/2006/relationships/slide" Target="/ppt/slides/slide2.xml" Id="Re05741aeec5245c1" /><Relationship Type="http://schemas.openxmlformats.org/officeDocument/2006/relationships/slide" Target="/ppt/slides/slide3.xml" Id="R529328d7b677404b" /><Relationship Type="http://schemas.openxmlformats.org/officeDocument/2006/relationships/slide" Target="/ppt/slides/slide4.xml" Id="R80f631fdce194b2e" /><Relationship Type="http://schemas.openxmlformats.org/officeDocument/2006/relationships/slide" Target="/ppt/slides/slide5.xml" Id="R4e3b7498c6334d75" /><Relationship Type="http://schemas.openxmlformats.org/officeDocument/2006/relationships/slide" Target="/ppt/slides/slide6.xml" Id="R7b3af0e6758a499d" /><Relationship Type="http://schemas.openxmlformats.org/officeDocument/2006/relationships/slide" Target="/ppt/slides/slide7.xml" Id="Rd67fb9f2e24d4c1d" /><Relationship Type="http://schemas.openxmlformats.org/officeDocument/2006/relationships/slide" Target="/ppt/slides/slide8.xml" Id="Rc706478d5bea47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345acdae6948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df22e655f34e33" /><Relationship Type="http://schemas.openxmlformats.org/officeDocument/2006/relationships/notesMaster" Target="/ppt/notesMasters/notesMaster1.xml" Id="Rd74b79f405c94a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63fa9655f04080" /><Relationship Type="http://schemas.openxmlformats.org/officeDocument/2006/relationships/notesMaster" Target="/ppt/notesMasters/notesMaster1.xml" Id="Rb6521ecf00574e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283d52f5814853" /><Relationship Type="http://schemas.openxmlformats.org/officeDocument/2006/relationships/notesMaster" Target="/ppt/notesMasters/notesMaster1.xml" Id="R71322810fb074e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58de9c3f574afa" /><Relationship Type="http://schemas.openxmlformats.org/officeDocument/2006/relationships/notesMaster" Target="/ppt/notesMasters/notesMaster1.xml" Id="Rd6d128b4dd8940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6363243865402a" /><Relationship Type="http://schemas.openxmlformats.org/officeDocument/2006/relationships/notesMaster" Target="/ppt/notesMasters/notesMaster1.xml" Id="R6570c245098647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8177823e5f4306" /><Relationship Type="http://schemas.openxmlformats.org/officeDocument/2006/relationships/notesMaster" Target="/ppt/notesMasters/notesMaster1.xml" Id="Rb45af7cf709540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fce6b143364e20" /><Relationship Type="http://schemas.openxmlformats.org/officeDocument/2006/relationships/notesMaster" Target="/ppt/notesMasters/notesMaster1.xml" Id="Rddddcb8b6bd546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c3e023624049e8" /><Relationship Type="http://schemas.openxmlformats.org/officeDocument/2006/relationships/notesMaster" Target="/ppt/notesMasters/notesMaster1.xml" Id="R1a60fccb8bae4c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module outcome: Test the completed design against meaningful criteria and assemble honest evidence of product, process, safety and learning.</a:t>
            </a:r>
          </a:p>
          <a:p xmlns:a="http://schemas.openxmlformats.org/drawingml/2006/main">
            <a:r>
              <a:t>Invite one student example or prediction before showing the learning map.</a:t>
            </a:r>
          </a:p>
          <a:p xmlns:a="http://schemas.openxmlformats.org/drawingml/2006/main">
            <a:r>
              <a:t>Transition: the module has three connected ideas, and each will end in a decision or evidence action.</a:t>
            </a:r>
          </a:p>
          <a:p xmlns:a="http://schemas.openxmlformats.org/drawingml/2006/main">
            <a:r>
              <a:t>Likely misconceptions: A product is successful if its maker likes how it looks, so no test is needed. | Durability can be proven by deliberately overloading and damaging the product.</a:t>
            </a:r>
          </a:p>
          <a:p xmlns:a="http://schemas.openxmlformats.org/drawingml/2006/main">
            <a:r>
              <a:t>Teacher to confirm: current formal criteria and any performance descriptors; required evaluation and folio evidence format; current assessment notification, dates, weighting, submission process and outcome mapping; how practical and safety observations will be recorded by the teacher; whether any photographs may be captured and the approved privacy process.</a:t>
            </a:r>
          </a:p>
          <a:p xmlns:a="http://schemas.openxmlformats.org/drawingml/2006/main">
            <a:r>
              <a:t>[Sources]</a:t>
            </a:r>
          </a:p>
          <a:p xmlns:a="http://schemas.openxmlformats.org/drawingml/2006/main">
            <a:r>
              <a:t>- Authoritative course records: core-program, core-design-brief, core-production-planning-set, core-historical-assessment, core-machine-safety-set.</a:t>
            </a:r>
          </a:p>
          <a:p xmlns:a="http://schemas.openxmlformats.org/drawingml/2006/main">
            <a:r>
              <a:t>- Matched teaching visual: sew-awesome-hero.png;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three ideas as one learning pathway, not three disconnected topics.</a:t>
            </a:r>
          </a:p>
          <a:p xmlns:a="http://schemas.openxmlformats.org/drawingml/2006/main">
            <a:r>
              <a:t>Warm-up prompt: The bag has been completed through a controlled tote or drawstring pathway and has passed staged construction checks.</a:t>
            </a:r>
          </a:p>
          <a:p xmlns:a="http://schemas.openxmlformats.org/drawingml/2006/main">
            <a:r>
              <a:t>Ask one student to connect prior knowledge to the first section, then signpost the later evidence response.</a:t>
            </a:r>
          </a:p>
          <a:p xmlns:a="http://schemas.openxmlformats.org/drawingml/2006/main">
            <a:r>
              <a:t>Likely misconceptions: A product is successful if its maker likes how it looks, so no test is needed. | Durability can be proven by deliberately overloading and damaging the product.</a:t>
            </a:r>
          </a:p>
          <a:p xmlns:a="http://schemas.openxmlformats.org/drawingml/2006/main">
            <a:r>
              <a:t>Teacher to confirm: current formal criteria and any performance descriptors; required evaluation and folio evidence format; current assessment notification, dates, weighting, submission process and outcome mapping; how practical and safety observations will be recorded by the teacher; whether any photographs may be captured and the approved privacy process.</a:t>
            </a:r>
          </a:p>
          <a:p xmlns:a="http://schemas.openxmlformats.org/drawingml/2006/main">
            <a:r>
              <a:t>[Sources]</a:t>
            </a:r>
          </a:p>
          <a:p xmlns:a="http://schemas.openxmlformats.org/drawingml/2006/main">
            <a:r>
              <a:t>- Authoritative course records: core-program, core-design-brief, core-production-planning-set, core-historical-assessment, core-machine-safety-set.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Teach students to convert broad success ideas into fair tests and evidence-based evaluations of the completed carry item.</a:t>
            </a:r>
          </a:p>
          <a:p xmlns:a="http://schemas.openxmlformats.org/drawingml/2006/main">
            <a:r>
              <a:t>Visual purpose: Show the evidence chain from criterion to test, observation, judgement and improvement.</a:t>
            </a:r>
          </a:p>
          <a:p xmlns:a="http://schemas.openxmlformats.org/drawingml/2006/main">
            <a:r>
              <a:t>Explain only what is shown: A completed bag undergoes a book-load and handle-comfort test beside photographic evidence, blank notes and revised handle samples.</a:t>
            </a:r>
          </a:p>
          <a:p xmlns:a="http://schemas.openxmlformats.org/drawingml/2006/main">
            <a:r>
              <a:t>Student observation prompt: Connect the load test, comfort check, photograph, notes and revised handle samples. What evidence is needed before judging the criterion?</a:t>
            </a:r>
          </a:p>
          <a:p xmlns:a="http://schemas.openxmlformats.org/drawingml/2006/main">
            <a:r>
              <a:t>Applied activity: Turn one broad success claim about a carry item into a controlled, observable product test.</a:t>
            </a:r>
          </a:p>
          <a:p xmlns:a="http://schemas.openxmlformats.org/drawingml/2006/main">
            <a:r>
              <a:t>Transition: Product performance must be considered alongside ethics, environmental impact and safety.</a:t>
            </a:r>
          </a:p>
          <a:p xmlns:a="http://schemas.openxmlformats.org/drawingml/2006/main">
            <a:r>
              <a:t>Likely misconceptions: A product is successful if its maker likes how it looks, so no test is needed. | Durability can be proven by deliberately overloading and damaging the product.</a:t>
            </a:r>
          </a:p>
          <a:p xmlns:a="http://schemas.openxmlformats.org/drawingml/2006/main">
            <a:r>
              <a:t>Teacher to confirm: current formal criteria and any performance descriptors; required evaluation and folio evidence format; current assessment notification, dates, weighting, submission process and outcome mapping; how practical and safety observations will be recorded by the teacher; whether any photographs may be captured and the approved privacy process.</a:t>
            </a:r>
          </a:p>
          <a:p xmlns:a="http://schemas.openxmlformats.org/drawingml/2006/main">
            <a:r>
              <a:t>[Sources]</a:t>
            </a:r>
          </a:p>
          <a:p xmlns:a="http://schemas.openxmlformats.org/drawingml/2006/main">
            <a:r>
              <a:t>- Authoritative course records: core-program, core-design-brief, core-production-planning-set, core-historical-assessment, core-machine-safety-set.</a:t>
            </a:r>
          </a:p>
          <a:p xmlns:a="http://schemas.openxmlformats.org/drawingml/2006/main">
            <a:r>
              <a:t>- Matched teaching visual: visual-m10-s1.png;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Extend evaluation beyond product performance by considering consequences for people, environment and safe production practice.</a:t>
            </a:r>
          </a:p>
          <a:p xmlns:a="http://schemas.openxmlformats.org/drawingml/2006/main">
            <a:r>
              <a:t>Visual purpose: Apply ethics, environment and safety as three responsibility lenses for evaluation.</a:t>
            </a:r>
          </a:p>
          <a:p xmlns:a="http://schemas.openxmlformats.org/drawingml/2006/main">
            <a:r>
              <a:t>Explain only what is shown: A finished bag is evaluated beside source records, reusable offcuts, a repair sample and safely stored textiles equipment.</a:t>
            </a:r>
          </a:p>
          <a:p xmlns:a="http://schemas.openxmlformats.org/drawingml/2006/main">
            <a:r>
              <a:t>Student observation prompt: Identify objects that could support an ethical, environmental or safety evaluation. What additional evidence would each responsibility need?</a:t>
            </a:r>
          </a:p>
          <a:p xmlns:a="http://schemas.openxmlformats.org/drawingml/2006/main">
            <a:r>
              <a:t>Applied activity: Interrogate the claim that a reusable carry item is automatically environmentally responsible.</a:t>
            </a:r>
          </a:p>
          <a:p xmlns:a="http://schemas.openxmlformats.org/drawingml/2006/main">
            <a:r>
              <a:t>Transition: A balanced evaluation becomes part of a folio evidence story that separates product, process, safety and reasoning.</a:t>
            </a:r>
          </a:p>
          <a:p xmlns:a="http://schemas.openxmlformats.org/drawingml/2006/main">
            <a:r>
              <a:t>Likely misconceptions: A product is successful if its maker likes how it looks, so no test is needed. | Durability can be proven by deliberately overloading and damaging the product.</a:t>
            </a:r>
          </a:p>
          <a:p xmlns:a="http://schemas.openxmlformats.org/drawingml/2006/main">
            <a:r>
              <a:t>Teacher to confirm: current formal criteria and any performance descriptors; required evaluation and folio evidence format; current assessment notification, dates, weighting, submission process and outcome mapping; how practical and safety observations will be recorded by the teacher; whether any photographs may be captured and the approved privacy process.</a:t>
            </a:r>
          </a:p>
          <a:p xmlns:a="http://schemas.openxmlformats.org/drawingml/2006/main">
            <a:r>
              <a:t>[Sources]</a:t>
            </a:r>
          </a:p>
          <a:p xmlns:a="http://schemas.openxmlformats.org/drawingml/2006/main">
            <a:r>
              <a:t>- Authoritative course records: core-program, core-design-brief, core-production-planning-set, core-historical-assessment, core-machine-safety-set.</a:t>
            </a:r>
          </a:p>
          <a:p xmlns:a="http://schemas.openxmlformats.org/drawingml/2006/main">
            <a:r>
              <a:t>- Matched teaching visual: visual-m10-s2.png;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Help students organise authentic evidence into a coherent learning story while separating records from formal teacher verification or submission.</a:t>
            </a:r>
          </a:p>
          <a:p xmlns:a="http://schemas.openxmlformats.org/drawingml/2006/main">
            <a:r>
              <a:t>Visual purpose: Prompt students to identify the context, caption, privacy check and status statement needed by visible folio evidence.</a:t>
            </a:r>
          </a:p>
          <a:p xmlns:a="http://schemas.openxmlformats.org/drawingml/2006/main">
            <a:r>
              <a:t>Explain only what is shown: A photo-style still life shows a finished bag, sample pieces, notes and folio materials ready to be given context.</a:t>
            </a:r>
          </a:p>
          <a:p xmlns:a="http://schemas.openxmlformats.org/drawingml/2006/main">
            <a:r>
              <a:t>Student observation prompt: For each visible evidence item, what context, caption, privacy check and status statement is still needed?</a:t>
            </a:r>
          </a:p>
          <a:p xmlns:a="http://schemas.openxmlformats.org/drawingml/2006/main">
            <a:r>
              <a:t>Applied activity: Sort a mixed set of evidence items, improve weak captions and reject any unsupported claim.</a:t>
            </a:r>
          </a:p>
          <a:p xmlns:a="http://schemas.openxmlformats.org/drawingml/2006/main">
            <a:r>
              <a:t>Transition: The completed evidence set can be reviewed, backed up and prepared for the current teacher-directed process.</a:t>
            </a:r>
          </a:p>
          <a:p xmlns:a="http://schemas.openxmlformats.org/drawingml/2006/main">
            <a:r>
              <a:t>Likely misconceptions: A product is successful if its maker likes how it looks, so no test is needed. | Durability can be proven by deliberately overloading and damaging the product.</a:t>
            </a:r>
          </a:p>
          <a:p xmlns:a="http://schemas.openxmlformats.org/drawingml/2006/main">
            <a:r>
              <a:t>Teacher to confirm: current formal criteria and any performance descriptors; required evaluation and folio evidence format; current assessment notification, dates, weighting, submission process and outcome mapping; how practical and safety observations will be recorded by the teacher; whether any photographs may be captured and the approved privacy process.</a:t>
            </a:r>
          </a:p>
          <a:p xmlns:a="http://schemas.openxmlformats.org/drawingml/2006/main">
            <a:r>
              <a:t>[Sources]</a:t>
            </a:r>
          </a:p>
          <a:p xmlns:a="http://schemas.openxmlformats.org/drawingml/2006/main">
            <a:r>
              <a:t>- Authoritative course records: core-program, core-design-brief, core-production-planning-set, core-historical-assessment, core-machine-safety-set.</a:t>
            </a:r>
          </a:p>
          <a:p xmlns:a="http://schemas.openxmlformats.org/drawingml/2006/main">
            <a:r>
              <a:t>- Matched teaching visual: visual-m10-s3.png;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silent thinking before pair talk so every student retrieves independently.</a:t>
            </a:r>
          </a:p>
          <a:p xmlns:a="http://schemas.openxmlformats.org/drawingml/2006/main">
            <a:r>
              <a:t>Ask students to justify, not merely name, one response.</a:t>
            </a:r>
          </a:p>
          <a:p xmlns:a="http://schemas.openxmlformats.org/drawingml/2006/main">
            <a:r>
              <a:t>Listen for whether students connect each answer to its module idea and evidence.</a:t>
            </a:r>
          </a:p>
          <a:p xmlns:a="http://schemas.openxmlformats.org/drawingml/2006/main">
            <a:r>
              <a:t>Likely misconceptions: A product is successful if its maker likes how it looks, so no test is needed. | Durability can be proven by deliberately overloading and damaging the product.</a:t>
            </a:r>
          </a:p>
          <a:p xmlns:a="http://schemas.openxmlformats.org/drawingml/2006/main">
            <a:r>
              <a:t>Teacher to confirm: current formal criteria and any performance descriptors; required evaluation and folio evidence format; current assessment notification, dates, weighting, submission process and outcome mapping; how practical and safety observations will be recorded by the teacher; whether any photographs may be captured and the approved privacy process.</a:t>
            </a:r>
          </a:p>
          <a:p xmlns:a="http://schemas.openxmlformats.org/drawingml/2006/main">
            <a:r>
              <a:t>[Sources]</a:t>
            </a:r>
          </a:p>
          <a:p xmlns:a="http://schemas.openxmlformats.org/drawingml/2006/main">
            <a:r>
              <a:t>- Authoritative course records: core-program, core-design-brief, core-production-planning-set, core-historical-assessment, core-machine-safety-set.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response prompt aloud: Design a coherent evidence plan that explains the journey from design decisions through production, safety, testing and evaluation without overstating its status.</a:t>
            </a:r>
          </a:p>
          <a:p xmlns:a="http://schemas.openxmlformats.org/drawingml/2006/main">
            <a:r>
              <a:t>Model one sentence that selects evidence and explains its significance.</a:t>
            </a:r>
          </a:p>
          <a:p xmlns:a="http://schemas.openxmlformats.org/drawingml/2006/main">
            <a:r>
              <a:t>Success criteria: Organises evidence into a clear, traceable learning story. | Uses captions to connect records to decisions, checks and criteria. | Maintains truthful status, privacy and backup boundaries.</a:t>
            </a:r>
          </a:p>
          <a:p xmlns:a="http://schemas.openxmlformats.org/drawingml/2006/main">
            <a:r>
              <a:t>Likely misconceptions: A product is successful if its maker likes how it looks, so no test is needed. | Durability can be proven by deliberately overloading and damaging the product.</a:t>
            </a:r>
          </a:p>
          <a:p xmlns:a="http://schemas.openxmlformats.org/drawingml/2006/main">
            <a:r>
              <a:t>Teacher to confirm: current formal criteria and any performance descriptors; required evaluation and folio evidence format; current assessment notification, dates, weighting, submission process and outcome mapping; how practical and safety observations will be recorded by the teacher; whether any photographs may be captured and the approved privacy process.</a:t>
            </a:r>
          </a:p>
          <a:p xmlns:a="http://schemas.openxmlformats.org/drawingml/2006/main">
            <a:r>
              <a:t>[Sources]</a:t>
            </a:r>
          </a:p>
          <a:p xmlns:a="http://schemas.openxmlformats.org/drawingml/2006/main">
            <a:r>
              <a:t>- Authoritative course records: core-program, core-design-brief, core-production-planning-set, core-historical-assessment, core-machine-safety-set.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time to write all three exit statements before discussion.</a:t>
            </a:r>
          </a:p>
          <a:p xmlns:a="http://schemas.openxmlformats.org/drawingml/2006/main">
            <a:r>
              <a:t>Evidence destination: My folio, Module 10; this is formative browser-local evidence, not proof of formal submission.</a:t>
            </a:r>
          </a:p>
          <a:p xmlns:a="http://schemas.openxmlformats.org/drawingml/2006/main">
            <a:r>
              <a:t>Next learning link: The completed evidence set can be reviewed, backed up and prepared for the current teacher-directed process.</a:t>
            </a:r>
          </a:p>
          <a:p xmlns:a="http://schemas.openxmlformats.org/drawingml/2006/main">
            <a:r>
              <a:t>Likely misconceptions: A product is successful if its maker likes how it looks, so no test is needed. | Durability can be proven by deliberately overloading and damaging the product.</a:t>
            </a:r>
          </a:p>
          <a:p xmlns:a="http://schemas.openxmlformats.org/drawingml/2006/main">
            <a:r>
              <a:t>Teacher to confirm: current formal criteria and any performance descriptors; required evaluation and folio evidence format; current assessment notification, dates, weighting, submission process and outcome mapping; how practical and safety observations will be recorded by the teacher; whether any photographs may be captured and the approved privacy process.</a:t>
            </a:r>
          </a:p>
          <a:p xmlns:a="http://schemas.openxmlformats.org/drawingml/2006/main">
            <a:r>
              <a:t>[Sources]</a:t>
            </a:r>
          </a:p>
          <a:p xmlns:a="http://schemas.openxmlformats.org/drawingml/2006/main">
            <a:r>
              <a:t>- Authoritative course records: core-program, core-design-brief, core-production-planning-set, core-historical-assessment, core-machine-safety-set.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eaecd700154f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43c300734d4a84" /><Relationship Type="http://schemas.openxmlformats.org/officeDocument/2006/relationships/slideLayout" Target="/ppt/slideLayouts/slideLayout1.xml" Id="R7081bae11e3a48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81bae11e3a48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2e90632244480f" /><Relationship Type="http://schemas.openxmlformats.org/officeDocument/2006/relationships/image" Target="/ppt/media/image.png" Id="Ra0b23f6860544736" /><Relationship Type="http://schemas.openxmlformats.org/officeDocument/2006/relationships/notesSlide" Target="/ppt/notesSlides/notesSlide1.xml" Id="R8078d2f01f634a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0f7e8aed6046fe" /><Relationship Type="http://schemas.openxmlformats.org/officeDocument/2006/relationships/notesSlide" Target="/ppt/notesSlides/notesSlide2.xml" Id="R274ab71a5ae849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cc752802e1464a" /><Relationship Type="http://schemas.openxmlformats.org/officeDocument/2006/relationships/image" Target="/ppt/media/image2.png" Id="R48806b9e4b24493e" /><Relationship Type="http://schemas.openxmlformats.org/officeDocument/2006/relationships/notesSlide" Target="/ppt/notesSlides/notesSlide3.xml" Id="R194092942f5e42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64d9c1e21e4675" /><Relationship Type="http://schemas.openxmlformats.org/officeDocument/2006/relationships/image" Target="/ppt/media/image3.png" Id="Rf9dd05cf340142a8" /><Relationship Type="http://schemas.openxmlformats.org/officeDocument/2006/relationships/notesSlide" Target="/ppt/notesSlides/notesSlide4.xml" Id="R018644f12fbc46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ed3c304c0444ee0" /><Relationship Type="http://schemas.openxmlformats.org/officeDocument/2006/relationships/image" Target="/ppt/media/image4.png" Id="R31526f7ce8c2443e" /><Relationship Type="http://schemas.openxmlformats.org/officeDocument/2006/relationships/notesSlide" Target="/ppt/notesSlides/notesSlide5.xml" Id="Rdc57243f31cb4c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e2ab50584c4ad0" /><Relationship Type="http://schemas.openxmlformats.org/officeDocument/2006/relationships/notesSlide" Target="/ppt/notesSlides/notesSlide6.xml" Id="Rd2d5791e128449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5f68f8df1aa4b4c" /><Relationship Type="http://schemas.openxmlformats.org/officeDocument/2006/relationships/notesSlide" Target="/ppt/notesSlides/notesSlide7.xml" Id="R097d9adc0d394a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6db38a13f684460" /><Relationship Type="http://schemas.openxmlformats.org/officeDocument/2006/relationships/notesSlide" Target="/ppt/notesSlides/notesSlide8.xml" Id="R2a320bc7c72b4e36" /></Relationships>
</file>

<file path=ppt/slides/slide1.xml><?xml version="1.0" encoding="utf-8"?>
<p:sld xmlns:p="http://schemas.openxmlformats.org/presentationml/2006/main">
  <p:cSld>
    <p:bg>
      <p:bgPr>
        <a:solidFill xmlns:a="http://schemas.openxmlformats.org/drawingml/2006/main">
          <a:srgbClr val="0C4E4A"/>
        </a:solidFill>
      </p:bgPr>
    </p:bg>
    <p:spTree>
      <p:nvGrpSpPr>
        <p:cNvPr id="1" name=""/>
        <p:cNvGrpSpPr/>
        <p:nvPr/>
      </p:nvGrpSpPr>
      <p:grpSpPr>
        <a:xfrm xmlns:a="http://schemas.openxmlformats.org/drawingml/2006/main"/>
      </p:grpSpPr>
      <p:pic>
        <p:nvPicPr>
          <p:cNvPr id="9" name="Teaching visual - Sew Awesome course identity: reusable textile carry items and sewing materials"/>
          <p:cNvPicPr>
            <a:picLocks xmlns:a="http://schemas.openxmlformats.org/drawingml/2006/main" noChangeAspect="1"/>
          </p:cNvPicPr>
          <p:nvPr/>
        </p:nvPicPr>
        <p:blipFill>
          <a:blip xmlns:r="http://schemas.openxmlformats.org/officeDocument/2006/relationships" xmlns:a="http://schemas.openxmlformats.org/drawingml/2006/main" r:embed="Ra0b23f6860544736"/>
          <a:srcRect xmlns:a="http://schemas.openxmlformats.org/drawingml/2006/main" l="26389" t="0" r="26389" b="0"/>
          <a:stretch xmlns:a="http://schemas.openxmlformats.org/drawingml/2006/main">
            <a:fillRect l="0" t="0" r="0" b="0"/>
          </a:stretch>
        </p:blipFill>
        <p:spPr>
          <a:xfrm xmlns:a="http://schemas.openxmlformats.org/drawingml/2006/main">
            <a:off x="7334250" y="0"/>
            <a:ext cx="4857750" cy="6858000"/>
          </a:xfrm>
          <a:prstGeom xmlns:a="http://schemas.openxmlformats.org/drawingml/2006/main" prst="rect">
            <a:avLst/>
          </a:prstGeom>
        </p:spPr>
      </p:pic>
      <p:sp>
        <p:nvSpPr>
          <p:cNvPr id="2" name="image-wash">
            <a:extLst xmlns:a="http://schemas.openxmlformats.org/drawingml/2006/main">
              <a:ext uri="{FF2B5EF4-FFF2-40B4-BE49-F238E27FC236}">
                <a16:creationId xmlns:a16="http://schemas.microsoft.com/office/drawing/2014/main" id="{5F108456-E0A4-435B-B6D4-A50538335AD5}"/>
              </a:ext>
            </a:extLst>
          </p:cNvPr>
          <p:cNvSpPr>
            <a:spLocks xmlns:a="http://schemas.openxmlformats.org/drawingml/2006/main" noGrp="1"/>
          </p:cNvSpPr>
          <p:nvPr/>
        </p:nvSpPr>
        <p:spPr>
          <a:xfrm xmlns:a="http://schemas.openxmlformats.org/drawingml/2006/main">
            <a:off x="7067550" y="0"/>
            <a:ext cx="857250" cy="6858000"/>
          </a:xfrm>
          <a:prstGeom xmlns:a="http://schemas.openxmlformats.org/drawingml/2006/main" prst="rect">
            <a:avLst/>
          </a:prstGeom>
          <a:gradFill xmlns:a="http://schemas.openxmlformats.org/drawingml/2006/main">
            <a:gsLst>
              <a:gs pos="0">
                <a:srgbClr val="0C4E4A"/>
              </a:gs>
              <a:gs pos="100000">
                <a:srgbClr val="0C4E4A">
                  <a:alpha val="0"/>
                </a:srgbClr>
              </a:gs>
            </a:gsLst>
            <a:lin ang="0"/>
          </a:gradFill>
          <a:ln xmlns:a="http://schemas.openxmlformats.org/drawingml/2006/main" w="0">
            <a:noFill/>
            <a:prstDash val="solid"/>
          </a:ln>
        </p:spPr>
      </p:sp>
      <p:sp>
        <p:nvSpPr>
          <p:cNvPr id="3" name="accent-rule">
            <a:extLst xmlns:a="http://schemas.openxmlformats.org/drawingml/2006/main">
              <a:ext uri="{FF2B5EF4-FFF2-40B4-BE49-F238E27FC236}">
                <a16:creationId xmlns:a16="http://schemas.microsoft.com/office/drawing/2014/main" id="{C36FC36D-7915-4381-A044-D4E0442A3CAB}"/>
              </a:ext>
            </a:extLst>
          </p:cNvPr>
          <p:cNvSpPr>
            <a:spLocks xmlns:a="http://schemas.openxmlformats.org/drawingml/2006/main" noGrp="1"/>
          </p:cNvSpPr>
          <p:nvPr/>
        </p:nvSpPr>
        <p:spPr>
          <a:xfrm xmlns:a="http://schemas.openxmlformats.org/drawingml/2006/main">
            <a:off x="533400" y="628650"/>
            <a:ext cx="685800" cy="85725"/>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4" name="course-label">
            <a:extLst xmlns:a="http://schemas.openxmlformats.org/drawingml/2006/main">
              <a:ext uri="{FF2B5EF4-FFF2-40B4-BE49-F238E27FC236}">
                <a16:creationId xmlns:a16="http://schemas.microsoft.com/office/drawing/2014/main" id="{17417D75-AF63-41AF-92C4-E908F82EE0D6}"/>
              </a:ext>
            </a:extLst>
          </p:cNvPr>
          <p:cNvSpPr>
            <a:spLocks xmlns:a="http://schemas.openxmlformats.org/drawingml/2006/main" noGrp="1"/>
          </p:cNvSpPr>
          <p:nvPr/>
        </p:nvSpPr>
        <p:spPr>
          <a:xfrm xmlns:a="http://schemas.openxmlformats.org/drawingml/2006/main">
            <a:off x="533400" y="9906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FFE4A4"/>
                </a:solidFill>
                <a:latin typeface="Aptos"/>
                <a:ea typeface="Aptos"/>
                <a:cs typeface="Aptos"/>
              </a:defRPr>
            </a:pPr>
            <a:r>
              <a:rPr sz="1200" b="1">
                <a:solidFill>
                  <a:srgbClr val="FFE4A4"/>
                </a:solidFill>
                <a:latin typeface="Aptos"/>
                <a:ea typeface="Aptos"/>
                <a:cs typeface="Aptos"/>
              </a:rPr>
              <a:t>SEW AWESOME  •  MODULE 10</a:t>
            </a:r>
          </a:p>
        </p:txBody>
      </p:sp>
      <p:sp>
        <p:nvSpPr>
          <p:cNvPr id="5" name="title">
            <a:extLst xmlns:a="http://schemas.openxmlformats.org/drawingml/2006/main">
              <a:ext uri="{FF2B5EF4-FFF2-40B4-BE49-F238E27FC236}">
                <a16:creationId xmlns:a16="http://schemas.microsoft.com/office/drawing/2014/main" id="{91A19BBC-244D-434F-8143-1822CA776BB6}"/>
              </a:ext>
            </a:extLst>
          </p:cNvPr>
          <p:cNvSpPr>
            <a:spLocks xmlns:a="http://schemas.openxmlformats.org/drawingml/2006/main" noGrp="1"/>
          </p:cNvSpPr>
          <p:nvPr/>
        </p:nvSpPr>
        <p:spPr>
          <a:xfrm xmlns:a="http://schemas.openxmlformats.org/drawingml/2006/main">
            <a:off x="533400" y="2057400"/>
            <a:ext cx="590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4350" b="1">
                <a:solidFill>
                  <a:srgbClr val="FFFFFF"/>
                </a:solidFill>
                <a:latin typeface="Aptos Display"/>
                <a:ea typeface="Aptos Display"/>
                <a:cs typeface="Aptos Display"/>
              </a:defRPr>
            </a:pPr>
            <a:r>
              <a:rPr sz="4350" b="1">
                <a:solidFill>
                  <a:srgbClr val="FFFFFF"/>
                </a:solidFill>
                <a:latin typeface="Aptos Display"/>
                <a:ea typeface="Aptos Display"/>
                <a:cs typeface="Aptos Display"/>
              </a:rPr>
              <a:t>Evaluation and evidence</a:t>
            </a:r>
          </a:p>
        </p:txBody>
      </p:sp>
      <p:sp>
        <p:nvSpPr>
          <p:cNvPr id="6" name="outcome">
            <a:extLst xmlns:a="http://schemas.openxmlformats.org/drawingml/2006/main">
              <a:ext uri="{FF2B5EF4-FFF2-40B4-BE49-F238E27FC236}">
                <a16:creationId xmlns:a16="http://schemas.microsoft.com/office/drawing/2014/main" id="{3403500E-FD8D-429E-A08C-C2A3C0C49B47}"/>
              </a:ext>
            </a:extLst>
          </p:cNvPr>
          <p:cNvSpPr>
            <a:spLocks xmlns:a="http://schemas.openxmlformats.org/drawingml/2006/main" noGrp="1"/>
          </p:cNvSpPr>
          <p:nvPr/>
        </p:nvSpPr>
        <p:spPr>
          <a:xfrm xmlns:a="http://schemas.openxmlformats.org/drawingml/2006/main">
            <a:off x="533400" y="3733800"/>
            <a:ext cx="5905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5000"/>
              </a:lnSpc>
              <a:buNone/>
              <a:defRPr sz="1800">
                <a:solidFill>
                  <a:srgbClr val="EEF6F3"/>
                </a:solidFill>
                <a:latin typeface="Aptos"/>
                <a:ea typeface="Aptos"/>
                <a:cs typeface="Aptos"/>
              </a:defRPr>
            </a:pPr>
            <a:r>
              <a:rPr sz="1800">
                <a:solidFill>
                  <a:srgbClr val="EEF6F3"/>
                </a:solidFill>
                <a:latin typeface="Aptos"/>
                <a:ea typeface="Aptos"/>
                <a:cs typeface="Aptos"/>
              </a:rPr>
              <a:t>Test the completed design against meaningful criteria and assemble honest evidence of product, process, safety and learning.</a:t>
            </a:r>
          </a:p>
        </p:txBody>
      </p:sp>
      <p:sp>
        <p:nvSpPr>
          <p:cNvPr id="7" name="student-copy">
            <a:extLst xmlns:a="http://schemas.openxmlformats.org/drawingml/2006/main">
              <a:ext uri="{FF2B5EF4-FFF2-40B4-BE49-F238E27FC236}">
                <a16:creationId xmlns:a16="http://schemas.microsoft.com/office/drawing/2014/main" id="{A8A1A4AF-E6F5-413E-8566-59F41CB6C95A}"/>
              </a:ext>
            </a:extLst>
          </p:cNvPr>
          <p:cNvSpPr>
            <a:spLocks xmlns:a="http://schemas.openxmlformats.org/drawingml/2006/main" noGrp="1"/>
          </p:cNvSpPr>
          <p:nvPr/>
        </p:nvSpPr>
        <p:spPr>
          <a:xfrm xmlns:a="http://schemas.openxmlformats.org/drawingml/2006/main">
            <a:off x="533400" y="60388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C8D6D2"/>
                </a:solidFill>
                <a:latin typeface="Aptos"/>
                <a:ea typeface="Aptos"/>
                <a:cs typeface="Aptos"/>
              </a:defRPr>
            </a:pPr>
            <a:r>
              <a:rPr sz="1200">
                <a:solidFill>
                  <a:srgbClr val="C8D6D2"/>
                </a:solidFill>
                <a:latin typeface="Aptos"/>
                <a:ea typeface="Aptos"/>
                <a:cs typeface="Aptos"/>
              </a:rPr>
              <a:t>Classroom presentation  •  student copy</a:t>
            </a:r>
          </a:p>
        </p:txBody>
      </p:sp>
      <p:sp>
        <p:nvSpPr>
          <p:cNvPr id="8" name="page">
            <a:extLst xmlns:a="http://schemas.openxmlformats.org/drawingml/2006/main">
              <a:ext uri="{FF2B5EF4-FFF2-40B4-BE49-F238E27FC236}">
                <a16:creationId xmlns:a16="http://schemas.microsoft.com/office/drawing/2014/main" id="{BC2AF965-4630-4F8C-A38F-C678C4133360}"/>
              </a:ext>
            </a:extLst>
          </p:cNvPr>
          <p:cNvSpPr>
            <a:spLocks xmlns:a="http://schemas.openxmlformats.org/drawingml/2006/main" noGrp="1"/>
          </p:cNvSpPr>
          <p:nvPr/>
        </p:nvSpPr>
        <p:spPr>
          <a:xfrm xmlns:a="http://schemas.openxmlformats.org/drawingml/2006/main">
            <a:off x="6553200" y="605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050" b="1">
                <a:solidFill>
                  <a:srgbClr val="C8D6D2"/>
                </a:solidFill>
                <a:latin typeface="Aptos"/>
                <a:ea typeface="Aptos"/>
                <a:cs typeface="Aptos"/>
              </a:defRPr>
            </a:pPr>
            <a:r>
              <a:rPr sz="1050" b="1">
                <a:solidFill>
                  <a:srgbClr val="C8D6D2"/>
                </a:solidFill>
                <a:latin typeface="Aptos"/>
                <a:ea typeface="Aptos"/>
                <a:cs typeface="Aptos"/>
              </a:rPr>
              <a:t>01</a:t>
            </a:r>
          </a:p>
        </p:txBody>
      </p:sp>
    </p:spTree>
    <p:extLst>
      <p:ext uri="{BB962C8B-B14F-4D97-AF65-F5344CB8AC3E}">
        <p14:creationId xmlns:p14="http://schemas.microsoft.com/office/powerpoint/2010/main" val="504050708"/>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9" name="top-rule">
            <a:extLst xmlns:a="http://schemas.openxmlformats.org/drawingml/2006/main">
              <a:ext uri="{FF2B5EF4-FFF2-40B4-BE49-F238E27FC236}">
                <a16:creationId xmlns:a16="http://schemas.microsoft.com/office/drawing/2014/main" id="{33BE75E4-360D-4286-8A4B-34961A7BDC6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C7189C64-643C-450F-A98A-6D4FB04A1743}"/>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D49A34"/>
                </a:solidFill>
                <a:latin typeface="Aptos"/>
                <a:ea typeface="Aptos"/>
                <a:cs typeface="Aptos"/>
              </a:defRPr>
            </a:pPr>
            <a:r>
              <a:rPr sz="1050" b="1">
                <a:solidFill>
                  <a:srgbClr val="D49A34"/>
                </a:solidFill>
                <a:latin typeface="Aptos"/>
                <a:ea typeface="Aptos"/>
                <a:cs typeface="Aptos"/>
              </a:rPr>
              <a:t>TODAY’S LEARNING PATH</a:t>
            </a:r>
          </a:p>
        </p:txBody>
      </p:sp>
      <p:sp>
        <p:nvSpPr>
          <p:cNvPr id="3" name="title">
            <a:extLst xmlns:a="http://schemas.openxmlformats.org/drawingml/2006/main">
              <a:ext uri="{FF2B5EF4-FFF2-40B4-BE49-F238E27FC236}">
                <a16:creationId xmlns:a16="http://schemas.microsoft.com/office/drawing/2014/main" id="{02A09E96-5998-4C50-BFBA-F9E5E77C9D41}"/>
              </a:ext>
            </a:extLst>
          </p:cNvPr>
          <p:cNvSpPr>
            <a:spLocks xmlns:a="http://schemas.openxmlformats.org/drawingml/2006/main" noGrp="1"/>
          </p:cNvSpPr>
          <p:nvPr/>
        </p:nvSpPr>
        <p:spPr>
          <a:xfrm xmlns:a="http://schemas.openxmlformats.org/drawingml/2006/main">
            <a:off x="533400" y="742950"/>
            <a:ext cx="828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Three ideas build one stronger decision</a:t>
            </a:r>
          </a:p>
        </p:txBody>
      </p:sp>
      <p:sp>
        <p:nvSpPr>
          <p:cNvPr id="4" name="idea-number-1">
            <a:extLst xmlns:a="http://schemas.openxmlformats.org/drawingml/2006/main">
              <a:ext uri="{FF2B5EF4-FFF2-40B4-BE49-F238E27FC236}">
                <a16:creationId xmlns:a16="http://schemas.microsoft.com/office/drawing/2014/main" id="{B2EC6B09-1D57-4933-9B11-D0EDBC75C480}"/>
              </a:ext>
            </a:extLst>
          </p:cNvPr>
          <p:cNvSpPr>
            <a:spLocks xmlns:a="http://schemas.openxmlformats.org/drawingml/2006/main" noGrp="1"/>
          </p:cNvSpPr>
          <p:nvPr/>
        </p:nvSpPr>
        <p:spPr>
          <a:xfrm xmlns:a="http://schemas.openxmlformats.org/drawingml/2006/main">
            <a:off x="590550" y="18859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146B66"/>
                </a:solidFill>
                <a:latin typeface="Aptos"/>
                <a:ea typeface="Aptos"/>
                <a:cs typeface="Aptos"/>
              </a:defRPr>
            </a:pPr>
            <a:r>
              <a:rPr sz="2250" b="1">
                <a:solidFill>
                  <a:srgbClr val="146B66"/>
                </a:solidFill>
                <a:latin typeface="Aptos"/>
                <a:ea typeface="Aptos"/>
                <a:cs typeface="Aptos"/>
              </a:rPr>
              <a:t>1</a:t>
            </a:r>
          </a:p>
        </p:txBody>
      </p:sp>
      <p:sp>
        <p:nvSpPr>
          <p:cNvPr id="5" name="idea-line-1">
            <a:extLst xmlns:a="http://schemas.openxmlformats.org/drawingml/2006/main">
              <a:ext uri="{FF2B5EF4-FFF2-40B4-BE49-F238E27FC236}">
                <a16:creationId xmlns:a16="http://schemas.microsoft.com/office/drawing/2014/main" id="{B1E297FE-4009-4CDE-82C9-99527ABD79DE}"/>
              </a:ext>
            </a:extLst>
          </p:cNvPr>
          <p:cNvSpPr>
            <a:spLocks xmlns:a="http://schemas.openxmlformats.org/drawingml/2006/main" noGrp="1"/>
          </p:cNvSpPr>
          <p:nvPr/>
        </p:nvSpPr>
        <p:spPr>
          <a:xfrm xmlns:a="http://schemas.openxmlformats.org/drawingml/2006/main">
            <a:off x="1257300" y="2514600"/>
            <a:ext cx="4953000" cy="0"/>
          </a:xfrm>
          <a:prstGeom xmlns:a="http://schemas.openxmlformats.org/drawingml/2006/main" prst="line">
            <a:avLst/>
          </a:prstGeom>
          <a:noFill xmlns:a="http://schemas.openxmlformats.org/drawingml/2006/main"/>
          <a:ln xmlns:a="http://schemas.openxmlformats.org/drawingml/2006/main" w="28575">
            <a:solidFill>
              <a:srgbClr val="146B66"/>
            </a:solidFill>
            <a:prstDash val="solid"/>
          </a:ln>
        </p:spPr>
      </p:sp>
      <p:sp>
        <p:nvSpPr>
          <p:cNvPr id="6" name="idea-title-1">
            <a:extLst xmlns:a="http://schemas.openxmlformats.org/drawingml/2006/main">
              <a:ext uri="{FF2B5EF4-FFF2-40B4-BE49-F238E27FC236}">
                <a16:creationId xmlns:a16="http://schemas.microsoft.com/office/drawing/2014/main" id="{8AFF086C-D51F-4B12-90EF-3A039F09044A}"/>
              </a:ext>
            </a:extLst>
          </p:cNvPr>
          <p:cNvSpPr>
            <a:spLocks xmlns:a="http://schemas.openxmlformats.org/drawingml/2006/main" noGrp="1"/>
          </p:cNvSpPr>
          <p:nvPr/>
        </p:nvSpPr>
        <p:spPr>
          <a:xfrm xmlns:a="http://schemas.openxmlformats.org/drawingml/2006/main">
            <a:off x="1466850" y="18097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1950" b="1">
                <a:solidFill>
                  <a:srgbClr val="20302E"/>
                </a:solidFill>
                <a:latin typeface="Aptos Display"/>
                <a:ea typeface="Aptos Display"/>
                <a:cs typeface="Aptos Display"/>
              </a:defRPr>
            </a:pPr>
            <a:r>
              <a:rPr sz="1950" b="1">
                <a:solidFill>
                  <a:srgbClr val="20302E"/>
                </a:solidFill>
                <a:latin typeface="Aptos Display"/>
                <a:ea typeface="Aptos Display"/>
                <a:cs typeface="Aptos Display"/>
              </a:rPr>
              <a:t>Testing Functionality, Aesthetics, Durability and Ergonomics</a:t>
            </a:r>
          </a:p>
        </p:txBody>
      </p:sp>
      <p:sp>
        <p:nvSpPr>
          <p:cNvPr id="7" name="idea-number-2">
            <a:extLst xmlns:a="http://schemas.openxmlformats.org/drawingml/2006/main">
              <a:ext uri="{FF2B5EF4-FFF2-40B4-BE49-F238E27FC236}">
                <a16:creationId xmlns:a16="http://schemas.microsoft.com/office/drawing/2014/main" id="{50B5D1FD-7DD6-4D78-B7A4-20E89251EC9A}"/>
              </a:ext>
            </a:extLst>
          </p:cNvPr>
          <p:cNvSpPr>
            <a:spLocks xmlns:a="http://schemas.openxmlformats.org/drawingml/2006/main" noGrp="1"/>
          </p:cNvSpPr>
          <p:nvPr/>
        </p:nvSpPr>
        <p:spPr>
          <a:xfrm xmlns:a="http://schemas.openxmlformats.org/drawingml/2006/main">
            <a:off x="590550" y="29527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BF4C5A"/>
                </a:solidFill>
                <a:latin typeface="Aptos"/>
                <a:ea typeface="Aptos"/>
                <a:cs typeface="Aptos"/>
              </a:defRPr>
            </a:pPr>
            <a:r>
              <a:rPr sz="2250" b="1">
                <a:solidFill>
                  <a:srgbClr val="BF4C5A"/>
                </a:solidFill>
                <a:latin typeface="Aptos"/>
                <a:ea typeface="Aptos"/>
                <a:cs typeface="Aptos"/>
              </a:rPr>
              <a:t>2</a:t>
            </a:r>
          </a:p>
        </p:txBody>
      </p:sp>
      <p:sp>
        <p:nvSpPr>
          <p:cNvPr id="8" name="idea-line-2">
            <a:extLst xmlns:a="http://schemas.openxmlformats.org/drawingml/2006/main">
              <a:ext uri="{FF2B5EF4-FFF2-40B4-BE49-F238E27FC236}">
                <a16:creationId xmlns:a16="http://schemas.microsoft.com/office/drawing/2014/main" id="{AEA8377A-4D66-48FB-B389-57AB00E1DE01}"/>
              </a:ext>
            </a:extLst>
          </p:cNvPr>
          <p:cNvSpPr>
            <a:spLocks xmlns:a="http://schemas.openxmlformats.org/drawingml/2006/main" noGrp="1"/>
          </p:cNvSpPr>
          <p:nvPr/>
        </p:nvSpPr>
        <p:spPr>
          <a:xfrm xmlns:a="http://schemas.openxmlformats.org/drawingml/2006/main">
            <a:off x="1257300" y="3581400"/>
            <a:ext cx="4953000" cy="0"/>
          </a:xfrm>
          <a:prstGeom xmlns:a="http://schemas.openxmlformats.org/drawingml/2006/main" prst="line">
            <a:avLst/>
          </a:prstGeom>
          <a:noFill xmlns:a="http://schemas.openxmlformats.org/drawingml/2006/main"/>
          <a:ln xmlns:a="http://schemas.openxmlformats.org/drawingml/2006/main" w="28575">
            <a:solidFill>
              <a:srgbClr val="BF4C5A"/>
            </a:solidFill>
            <a:prstDash val="solid"/>
          </a:ln>
        </p:spPr>
      </p:sp>
      <p:sp>
        <p:nvSpPr>
          <p:cNvPr id="9" name="idea-title-2">
            <a:extLst xmlns:a="http://schemas.openxmlformats.org/drawingml/2006/main">
              <a:ext uri="{FF2B5EF4-FFF2-40B4-BE49-F238E27FC236}">
                <a16:creationId xmlns:a16="http://schemas.microsoft.com/office/drawing/2014/main" id="{0BA80673-943C-4902-B968-64CD2204DEBA}"/>
              </a:ext>
            </a:extLst>
          </p:cNvPr>
          <p:cNvSpPr>
            <a:spLocks xmlns:a="http://schemas.openxmlformats.org/drawingml/2006/main" noGrp="1"/>
          </p:cNvSpPr>
          <p:nvPr/>
        </p:nvSpPr>
        <p:spPr>
          <a:xfrm xmlns:a="http://schemas.openxmlformats.org/drawingml/2006/main">
            <a:off x="1466850" y="28765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1950" b="1">
                <a:solidFill>
                  <a:srgbClr val="20302E"/>
                </a:solidFill>
                <a:latin typeface="Aptos Display"/>
                <a:ea typeface="Aptos Display"/>
                <a:cs typeface="Aptos Display"/>
              </a:defRPr>
            </a:pPr>
            <a:r>
              <a:rPr sz="1950" b="1">
                <a:solidFill>
                  <a:srgbClr val="20302E"/>
                </a:solidFill>
                <a:latin typeface="Aptos Display"/>
                <a:ea typeface="Aptos Display"/>
                <a:cs typeface="Aptos Display"/>
              </a:rPr>
              <a:t>Evaluating Ethics, Environmental Impact and Safety</a:t>
            </a:r>
          </a:p>
        </p:txBody>
      </p:sp>
      <p:sp>
        <p:nvSpPr>
          <p:cNvPr id="10" name="idea-number-3">
            <a:extLst xmlns:a="http://schemas.openxmlformats.org/drawingml/2006/main">
              <a:ext uri="{FF2B5EF4-FFF2-40B4-BE49-F238E27FC236}">
                <a16:creationId xmlns:a16="http://schemas.microsoft.com/office/drawing/2014/main" id="{A685D784-93C1-4E3E-9204-D517FD0AAF3C}"/>
              </a:ext>
            </a:extLst>
          </p:cNvPr>
          <p:cNvSpPr>
            <a:spLocks xmlns:a="http://schemas.openxmlformats.org/drawingml/2006/main" noGrp="1"/>
          </p:cNvSpPr>
          <p:nvPr/>
        </p:nvSpPr>
        <p:spPr>
          <a:xfrm xmlns:a="http://schemas.openxmlformats.org/drawingml/2006/main">
            <a:off x="590550" y="40195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146B66"/>
                </a:solidFill>
                <a:latin typeface="Aptos"/>
                <a:ea typeface="Aptos"/>
                <a:cs typeface="Aptos"/>
              </a:defRPr>
            </a:pPr>
            <a:r>
              <a:rPr sz="2250" b="1">
                <a:solidFill>
                  <a:srgbClr val="146B66"/>
                </a:solidFill>
                <a:latin typeface="Aptos"/>
                <a:ea typeface="Aptos"/>
                <a:cs typeface="Aptos"/>
              </a:rPr>
              <a:t>3</a:t>
            </a:r>
          </a:p>
        </p:txBody>
      </p:sp>
      <p:sp>
        <p:nvSpPr>
          <p:cNvPr id="11" name="idea-line-3">
            <a:extLst xmlns:a="http://schemas.openxmlformats.org/drawingml/2006/main">
              <a:ext uri="{FF2B5EF4-FFF2-40B4-BE49-F238E27FC236}">
                <a16:creationId xmlns:a16="http://schemas.microsoft.com/office/drawing/2014/main" id="{E3C2D351-615A-4543-BD38-2C377BEAD737}"/>
              </a:ext>
            </a:extLst>
          </p:cNvPr>
          <p:cNvSpPr>
            <a:spLocks xmlns:a="http://schemas.openxmlformats.org/drawingml/2006/main" noGrp="1"/>
          </p:cNvSpPr>
          <p:nvPr/>
        </p:nvSpPr>
        <p:spPr>
          <a:xfrm xmlns:a="http://schemas.openxmlformats.org/drawingml/2006/main">
            <a:off x="1257300" y="4648200"/>
            <a:ext cx="4953000" cy="0"/>
          </a:xfrm>
          <a:prstGeom xmlns:a="http://schemas.openxmlformats.org/drawingml/2006/main" prst="line">
            <a:avLst/>
          </a:prstGeom>
          <a:noFill xmlns:a="http://schemas.openxmlformats.org/drawingml/2006/main"/>
          <a:ln xmlns:a="http://schemas.openxmlformats.org/drawingml/2006/main" w="28575">
            <a:solidFill>
              <a:srgbClr val="146B66"/>
            </a:solidFill>
            <a:prstDash val="solid"/>
          </a:ln>
        </p:spPr>
      </p:sp>
      <p:sp>
        <p:nvSpPr>
          <p:cNvPr id="12" name="idea-title-3">
            <a:extLst xmlns:a="http://schemas.openxmlformats.org/drawingml/2006/main">
              <a:ext uri="{FF2B5EF4-FFF2-40B4-BE49-F238E27FC236}">
                <a16:creationId xmlns:a16="http://schemas.microsoft.com/office/drawing/2014/main" id="{DE46ECC5-C488-45AB-9ACE-9B3C2571F180}"/>
              </a:ext>
            </a:extLst>
          </p:cNvPr>
          <p:cNvSpPr>
            <a:spLocks xmlns:a="http://schemas.openxmlformats.org/drawingml/2006/main" noGrp="1"/>
          </p:cNvSpPr>
          <p:nvPr/>
        </p:nvSpPr>
        <p:spPr>
          <a:xfrm xmlns:a="http://schemas.openxmlformats.org/drawingml/2006/main">
            <a:off x="1466850" y="39433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1950" b="1">
                <a:solidFill>
                  <a:srgbClr val="20302E"/>
                </a:solidFill>
                <a:latin typeface="Aptos Display"/>
                <a:ea typeface="Aptos Display"/>
                <a:cs typeface="Aptos Display"/>
              </a:defRPr>
            </a:pPr>
            <a:r>
              <a:rPr sz="1950" b="1">
                <a:solidFill>
                  <a:srgbClr val="20302E"/>
                </a:solidFill>
                <a:latin typeface="Aptos Display"/>
                <a:ea typeface="Aptos Display"/>
                <a:cs typeface="Aptos Display"/>
              </a:rPr>
              <a:t>Assembling Folio, Practical and Safety Evidence</a:t>
            </a:r>
          </a:p>
        </p:txBody>
      </p:sp>
      <p:sp>
        <p:nvSpPr>
          <p:cNvPr id="13" name="warm-up">
            <a:extLst xmlns:a="http://schemas.openxmlformats.org/drawingml/2006/main">
              <a:ext uri="{FF2B5EF4-FFF2-40B4-BE49-F238E27FC236}">
                <a16:creationId xmlns:a16="http://schemas.microsoft.com/office/drawing/2014/main" id="{AA4B1FAA-38DB-4DAB-A65B-2AE6579800CE}"/>
              </a:ext>
            </a:extLst>
          </p:cNvPr>
          <p:cNvSpPr>
            <a:spLocks xmlns:a="http://schemas.openxmlformats.org/drawingml/2006/main" noGrp="1"/>
          </p:cNvSpPr>
          <p:nvPr/>
        </p:nvSpPr>
        <p:spPr>
          <a:xfrm xmlns:a="http://schemas.openxmlformats.org/drawingml/2006/main">
            <a:off x="7067550" y="1733550"/>
            <a:ext cx="4591050" cy="3371850"/>
          </a:xfrm>
          <a:prstGeom xmlns:a="http://schemas.openxmlformats.org/drawingml/2006/main" prst="roundRect">
            <a:avLst>
              <a:gd name="adj" fmla="val 4520"/>
            </a:avLst>
          </a:prstGeom>
          <a:solidFill xmlns:a="http://schemas.openxmlformats.org/drawingml/2006/main">
            <a:srgbClr val="0C4E4A"/>
          </a:solidFill>
          <a:ln xmlns:a="http://schemas.openxmlformats.org/drawingml/2006/main" w="9525">
            <a:solidFill>
              <a:srgbClr val="0C4E4A"/>
            </a:solidFill>
            <a:prstDash val="solid"/>
          </a:ln>
        </p:spPr>
      </p:sp>
      <p:sp>
        <p:nvSpPr>
          <p:cNvPr id="14" name="warm-up-label">
            <a:extLst xmlns:a="http://schemas.openxmlformats.org/drawingml/2006/main">
              <a:ext uri="{FF2B5EF4-FFF2-40B4-BE49-F238E27FC236}">
                <a16:creationId xmlns:a16="http://schemas.microsoft.com/office/drawing/2014/main" id="{DF12B83D-46C1-4F46-BC1F-798E54FFC503}"/>
              </a:ext>
            </a:extLst>
          </p:cNvPr>
          <p:cNvSpPr>
            <a:spLocks xmlns:a="http://schemas.openxmlformats.org/drawingml/2006/main" noGrp="1"/>
          </p:cNvSpPr>
          <p:nvPr/>
        </p:nvSpPr>
        <p:spPr>
          <a:xfrm xmlns:a="http://schemas.openxmlformats.org/drawingml/2006/main">
            <a:off x="7448550" y="2171700"/>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E4A4"/>
                </a:solidFill>
                <a:latin typeface="Aptos"/>
                <a:ea typeface="Aptos"/>
                <a:cs typeface="Aptos"/>
              </a:defRPr>
            </a:pPr>
            <a:r>
              <a:rPr sz="1050" b="1">
                <a:solidFill>
                  <a:srgbClr val="FFE4A4"/>
                </a:solidFill>
                <a:latin typeface="Aptos"/>
                <a:ea typeface="Aptos"/>
                <a:cs typeface="Aptos"/>
              </a:rPr>
              <a:t>RETRIEVAL WARM-UP</a:t>
            </a:r>
          </a:p>
        </p:txBody>
      </p:sp>
      <p:sp>
        <p:nvSpPr>
          <p:cNvPr id="15" name="warm-up-question">
            <a:extLst xmlns:a="http://schemas.openxmlformats.org/drawingml/2006/main">
              <a:ext uri="{FF2B5EF4-FFF2-40B4-BE49-F238E27FC236}">
                <a16:creationId xmlns:a16="http://schemas.microsoft.com/office/drawing/2014/main" id="{2D2C9AD2-3999-4FA0-B4F9-6D5541D1A5A8}"/>
              </a:ext>
            </a:extLst>
          </p:cNvPr>
          <p:cNvSpPr>
            <a:spLocks xmlns:a="http://schemas.openxmlformats.org/drawingml/2006/main" noGrp="1"/>
          </p:cNvSpPr>
          <p:nvPr/>
        </p:nvSpPr>
        <p:spPr>
          <a:xfrm xmlns:a="http://schemas.openxmlformats.org/drawingml/2006/main">
            <a:off x="7448550" y="2647950"/>
            <a:ext cx="3524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793"/>
          </a:bodyPr>
          <a:lstStyle xmlns:a="http://schemas.openxmlformats.org/drawingml/2006/main"/>
          <a:p xmlns:a="http://schemas.openxmlformats.org/drawingml/2006/main">
            <a:pPr>
              <a:lnSpc>
                <a:spcPct val="94000"/>
              </a:lnSpc>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bag has been completed through a controlled tote or drawstring pathway and has passed staged construction checks.</a:t>
            </a:r>
          </a:p>
        </p:txBody>
      </p:sp>
      <p:sp>
        <p:nvSpPr>
          <p:cNvPr id="16" name="warm-up-instruction">
            <a:extLst xmlns:a="http://schemas.openxmlformats.org/drawingml/2006/main">
              <a:ext uri="{FF2B5EF4-FFF2-40B4-BE49-F238E27FC236}">
                <a16:creationId xmlns:a16="http://schemas.microsoft.com/office/drawing/2014/main" id="{F7FDD835-FC50-410D-A503-C3750E619792}"/>
              </a:ext>
            </a:extLst>
          </p:cNvPr>
          <p:cNvSpPr>
            <a:spLocks xmlns:a="http://schemas.openxmlformats.org/drawingml/2006/main" noGrp="1"/>
          </p:cNvSpPr>
          <p:nvPr/>
        </p:nvSpPr>
        <p:spPr>
          <a:xfrm xmlns:a="http://schemas.openxmlformats.org/drawingml/2006/main">
            <a:off x="7448550" y="4343400"/>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EEF6F3"/>
                </a:solidFill>
                <a:latin typeface="Aptos"/>
                <a:ea typeface="Aptos"/>
                <a:cs typeface="Aptos"/>
              </a:defRPr>
            </a:pPr>
            <a:r>
              <a:rPr sz="1350">
                <a:solidFill>
                  <a:srgbClr val="EEF6F3"/>
                </a:solidFill>
                <a:latin typeface="Aptos"/>
                <a:ea typeface="Aptos"/>
                <a:cs typeface="Aptos"/>
              </a:rPr>
              <a:t>Think silently. Name one useful idea. Be ready to explain why it matters.</a:t>
            </a:r>
          </a:p>
        </p:txBody>
      </p:sp>
      <p:sp>
        <p:nvSpPr>
          <p:cNvPr id="17" name="footer-module">
            <a:extLst xmlns:a="http://schemas.openxmlformats.org/drawingml/2006/main">
              <a:ext uri="{FF2B5EF4-FFF2-40B4-BE49-F238E27FC236}">
                <a16:creationId xmlns:a16="http://schemas.microsoft.com/office/drawing/2014/main" id="{4D7B4079-C33E-4442-A737-FFEB910A7434}"/>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10</a:t>
            </a:r>
          </a:p>
        </p:txBody>
      </p:sp>
      <p:sp>
        <p:nvSpPr>
          <p:cNvPr id="18" name="footer-page">
            <a:extLst xmlns:a="http://schemas.openxmlformats.org/drawingml/2006/main">
              <a:ext uri="{FF2B5EF4-FFF2-40B4-BE49-F238E27FC236}">
                <a16:creationId xmlns:a16="http://schemas.microsoft.com/office/drawing/2014/main" id="{67F251D5-25FC-4E9B-974E-08CAB5161110}"/>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02</a:t>
            </a:r>
          </a:p>
        </p:txBody>
      </p:sp>
    </p:spTree>
    <p:extLst>
      <p:ext uri="{BB962C8B-B14F-4D97-AF65-F5344CB8AC3E}">
        <p14:creationId xmlns:p14="http://schemas.microsoft.com/office/powerpoint/2010/main" val="1327163521"/>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top-rule">
            <a:extLst xmlns:a="http://schemas.openxmlformats.org/drawingml/2006/main">
              <a:ext uri="{FF2B5EF4-FFF2-40B4-BE49-F238E27FC236}">
                <a16:creationId xmlns:a16="http://schemas.microsoft.com/office/drawing/2014/main" id="{0885B281-9E19-49CA-AEA4-E6942B3078F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6B66"/>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57B6DA16-F28E-4467-8399-BC203A1B8DF2}"/>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46B66"/>
                </a:solidFill>
                <a:latin typeface="Aptos"/>
                <a:ea typeface="Aptos"/>
                <a:cs typeface="Aptos"/>
              </a:defRPr>
            </a:pPr>
            <a:r>
              <a:rPr sz="1050" b="1">
                <a:solidFill>
                  <a:srgbClr val="146B66"/>
                </a:solidFill>
                <a:latin typeface="Aptos"/>
                <a:ea typeface="Aptos"/>
                <a:cs typeface="Aptos"/>
              </a:rPr>
              <a:t>1. TESTING FUNCTIONALITY, AESTHETICS, DURABILITY AND ERGONOMICS</a:t>
            </a:r>
          </a:p>
        </p:txBody>
      </p:sp>
      <p:sp>
        <p:nvSpPr>
          <p:cNvPr id="3" name="title">
            <a:extLst xmlns:a="http://schemas.openxmlformats.org/drawingml/2006/main">
              <a:ext uri="{FF2B5EF4-FFF2-40B4-BE49-F238E27FC236}">
                <a16:creationId xmlns:a16="http://schemas.microsoft.com/office/drawing/2014/main" id="{DB5EFCAD-27F4-46E0-88E1-361310D583C0}"/>
              </a:ext>
            </a:extLst>
          </p:cNvPr>
          <p:cNvSpPr>
            <a:spLocks xmlns:a="http://schemas.openxmlformats.org/drawingml/2006/main" noGrp="1"/>
          </p:cNvSpPr>
          <p:nvPr/>
        </p:nvSpPr>
        <p:spPr>
          <a:xfrm xmlns:a="http://schemas.openxmlformats.org/drawingml/2006/main">
            <a:off x="533400" y="7239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Test one claim at a time</a:t>
            </a:r>
          </a:p>
        </p:txBody>
      </p:sp>
      <p:pic>
        <p:nvPicPr>
          <p:cNvPr id="17" name="Teaching visual - A completed bag undergoes a book-load and handle-comfort test beside photographic evidence, blank notes and revised handle samples."/>
          <p:cNvPicPr>
            <a:picLocks xmlns:a="http://schemas.openxmlformats.org/drawingml/2006/main" noChangeAspect="1"/>
          </p:cNvPicPr>
          <p:nvPr/>
        </p:nvPicPr>
        <p:blipFill>
          <a:blip xmlns:r="http://schemas.openxmlformats.org/officeDocument/2006/relationships" xmlns:a="http://schemas.openxmlformats.org/drawingml/2006/main" r:embed="R48806b9e4b24493e"/>
          <a:stretch xmlns:a="http://schemas.openxmlformats.org/drawingml/2006/main"/>
        </p:blipFill>
        <p:spPr>
          <a:xfrm xmlns:a="http://schemas.openxmlformats.org/drawingml/2006/main">
            <a:off x="6610350" y="1698625"/>
            <a:ext cx="5048250" cy="3365500"/>
          </a:xfrm>
          <a:prstGeom xmlns:a="http://schemas.openxmlformats.org/drawingml/2006/main" prst="roundRect">
            <a:avLst>
              <a:gd name="adj" fmla="val 3077"/>
            </a:avLst>
          </a:prstGeom>
        </p:spPr>
      </p:pic>
      <p:sp>
        <p:nvSpPr>
          <p:cNvPr id="5" name="theory">
            <a:extLst xmlns:a="http://schemas.openxmlformats.org/drawingml/2006/main">
              <a:ext uri="{FF2B5EF4-FFF2-40B4-BE49-F238E27FC236}">
                <a16:creationId xmlns:a16="http://schemas.microsoft.com/office/drawing/2014/main" id="{109157A4-59C9-43F9-9F6F-48FD1EAD285D}"/>
              </a:ext>
            </a:extLst>
          </p:cNvPr>
          <p:cNvSpPr>
            <a:spLocks xmlns:a="http://schemas.openxmlformats.org/drawingml/2006/main" noGrp="1"/>
          </p:cNvSpPr>
          <p:nvPr/>
        </p:nvSpPr>
        <p:spPr>
          <a:xfrm xmlns:a="http://schemas.openxmlformats.org/drawingml/2006/main">
            <a:off x="533400" y="1562100"/>
            <a:ext cx="5638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6000"/>
              </a:lnSpc>
              <a:buNone/>
              <a:defRPr sz="1500">
                <a:solidFill>
                  <a:srgbClr val="20302E"/>
                </a:solidFill>
                <a:latin typeface="Aptos"/>
                <a:ea typeface="Aptos"/>
                <a:cs typeface="Aptos"/>
              </a:defRPr>
            </a:pPr>
            <a:r>
              <a:rPr sz="1500">
                <a:solidFill>
                  <a:srgbClr val="20302E"/>
                </a:solidFill>
                <a:latin typeface="Aptos"/>
                <a:ea typeface="Aptos"/>
                <a:cs typeface="Aptos"/>
              </a:rPr>
              <a:t>Evaluation is a reasoned judgement: it connects a criterion, a fair test, an observation and a conclusion about the product. Functionality asks whether the carry item performs its intended job for its user. Aesthetics concerns the product's visual and sensory qualities.</a:t>
            </a:r>
          </a:p>
        </p:txBody>
      </p:sp>
      <p:sp>
        <p:nvSpPr>
          <p:cNvPr id="6" name="notice">
            <a:extLst xmlns:a="http://schemas.openxmlformats.org/drawingml/2006/main">
              <a:ext uri="{FF2B5EF4-FFF2-40B4-BE49-F238E27FC236}">
                <a16:creationId xmlns:a16="http://schemas.microsoft.com/office/drawing/2014/main" id="{381EDF16-0E6F-4FD5-B89C-FDA0DBE365EA}"/>
              </a:ext>
            </a:extLst>
          </p:cNvPr>
          <p:cNvSpPr>
            <a:spLocks xmlns:a="http://schemas.openxmlformats.org/drawingml/2006/main" noGrp="1"/>
          </p:cNvSpPr>
          <p:nvPr/>
        </p:nvSpPr>
        <p:spPr>
          <a:xfrm xmlns:a="http://schemas.openxmlformats.org/drawingml/2006/main">
            <a:off x="533400" y="4095750"/>
            <a:ext cx="5638800" cy="1085850"/>
          </a:xfrm>
          <a:prstGeom xmlns:a="http://schemas.openxmlformats.org/drawingml/2006/main" prst="roundRect">
            <a:avLst>
              <a:gd name="adj" fmla="val 10526"/>
            </a:avLst>
          </a:prstGeom>
          <a:solidFill xmlns:a="http://schemas.openxmlformats.org/drawingml/2006/main">
            <a:srgbClr val="EEF5F1"/>
          </a:solidFill>
          <a:ln xmlns:a="http://schemas.openxmlformats.org/drawingml/2006/main" w="9525">
            <a:solidFill>
              <a:srgbClr val="B9CEC7"/>
            </a:solidFill>
            <a:prstDash val="solid"/>
          </a:ln>
        </p:spPr>
      </p:sp>
      <p:sp>
        <p:nvSpPr>
          <p:cNvPr id="7" name="notice-label">
            <a:extLst xmlns:a="http://schemas.openxmlformats.org/drawingml/2006/main">
              <a:ext uri="{FF2B5EF4-FFF2-40B4-BE49-F238E27FC236}">
                <a16:creationId xmlns:a16="http://schemas.microsoft.com/office/drawing/2014/main" id="{AFA8739E-C0C0-4694-A67C-F6DC804353CB}"/>
              </a:ext>
            </a:extLst>
          </p:cNvPr>
          <p:cNvSpPr>
            <a:spLocks xmlns:a="http://schemas.openxmlformats.org/drawingml/2006/main" noGrp="1"/>
          </p:cNvSpPr>
          <p:nvPr/>
        </p:nvSpPr>
        <p:spPr>
          <a:xfrm xmlns:a="http://schemas.openxmlformats.org/drawingml/2006/main">
            <a:off x="723900" y="42481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LOOK AT THE VISUAL</a:t>
            </a:r>
          </a:p>
        </p:txBody>
      </p:sp>
      <p:sp>
        <p:nvSpPr>
          <p:cNvPr id="8" name="notice-text">
            <a:extLst xmlns:a="http://schemas.openxmlformats.org/drawingml/2006/main">
              <a:ext uri="{FF2B5EF4-FFF2-40B4-BE49-F238E27FC236}">
                <a16:creationId xmlns:a16="http://schemas.microsoft.com/office/drawing/2014/main" id="{00D952A6-4EA0-4831-B2D2-CE38BDD97424}"/>
              </a:ext>
            </a:extLst>
          </p:cNvPr>
          <p:cNvSpPr>
            <a:spLocks xmlns:a="http://schemas.openxmlformats.org/drawingml/2006/main" noGrp="1"/>
          </p:cNvSpPr>
          <p:nvPr/>
        </p:nvSpPr>
        <p:spPr>
          <a:xfrm xmlns:a="http://schemas.openxmlformats.org/drawingml/2006/main">
            <a:off x="723900" y="4476750"/>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0302E"/>
                </a:solidFill>
                <a:latin typeface="Aptos"/>
                <a:ea typeface="Aptos"/>
                <a:cs typeface="Aptos"/>
              </a:defRPr>
            </a:pPr>
            <a:r>
              <a:rPr sz="1275" b="1">
                <a:solidFill>
                  <a:srgbClr val="20302E"/>
                </a:solidFill>
                <a:latin typeface="Aptos"/>
                <a:ea typeface="Aptos"/>
                <a:cs typeface="Aptos"/>
              </a:rPr>
              <a:t>Connect the load test, comfort check, photograph, notes and revised handle samples. What evidence is needed before judging the criterion?</a:t>
            </a:r>
          </a:p>
        </p:txBody>
      </p:sp>
      <p:sp>
        <p:nvSpPr>
          <p:cNvPr id="9" name="prompt-band">
            <a:extLst xmlns:a="http://schemas.openxmlformats.org/drawingml/2006/main">
              <a:ext uri="{FF2B5EF4-FFF2-40B4-BE49-F238E27FC236}">
                <a16:creationId xmlns:a16="http://schemas.microsoft.com/office/drawing/2014/main" id="{258DE640-B04B-41A6-A619-4F4C3B46EFEB}"/>
              </a:ext>
            </a:extLst>
          </p:cNvPr>
          <p:cNvSpPr>
            <a:spLocks xmlns:a="http://schemas.openxmlformats.org/drawingml/2006/main" noGrp="1"/>
          </p:cNvSpPr>
          <p:nvPr/>
        </p:nvSpPr>
        <p:spPr>
          <a:xfrm xmlns:a="http://schemas.openxmlformats.org/drawingml/2006/main">
            <a:off x="533400" y="5467350"/>
            <a:ext cx="11125200" cy="628650"/>
          </a:xfrm>
          <a:prstGeom xmlns:a="http://schemas.openxmlformats.org/drawingml/2006/main" prst="roundRect">
            <a:avLst>
              <a:gd name="adj" fmla="val 18182"/>
            </a:avLst>
          </a:prstGeom>
          <a:solidFill xmlns:a="http://schemas.openxmlformats.org/drawingml/2006/main">
            <a:srgbClr val="F7E2E6"/>
          </a:solidFill>
          <a:ln xmlns:a="http://schemas.openxmlformats.org/drawingml/2006/main" w="9525">
            <a:solidFill>
              <a:srgbClr val="EBC2C9"/>
            </a:solidFill>
            <a:prstDash val="solid"/>
          </a:ln>
        </p:spPr>
      </p:sp>
      <p:sp>
        <p:nvSpPr>
          <p:cNvPr id="10" name="prompt-label">
            <a:extLst xmlns:a="http://schemas.openxmlformats.org/drawingml/2006/main">
              <a:ext uri="{FF2B5EF4-FFF2-40B4-BE49-F238E27FC236}">
                <a16:creationId xmlns:a16="http://schemas.microsoft.com/office/drawing/2014/main" id="{07030AA3-06D7-409B-9D24-0694D6582967}"/>
              </a:ext>
            </a:extLst>
          </p:cNvPr>
          <p:cNvSpPr>
            <a:spLocks xmlns:a="http://schemas.openxmlformats.org/drawingml/2006/main" noGrp="1"/>
          </p:cNvSpPr>
          <p:nvPr/>
        </p:nvSpPr>
        <p:spPr>
          <a:xfrm xmlns:a="http://schemas.openxmlformats.org/drawingml/2006/main">
            <a:off x="723900" y="56007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APPLY</a:t>
            </a:r>
          </a:p>
        </p:txBody>
      </p:sp>
      <p:sp>
        <p:nvSpPr>
          <p:cNvPr id="11" name="prompt-text">
            <a:extLst xmlns:a="http://schemas.openxmlformats.org/drawingml/2006/main">
              <a:ext uri="{FF2B5EF4-FFF2-40B4-BE49-F238E27FC236}">
                <a16:creationId xmlns:a16="http://schemas.microsoft.com/office/drawing/2014/main" id="{06EA4A10-6CF7-4C8A-BFBF-6F14C793008E}"/>
              </a:ext>
            </a:extLst>
          </p:cNvPr>
          <p:cNvSpPr>
            <a:spLocks xmlns:a="http://schemas.openxmlformats.org/drawingml/2006/main" noGrp="1"/>
          </p:cNvSpPr>
          <p:nvPr/>
        </p:nvSpPr>
        <p:spPr>
          <a:xfrm xmlns:a="http://schemas.openxmlformats.org/drawingml/2006/main">
            <a:off x="1466850" y="55816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Turn one broad success claim about a carry item into a controlled, observable product test.</a:t>
            </a:r>
          </a:p>
        </p:txBody>
      </p:sp>
      <p:sp>
        <p:nvSpPr>
          <p:cNvPr id="12" name="footer-module">
            <a:extLst xmlns:a="http://schemas.openxmlformats.org/drawingml/2006/main">
              <a:ext uri="{FF2B5EF4-FFF2-40B4-BE49-F238E27FC236}">
                <a16:creationId xmlns:a16="http://schemas.microsoft.com/office/drawing/2014/main" id="{EA5AF49B-4E91-440F-8083-50DDD31C8EB5}"/>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10</a:t>
            </a:r>
          </a:p>
        </p:txBody>
      </p:sp>
      <p:sp>
        <p:nvSpPr>
          <p:cNvPr id="13" name="footer-page">
            <a:extLst xmlns:a="http://schemas.openxmlformats.org/drawingml/2006/main">
              <a:ext uri="{FF2B5EF4-FFF2-40B4-BE49-F238E27FC236}">
                <a16:creationId xmlns:a16="http://schemas.microsoft.com/office/drawing/2014/main" id="{A7319B9F-6A69-4375-8038-EE70D0C54939}"/>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03</a:t>
            </a:r>
          </a:p>
        </p:txBody>
      </p:sp>
    </p:spTree>
    <p:extLst>
      <p:ext uri="{BB962C8B-B14F-4D97-AF65-F5344CB8AC3E}">
        <p14:creationId xmlns:p14="http://schemas.microsoft.com/office/powerpoint/2010/main" val="1463245579"/>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top-rule">
            <a:extLst xmlns:a="http://schemas.openxmlformats.org/drawingml/2006/main">
              <a:ext uri="{FF2B5EF4-FFF2-40B4-BE49-F238E27FC236}">
                <a16:creationId xmlns:a16="http://schemas.microsoft.com/office/drawing/2014/main" id="{70DDDB1A-3FD6-4852-9573-2590686EE2A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F4C5A"/>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FB8BA879-B80A-45C3-9047-C061A0505F7F}"/>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BF4C5A"/>
                </a:solidFill>
                <a:latin typeface="Aptos"/>
                <a:ea typeface="Aptos"/>
                <a:cs typeface="Aptos"/>
              </a:defRPr>
            </a:pPr>
            <a:r>
              <a:rPr sz="1050" b="1">
                <a:solidFill>
                  <a:srgbClr val="BF4C5A"/>
                </a:solidFill>
                <a:latin typeface="Aptos"/>
                <a:ea typeface="Aptos"/>
                <a:cs typeface="Aptos"/>
              </a:rPr>
              <a:t>2. EVALUATING ETHICS, ENVIRONMENTAL IMPACT AND SAFETY</a:t>
            </a:r>
          </a:p>
        </p:txBody>
      </p:sp>
      <p:sp>
        <p:nvSpPr>
          <p:cNvPr id="3" name="title">
            <a:extLst xmlns:a="http://schemas.openxmlformats.org/drawingml/2006/main">
              <a:ext uri="{FF2B5EF4-FFF2-40B4-BE49-F238E27FC236}">
                <a16:creationId xmlns:a16="http://schemas.microsoft.com/office/drawing/2014/main" id="{234F5A1A-8C41-41A8-A988-B4C4258EC0AA}"/>
              </a:ext>
            </a:extLst>
          </p:cNvPr>
          <p:cNvSpPr>
            <a:spLocks xmlns:a="http://schemas.openxmlformats.org/drawingml/2006/main" noGrp="1"/>
          </p:cNvSpPr>
          <p:nvPr/>
        </p:nvSpPr>
        <p:spPr>
          <a:xfrm xmlns:a="http://schemas.openxmlformats.org/drawingml/2006/main">
            <a:off x="533400" y="7239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Reusable is a goal, not automatic proof</a:t>
            </a:r>
          </a:p>
        </p:txBody>
      </p:sp>
      <p:pic>
        <p:nvPicPr>
          <p:cNvPr id="17" name="Teaching visual - A finished bag is evaluated beside source records, reusable offcuts, a repair sample and safely stored textiles equipment."/>
          <p:cNvPicPr>
            <a:picLocks xmlns:a="http://schemas.openxmlformats.org/drawingml/2006/main" noChangeAspect="1"/>
          </p:cNvPicPr>
          <p:nvPr/>
        </p:nvPicPr>
        <p:blipFill>
          <a:blip xmlns:r="http://schemas.openxmlformats.org/officeDocument/2006/relationships" xmlns:a="http://schemas.openxmlformats.org/drawingml/2006/main" r:embed="Rf9dd05cf340142a8"/>
          <a:stretch xmlns:a="http://schemas.openxmlformats.org/drawingml/2006/main"/>
        </p:blipFill>
        <p:spPr>
          <a:xfrm xmlns:a="http://schemas.openxmlformats.org/drawingml/2006/main">
            <a:off x="533400" y="1698625"/>
            <a:ext cx="5048250" cy="3365500"/>
          </a:xfrm>
          <a:prstGeom xmlns:a="http://schemas.openxmlformats.org/drawingml/2006/main" prst="roundRect">
            <a:avLst>
              <a:gd name="adj" fmla="val 3077"/>
            </a:avLst>
          </a:prstGeom>
        </p:spPr>
      </p:pic>
      <p:sp>
        <p:nvSpPr>
          <p:cNvPr id="5" name="theory">
            <a:extLst xmlns:a="http://schemas.openxmlformats.org/drawingml/2006/main">
              <a:ext uri="{FF2B5EF4-FFF2-40B4-BE49-F238E27FC236}">
                <a16:creationId xmlns:a16="http://schemas.microsoft.com/office/drawing/2014/main" id="{136EBE80-FA78-4C22-96E1-816DBF01A349}"/>
              </a:ext>
            </a:extLst>
          </p:cNvPr>
          <p:cNvSpPr>
            <a:spLocks xmlns:a="http://schemas.openxmlformats.org/drawingml/2006/main" noGrp="1"/>
          </p:cNvSpPr>
          <p:nvPr/>
        </p:nvSpPr>
        <p:spPr>
          <a:xfrm xmlns:a="http://schemas.openxmlformats.org/drawingml/2006/main">
            <a:off x="6019800" y="1562100"/>
            <a:ext cx="5638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6000"/>
              </a:lnSpc>
              <a:buNone/>
              <a:defRPr sz="1500">
                <a:solidFill>
                  <a:srgbClr val="20302E"/>
                </a:solidFill>
                <a:latin typeface="Aptos"/>
                <a:ea typeface="Aptos"/>
                <a:cs typeface="Aptos"/>
              </a:defRPr>
            </a:pPr>
            <a:r>
              <a:rPr sz="1500">
                <a:solidFill>
                  <a:srgbClr val="20302E"/>
                </a:solidFill>
                <a:latin typeface="Aptos"/>
                <a:ea typeface="Aptos"/>
                <a:cs typeface="Aptos"/>
              </a:rPr>
              <a:t>A responsible design evaluation asks not only ‘Did it work?’ but also ‘What consequences came from making and using it?’ Ethical evaluation considers people affected by design and production decisions. Environmental evaluation examines resources, waste, durability, reuse and the problem the design set out to address.</a:t>
            </a:r>
          </a:p>
        </p:txBody>
      </p:sp>
      <p:sp>
        <p:nvSpPr>
          <p:cNvPr id="6" name="notice">
            <a:extLst xmlns:a="http://schemas.openxmlformats.org/drawingml/2006/main">
              <a:ext uri="{FF2B5EF4-FFF2-40B4-BE49-F238E27FC236}">
                <a16:creationId xmlns:a16="http://schemas.microsoft.com/office/drawing/2014/main" id="{8552819F-39A6-4C84-BFCD-F6C6DBA740FB}"/>
              </a:ext>
            </a:extLst>
          </p:cNvPr>
          <p:cNvSpPr>
            <a:spLocks xmlns:a="http://schemas.openxmlformats.org/drawingml/2006/main" noGrp="1"/>
          </p:cNvSpPr>
          <p:nvPr/>
        </p:nvSpPr>
        <p:spPr>
          <a:xfrm xmlns:a="http://schemas.openxmlformats.org/drawingml/2006/main">
            <a:off x="6019800" y="4095750"/>
            <a:ext cx="5638800" cy="1085850"/>
          </a:xfrm>
          <a:prstGeom xmlns:a="http://schemas.openxmlformats.org/drawingml/2006/main" prst="roundRect">
            <a:avLst>
              <a:gd name="adj" fmla="val 10526"/>
            </a:avLst>
          </a:prstGeom>
          <a:solidFill xmlns:a="http://schemas.openxmlformats.org/drawingml/2006/main">
            <a:srgbClr val="EEF5F1"/>
          </a:solidFill>
          <a:ln xmlns:a="http://schemas.openxmlformats.org/drawingml/2006/main" w="9525">
            <a:solidFill>
              <a:srgbClr val="B9CEC7"/>
            </a:solidFill>
            <a:prstDash val="solid"/>
          </a:ln>
        </p:spPr>
      </p:sp>
      <p:sp>
        <p:nvSpPr>
          <p:cNvPr id="7" name="notice-label">
            <a:extLst xmlns:a="http://schemas.openxmlformats.org/drawingml/2006/main">
              <a:ext uri="{FF2B5EF4-FFF2-40B4-BE49-F238E27FC236}">
                <a16:creationId xmlns:a16="http://schemas.microsoft.com/office/drawing/2014/main" id="{4E049D8D-8729-4CF3-AE36-B05A6F7AB606}"/>
              </a:ext>
            </a:extLst>
          </p:cNvPr>
          <p:cNvSpPr>
            <a:spLocks xmlns:a="http://schemas.openxmlformats.org/drawingml/2006/main" noGrp="1"/>
          </p:cNvSpPr>
          <p:nvPr/>
        </p:nvSpPr>
        <p:spPr>
          <a:xfrm xmlns:a="http://schemas.openxmlformats.org/drawingml/2006/main">
            <a:off x="6210300" y="42481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LOOK AT THE VISUAL</a:t>
            </a:r>
          </a:p>
        </p:txBody>
      </p:sp>
      <p:sp>
        <p:nvSpPr>
          <p:cNvPr id="8" name="notice-text">
            <a:extLst xmlns:a="http://schemas.openxmlformats.org/drawingml/2006/main">
              <a:ext uri="{FF2B5EF4-FFF2-40B4-BE49-F238E27FC236}">
                <a16:creationId xmlns:a16="http://schemas.microsoft.com/office/drawing/2014/main" id="{13016C76-C4F8-40D9-B46A-37EFAD3D4F28}"/>
              </a:ext>
            </a:extLst>
          </p:cNvPr>
          <p:cNvSpPr>
            <a:spLocks xmlns:a="http://schemas.openxmlformats.org/drawingml/2006/main" noGrp="1"/>
          </p:cNvSpPr>
          <p:nvPr/>
        </p:nvSpPr>
        <p:spPr>
          <a:xfrm xmlns:a="http://schemas.openxmlformats.org/drawingml/2006/main">
            <a:off x="6210300" y="4476750"/>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0302E"/>
                </a:solidFill>
                <a:latin typeface="Aptos"/>
                <a:ea typeface="Aptos"/>
                <a:cs typeface="Aptos"/>
              </a:defRPr>
            </a:pPr>
            <a:r>
              <a:rPr sz="1275" b="1">
                <a:solidFill>
                  <a:srgbClr val="20302E"/>
                </a:solidFill>
                <a:latin typeface="Aptos"/>
                <a:ea typeface="Aptos"/>
                <a:cs typeface="Aptos"/>
              </a:rPr>
              <a:t>Identify objects that could support an ethical, environmental or safety evaluation. What additional evidence would each responsibility need?</a:t>
            </a:r>
          </a:p>
        </p:txBody>
      </p:sp>
      <p:sp>
        <p:nvSpPr>
          <p:cNvPr id="9" name="prompt-band">
            <a:extLst xmlns:a="http://schemas.openxmlformats.org/drawingml/2006/main">
              <a:ext uri="{FF2B5EF4-FFF2-40B4-BE49-F238E27FC236}">
                <a16:creationId xmlns:a16="http://schemas.microsoft.com/office/drawing/2014/main" id="{FA4B63FA-CCFB-4B4C-BDAD-BD640D7D8758}"/>
              </a:ext>
            </a:extLst>
          </p:cNvPr>
          <p:cNvSpPr>
            <a:spLocks xmlns:a="http://schemas.openxmlformats.org/drawingml/2006/main" noGrp="1"/>
          </p:cNvSpPr>
          <p:nvPr/>
        </p:nvSpPr>
        <p:spPr>
          <a:xfrm xmlns:a="http://schemas.openxmlformats.org/drawingml/2006/main">
            <a:off x="533400" y="5467350"/>
            <a:ext cx="11125200" cy="628650"/>
          </a:xfrm>
          <a:prstGeom xmlns:a="http://schemas.openxmlformats.org/drawingml/2006/main" prst="roundRect">
            <a:avLst>
              <a:gd name="adj" fmla="val 18182"/>
            </a:avLst>
          </a:prstGeom>
          <a:solidFill xmlns:a="http://schemas.openxmlformats.org/drawingml/2006/main">
            <a:srgbClr val="F7E2E6"/>
          </a:solidFill>
          <a:ln xmlns:a="http://schemas.openxmlformats.org/drawingml/2006/main" w="9525">
            <a:solidFill>
              <a:srgbClr val="EBC2C9"/>
            </a:solidFill>
            <a:prstDash val="solid"/>
          </a:ln>
        </p:spPr>
      </p:sp>
      <p:sp>
        <p:nvSpPr>
          <p:cNvPr id="10" name="prompt-label">
            <a:extLst xmlns:a="http://schemas.openxmlformats.org/drawingml/2006/main">
              <a:ext uri="{FF2B5EF4-FFF2-40B4-BE49-F238E27FC236}">
                <a16:creationId xmlns:a16="http://schemas.microsoft.com/office/drawing/2014/main" id="{53B807CC-E08C-4B78-92E5-579483E40265}"/>
              </a:ext>
            </a:extLst>
          </p:cNvPr>
          <p:cNvSpPr>
            <a:spLocks xmlns:a="http://schemas.openxmlformats.org/drawingml/2006/main" noGrp="1"/>
          </p:cNvSpPr>
          <p:nvPr/>
        </p:nvSpPr>
        <p:spPr>
          <a:xfrm xmlns:a="http://schemas.openxmlformats.org/drawingml/2006/main">
            <a:off x="723900" y="56007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APPLY</a:t>
            </a:r>
          </a:p>
        </p:txBody>
      </p:sp>
      <p:sp>
        <p:nvSpPr>
          <p:cNvPr id="11" name="prompt-text">
            <a:extLst xmlns:a="http://schemas.openxmlformats.org/drawingml/2006/main">
              <a:ext uri="{FF2B5EF4-FFF2-40B4-BE49-F238E27FC236}">
                <a16:creationId xmlns:a16="http://schemas.microsoft.com/office/drawing/2014/main" id="{50428D9A-1BFA-402A-A80F-726ABC3F901C}"/>
              </a:ext>
            </a:extLst>
          </p:cNvPr>
          <p:cNvSpPr>
            <a:spLocks xmlns:a="http://schemas.openxmlformats.org/drawingml/2006/main" noGrp="1"/>
          </p:cNvSpPr>
          <p:nvPr/>
        </p:nvSpPr>
        <p:spPr>
          <a:xfrm xmlns:a="http://schemas.openxmlformats.org/drawingml/2006/main">
            <a:off x="1466850" y="55816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Interrogate the claim that a reusable carry item is automatically environmentally responsible.</a:t>
            </a:r>
          </a:p>
        </p:txBody>
      </p:sp>
      <p:sp>
        <p:nvSpPr>
          <p:cNvPr id="12" name="footer-module">
            <a:extLst xmlns:a="http://schemas.openxmlformats.org/drawingml/2006/main">
              <a:ext uri="{FF2B5EF4-FFF2-40B4-BE49-F238E27FC236}">
                <a16:creationId xmlns:a16="http://schemas.microsoft.com/office/drawing/2014/main" id="{48D1F447-4540-474E-9064-4535F8755AF1}"/>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10</a:t>
            </a:r>
          </a:p>
        </p:txBody>
      </p:sp>
      <p:sp>
        <p:nvSpPr>
          <p:cNvPr id="13" name="footer-page">
            <a:extLst xmlns:a="http://schemas.openxmlformats.org/drawingml/2006/main">
              <a:ext uri="{FF2B5EF4-FFF2-40B4-BE49-F238E27FC236}">
                <a16:creationId xmlns:a16="http://schemas.microsoft.com/office/drawing/2014/main" id="{F33791AA-69F1-4DED-A541-B18B8CD662EB}"/>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04</a:t>
            </a:r>
          </a:p>
        </p:txBody>
      </p:sp>
    </p:spTree>
    <p:extLst>
      <p:ext uri="{BB962C8B-B14F-4D97-AF65-F5344CB8AC3E}">
        <p14:creationId xmlns:p14="http://schemas.microsoft.com/office/powerpoint/2010/main" val="1363102865"/>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top-rule">
            <a:extLst xmlns:a="http://schemas.openxmlformats.org/drawingml/2006/main">
              <a:ext uri="{FF2B5EF4-FFF2-40B4-BE49-F238E27FC236}">
                <a16:creationId xmlns:a16="http://schemas.microsoft.com/office/drawing/2014/main" id="{E09AAA95-4FAE-401C-98B0-798903EA16F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6B66"/>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0881E85E-A251-4640-B202-7C7F48318652}"/>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46B66"/>
                </a:solidFill>
                <a:latin typeface="Aptos"/>
                <a:ea typeface="Aptos"/>
                <a:cs typeface="Aptos"/>
              </a:defRPr>
            </a:pPr>
            <a:r>
              <a:rPr sz="1050" b="1">
                <a:solidFill>
                  <a:srgbClr val="146B66"/>
                </a:solidFill>
                <a:latin typeface="Aptos"/>
                <a:ea typeface="Aptos"/>
                <a:cs typeface="Aptos"/>
              </a:rPr>
              <a:t>3. ASSEMBLING FOLIO, PRACTICAL AND SAFETY EVIDENCE</a:t>
            </a:r>
          </a:p>
        </p:txBody>
      </p:sp>
      <p:sp>
        <p:nvSpPr>
          <p:cNvPr id="3" name="title">
            <a:extLst xmlns:a="http://schemas.openxmlformats.org/drawingml/2006/main">
              <a:ext uri="{FF2B5EF4-FFF2-40B4-BE49-F238E27FC236}">
                <a16:creationId xmlns:a16="http://schemas.microsoft.com/office/drawing/2014/main" id="{CE5CBBDE-4F62-4705-9531-9475E0CEB669}"/>
              </a:ext>
            </a:extLst>
          </p:cNvPr>
          <p:cNvSpPr>
            <a:spLocks xmlns:a="http://schemas.openxmlformats.org/drawingml/2006/main" noGrp="1"/>
          </p:cNvSpPr>
          <p:nvPr/>
        </p:nvSpPr>
        <p:spPr>
          <a:xfrm xmlns:a="http://schemas.openxmlformats.org/drawingml/2006/main">
            <a:off x="533400" y="7239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Evidence needs context</a:t>
            </a:r>
          </a:p>
        </p:txBody>
      </p:sp>
      <p:pic>
        <p:nvPicPr>
          <p:cNvPr id="17" name="Teaching visual - A finished bag, textile samples, notes and folio materials are arranged as potential project evidence."/>
          <p:cNvPicPr>
            <a:picLocks xmlns:a="http://schemas.openxmlformats.org/drawingml/2006/main" noChangeAspect="1"/>
          </p:cNvPicPr>
          <p:nvPr/>
        </p:nvPicPr>
        <p:blipFill>
          <a:blip xmlns:r="http://schemas.openxmlformats.org/officeDocument/2006/relationships" xmlns:a="http://schemas.openxmlformats.org/drawingml/2006/main" r:embed="R31526f7ce8c2443e"/>
          <a:stretch xmlns:a="http://schemas.openxmlformats.org/drawingml/2006/main"/>
        </p:blipFill>
        <p:spPr>
          <a:xfrm xmlns:a="http://schemas.openxmlformats.org/drawingml/2006/main">
            <a:off x="6657975" y="1524000"/>
            <a:ext cx="4953000" cy="3714750"/>
          </a:xfrm>
          <a:prstGeom xmlns:a="http://schemas.openxmlformats.org/drawingml/2006/main" prst="roundRect">
            <a:avLst>
              <a:gd name="adj" fmla="val 3077"/>
            </a:avLst>
          </a:prstGeom>
        </p:spPr>
      </p:pic>
      <p:sp>
        <p:nvSpPr>
          <p:cNvPr id="5" name="theory">
            <a:extLst xmlns:a="http://schemas.openxmlformats.org/drawingml/2006/main">
              <a:ext uri="{FF2B5EF4-FFF2-40B4-BE49-F238E27FC236}">
                <a16:creationId xmlns:a16="http://schemas.microsoft.com/office/drawing/2014/main" id="{E6F0EA44-794B-49DA-A95E-4433860A33D0}"/>
              </a:ext>
            </a:extLst>
          </p:cNvPr>
          <p:cNvSpPr>
            <a:spLocks xmlns:a="http://schemas.openxmlformats.org/drawingml/2006/main" noGrp="1"/>
          </p:cNvSpPr>
          <p:nvPr/>
        </p:nvSpPr>
        <p:spPr>
          <a:xfrm xmlns:a="http://schemas.openxmlformats.org/drawingml/2006/main">
            <a:off x="533400" y="1562100"/>
            <a:ext cx="5638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6000"/>
              </a:lnSpc>
              <a:buNone/>
              <a:defRPr sz="1500">
                <a:solidFill>
                  <a:srgbClr val="20302E"/>
                </a:solidFill>
                <a:latin typeface="Aptos"/>
                <a:ea typeface="Aptos"/>
                <a:cs typeface="Aptos"/>
              </a:defRPr>
            </a:pPr>
            <a:r>
              <a:rPr sz="1500">
                <a:solidFill>
                  <a:srgbClr val="20302E"/>
                </a:solidFill>
                <a:latin typeface="Aptos"/>
                <a:ea typeface="Aptos"/>
                <a:cs typeface="Aptos"/>
              </a:rPr>
              <a:t>A strong folio is not a scrapbook of everything collected; it is an organised explanation of how a design developed, was produced, tested and evaluated. Design evidence shows the reasoning before production. Process evidence shows development during making.</a:t>
            </a:r>
          </a:p>
        </p:txBody>
      </p:sp>
      <p:sp>
        <p:nvSpPr>
          <p:cNvPr id="6" name="notice">
            <a:extLst xmlns:a="http://schemas.openxmlformats.org/drawingml/2006/main">
              <a:ext uri="{FF2B5EF4-FFF2-40B4-BE49-F238E27FC236}">
                <a16:creationId xmlns:a16="http://schemas.microsoft.com/office/drawing/2014/main" id="{8E29F28B-6C2F-496F-84AC-6212EA65D20E}"/>
              </a:ext>
            </a:extLst>
          </p:cNvPr>
          <p:cNvSpPr>
            <a:spLocks xmlns:a="http://schemas.openxmlformats.org/drawingml/2006/main" noGrp="1"/>
          </p:cNvSpPr>
          <p:nvPr/>
        </p:nvSpPr>
        <p:spPr>
          <a:xfrm xmlns:a="http://schemas.openxmlformats.org/drawingml/2006/main">
            <a:off x="533400" y="4095750"/>
            <a:ext cx="5638800" cy="1085850"/>
          </a:xfrm>
          <a:prstGeom xmlns:a="http://schemas.openxmlformats.org/drawingml/2006/main" prst="roundRect">
            <a:avLst>
              <a:gd name="adj" fmla="val 10526"/>
            </a:avLst>
          </a:prstGeom>
          <a:solidFill xmlns:a="http://schemas.openxmlformats.org/drawingml/2006/main">
            <a:srgbClr val="EEF5F1"/>
          </a:solidFill>
          <a:ln xmlns:a="http://schemas.openxmlformats.org/drawingml/2006/main" w="9525">
            <a:solidFill>
              <a:srgbClr val="B9CEC7"/>
            </a:solidFill>
            <a:prstDash val="solid"/>
          </a:ln>
        </p:spPr>
      </p:sp>
      <p:sp>
        <p:nvSpPr>
          <p:cNvPr id="7" name="notice-label">
            <a:extLst xmlns:a="http://schemas.openxmlformats.org/drawingml/2006/main">
              <a:ext uri="{FF2B5EF4-FFF2-40B4-BE49-F238E27FC236}">
                <a16:creationId xmlns:a16="http://schemas.microsoft.com/office/drawing/2014/main" id="{DD0444B2-18C3-49F5-B162-DFE5DE3465CA}"/>
              </a:ext>
            </a:extLst>
          </p:cNvPr>
          <p:cNvSpPr>
            <a:spLocks xmlns:a="http://schemas.openxmlformats.org/drawingml/2006/main" noGrp="1"/>
          </p:cNvSpPr>
          <p:nvPr/>
        </p:nvSpPr>
        <p:spPr>
          <a:xfrm xmlns:a="http://schemas.openxmlformats.org/drawingml/2006/main">
            <a:off x="723900" y="42481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LOOK AT THE VISUAL</a:t>
            </a:r>
          </a:p>
        </p:txBody>
      </p:sp>
      <p:sp>
        <p:nvSpPr>
          <p:cNvPr id="8" name="notice-text">
            <a:extLst xmlns:a="http://schemas.openxmlformats.org/drawingml/2006/main">
              <a:ext uri="{FF2B5EF4-FFF2-40B4-BE49-F238E27FC236}">
                <a16:creationId xmlns:a16="http://schemas.microsoft.com/office/drawing/2014/main" id="{9E3ED0B9-B232-4277-ABC4-B5EEB3FC3CC2}"/>
              </a:ext>
            </a:extLst>
          </p:cNvPr>
          <p:cNvSpPr>
            <a:spLocks xmlns:a="http://schemas.openxmlformats.org/drawingml/2006/main" noGrp="1"/>
          </p:cNvSpPr>
          <p:nvPr/>
        </p:nvSpPr>
        <p:spPr>
          <a:xfrm xmlns:a="http://schemas.openxmlformats.org/drawingml/2006/main">
            <a:off x="723900" y="4476750"/>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0302E"/>
                </a:solidFill>
                <a:latin typeface="Aptos"/>
                <a:ea typeface="Aptos"/>
                <a:cs typeface="Aptos"/>
              </a:defRPr>
            </a:pPr>
            <a:r>
              <a:rPr sz="1275" b="1">
                <a:solidFill>
                  <a:srgbClr val="20302E"/>
                </a:solidFill>
                <a:latin typeface="Aptos"/>
                <a:ea typeface="Aptos"/>
                <a:cs typeface="Aptos"/>
              </a:rPr>
              <a:t>For each visible evidence item, what context, caption, privacy check and status statement is still needed?</a:t>
            </a:r>
          </a:p>
        </p:txBody>
      </p:sp>
      <p:sp>
        <p:nvSpPr>
          <p:cNvPr id="9" name="prompt-band">
            <a:extLst xmlns:a="http://schemas.openxmlformats.org/drawingml/2006/main">
              <a:ext uri="{FF2B5EF4-FFF2-40B4-BE49-F238E27FC236}">
                <a16:creationId xmlns:a16="http://schemas.microsoft.com/office/drawing/2014/main" id="{A17A5E41-AA5A-44B5-8934-DB4C01549883}"/>
              </a:ext>
            </a:extLst>
          </p:cNvPr>
          <p:cNvSpPr>
            <a:spLocks xmlns:a="http://schemas.openxmlformats.org/drawingml/2006/main" noGrp="1"/>
          </p:cNvSpPr>
          <p:nvPr/>
        </p:nvSpPr>
        <p:spPr>
          <a:xfrm xmlns:a="http://schemas.openxmlformats.org/drawingml/2006/main">
            <a:off x="533400" y="5467350"/>
            <a:ext cx="11125200" cy="628650"/>
          </a:xfrm>
          <a:prstGeom xmlns:a="http://schemas.openxmlformats.org/drawingml/2006/main" prst="roundRect">
            <a:avLst>
              <a:gd name="adj" fmla="val 18182"/>
            </a:avLst>
          </a:prstGeom>
          <a:solidFill xmlns:a="http://schemas.openxmlformats.org/drawingml/2006/main">
            <a:srgbClr val="F7E2E6"/>
          </a:solidFill>
          <a:ln xmlns:a="http://schemas.openxmlformats.org/drawingml/2006/main" w="9525">
            <a:solidFill>
              <a:srgbClr val="EBC2C9"/>
            </a:solidFill>
            <a:prstDash val="solid"/>
          </a:ln>
        </p:spPr>
      </p:sp>
      <p:sp>
        <p:nvSpPr>
          <p:cNvPr id="10" name="prompt-label">
            <a:extLst xmlns:a="http://schemas.openxmlformats.org/drawingml/2006/main">
              <a:ext uri="{FF2B5EF4-FFF2-40B4-BE49-F238E27FC236}">
                <a16:creationId xmlns:a16="http://schemas.microsoft.com/office/drawing/2014/main" id="{586C95AB-EDDC-4322-9A6C-CE2FFD8C2730}"/>
              </a:ext>
            </a:extLst>
          </p:cNvPr>
          <p:cNvSpPr>
            <a:spLocks xmlns:a="http://schemas.openxmlformats.org/drawingml/2006/main" noGrp="1"/>
          </p:cNvSpPr>
          <p:nvPr/>
        </p:nvSpPr>
        <p:spPr>
          <a:xfrm xmlns:a="http://schemas.openxmlformats.org/drawingml/2006/main">
            <a:off x="723900" y="56007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APPLY</a:t>
            </a:r>
          </a:p>
        </p:txBody>
      </p:sp>
      <p:sp>
        <p:nvSpPr>
          <p:cNvPr id="11" name="prompt-text">
            <a:extLst xmlns:a="http://schemas.openxmlformats.org/drawingml/2006/main">
              <a:ext uri="{FF2B5EF4-FFF2-40B4-BE49-F238E27FC236}">
                <a16:creationId xmlns:a16="http://schemas.microsoft.com/office/drawing/2014/main" id="{5C6358EC-B1A2-41B2-94D0-452039CB8096}"/>
              </a:ext>
            </a:extLst>
          </p:cNvPr>
          <p:cNvSpPr>
            <a:spLocks xmlns:a="http://schemas.openxmlformats.org/drawingml/2006/main" noGrp="1"/>
          </p:cNvSpPr>
          <p:nvPr/>
        </p:nvSpPr>
        <p:spPr>
          <a:xfrm xmlns:a="http://schemas.openxmlformats.org/drawingml/2006/main">
            <a:off x="1466850" y="55816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Sort a mixed set of evidence items, improve weak captions and reject any unsupported claim.</a:t>
            </a:r>
          </a:p>
        </p:txBody>
      </p:sp>
      <p:sp>
        <p:nvSpPr>
          <p:cNvPr id="12" name="footer-module">
            <a:extLst xmlns:a="http://schemas.openxmlformats.org/drawingml/2006/main">
              <a:ext uri="{FF2B5EF4-FFF2-40B4-BE49-F238E27FC236}">
                <a16:creationId xmlns:a16="http://schemas.microsoft.com/office/drawing/2014/main" id="{754844FE-040A-4097-A946-A3BB84722CAA}"/>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10</a:t>
            </a:r>
          </a:p>
        </p:txBody>
      </p:sp>
      <p:sp>
        <p:nvSpPr>
          <p:cNvPr id="13" name="footer-page">
            <a:extLst xmlns:a="http://schemas.openxmlformats.org/drawingml/2006/main">
              <a:ext uri="{FF2B5EF4-FFF2-40B4-BE49-F238E27FC236}">
                <a16:creationId xmlns:a16="http://schemas.microsoft.com/office/drawing/2014/main" id="{E88077A7-9C4C-49E3-8E5E-1017D3CEF00D}"/>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05</a:t>
            </a:r>
          </a:p>
        </p:txBody>
      </p:sp>
    </p:spTree>
    <p:extLst>
      <p:ext uri="{BB962C8B-B14F-4D97-AF65-F5344CB8AC3E}">
        <p14:creationId xmlns:p14="http://schemas.microsoft.com/office/powerpoint/2010/main" val="1121223305"/>
      </p:ext>
    </p:extLst>
  </p:cSld>
</p:sld>
</file>

<file path=ppt/slides/slide6.xml><?xml version="1.0" encoding="utf-8"?>
<p:sld xmlns:p="http://schemas.openxmlformats.org/presentationml/2006/main">
  <p:cSld>
    <p:bg>
      <p:bgPr>
        <a:solidFill xmlns:a="http://schemas.openxmlformats.org/drawingml/2006/main">
          <a:srgbClr val="0C4E4A"/>
        </a:solidFill>
      </p:bgPr>
    </p:bg>
    <p:spTree>
      <p:nvGrpSpPr>
        <p:cNvPr id="1" name=""/>
        <p:cNvGrpSpPr/>
        <p:nvPr/>
      </p:nvGrpSpPr>
      <p:grpSpPr>
        <a:xfrm xmlns:a="http://schemas.openxmlformats.org/drawingml/2006/main"/>
      </p:grpSpPr>
      <p:sp>
        <p:nvSpPr>
          <p:cNvPr id="19" name="top-rule">
            <a:extLst xmlns:a="http://schemas.openxmlformats.org/drawingml/2006/main">
              <a:ext uri="{FF2B5EF4-FFF2-40B4-BE49-F238E27FC236}">
                <a16:creationId xmlns:a16="http://schemas.microsoft.com/office/drawing/2014/main" id="{A116E4A6-B5F7-4153-9A90-23155D4BA1B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D9F60D6C-EB6E-4AAF-912D-D4BA44FD6583}"/>
              </a:ext>
            </a:extLst>
          </p:cNvPr>
          <p:cNvSpPr>
            <a:spLocks xmlns:a="http://schemas.openxmlformats.org/drawingml/2006/main" noGrp="1"/>
          </p:cNvSpPr>
          <p:nvPr/>
        </p:nvSpPr>
        <p:spPr>
          <a:xfrm xmlns:a="http://schemas.openxmlformats.org/drawingml/2006/main">
            <a:off x="533400" y="3048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E4A4"/>
                </a:solidFill>
                <a:latin typeface="Aptos"/>
                <a:ea typeface="Aptos"/>
                <a:cs typeface="Aptos"/>
              </a:defRPr>
            </a:pPr>
            <a:r>
              <a:rPr sz="1050" b="1">
                <a:solidFill>
                  <a:srgbClr val="FFE4A4"/>
                </a:solidFill>
                <a:latin typeface="Aptos"/>
                <a:ea typeface="Aptos"/>
                <a:cs typeface="Aptos"/>
              </a:rPr>
              <a:t>CHECK YOUR UNDERSTANDING</a:t>
            </a:r>
          </a:p>
        </p:txBody>
      </p:sp>
      <p:sp>
        <p:nvSpPr>
          <p:cNvPr id="3" name="title">
            <a:extLst xmlns:a="http://schemas.openxmlformats.org/drawingml/2006/main">
              <a:ext uri="{FF2B5EF4-FFF2-40B4-BE49-F238E27FC236}">
                <a16:creationId xmlns:a16="http://schemas.microsoft.com/office/drawing/2014/main" id="{C9B33CAB-76B1-4B8A-BBCD-C255D76023B8}"/>
              </a:ext>
            </a:extLst>
          </p:cNvPr>
          <p:cNvSpPr>
            <a:spLocks xmlns:a="http://schemas.openxmlformats.org/drawingml/2006/main" noGrp="1"/>
          </p:cNvSpPr>
          <p:nvPr/>
        </p:nvSpPr>
        <p:spPr>
          <a:xfrm xmlns:a="http://schemas.openxmlformats.org/drawingml/2006/main">
            <a:off x="533400" y="800100"/>
            <a:ext cx="762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Stop. Think. Explain.</a:t>
            </a:r>
          </a:p>
        </p:txBody>
      </p:sp>
      <p:sp>
        <p:nvSpPr>
          <p:cNvPr id="4" name="instruction">
            <a:extLst xmlns:a="http://schemas.openxmlformats.org/drawingml/2006/main">
              <a:ext uri="{FF2B5EF4-FFF2-40B4-BE49-F238E27FC236}">
                <a16:creationId xmlns:a16="http://schemas.microsoft.com/office/drawing/2014/main" id="{6D57E191-09C9-4831-BCFB-8F321BDE669D}"/>
              </a:ext>
            </a:extLst>
          </p:cNvPr>
          <p:cNvSpPr>
            <a:spLocks xmlns:a="http://schemas.openxmlformats.org/drawingml/2006/main" noGrp="1"/>
          </p:cNvSpPr>
          <p:nvPr/>
        </p:nvSpPr>
        <p:spPr>
          <a:xfrm xmlns:a="http://schemas.openxmlformats.org/drawingml/2006/main">
            <a:off x="533400" y="1428750"/>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a:solidFill>
                  <a:srgbClr val="C8D6D2"/>
                </a:solidFill>
                <a:latin typeface="Aptos"/>
                <a:ea typeface="Aptos"/>
                <a:cs typeface="Aptos"/>
              </a:defRPr>
            </a:pPr>
            <a:r>
              <a:rPr sz="1425">
                <a:solidFill>
                  <a:srgbClr val="C8D6D2"/>
                </a:solidFill>
                <a:latin typeface="Aptos"/>
                <a:ea typeface="Aptos"/>
                <a:cs typeface="Aptos"/>
              </a:rPr>
              <a:t>Answer silently first. Then justify one answer with a partner.</a:t>
            </a:r>
          </a:p>
        </p:txBody>
      </p:sp>
      <p:sp>
        <p:nvSpPr>
          <p:cNvPr id="5" name="check-number-1">
            <a:extLst xmlns:a="http://schemas.openxmlformats.org/drawingml/2006/main">
              <a:ext uri="{FF2B5EF4-FFF2-40B4-BE49-F238E27FC236}">
                <a16:creationId xmlns:a16="http://schemas.microsoft.com/office/drawing/2014/main" id="{A3A772CE-9DF1-46A6-81D3-6B7DFA81B6F1}"/>
              </a:ext>
            </a:extLst>
          </p:cNvPr>
          <p:cNvSpPr>
            <a:spLocks xmlns:a="http://schemas.openxmlformats.org/drawingml/2006/main" noGrp="1"/>
          </p:cNvSpPr>
          <p:nvPr/>
        </p:nvSpPr>
        <p:spPr>
          <a:xfrm xmlns:a="http://schemas.openxmlformats.org/drawingml/2006/main">
            <a:off x="685800" y="223837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1</a:t>
            </a:r>
          </a:p>
        </p:txBody>
      </p:sp>
      <p:sp>
        <p:nvSpPr>
          <p:cNvPr id="6" name="check-line-1">
            <a:extLst xmlns:a="http://schemas.openxmlformats.org/drawingml/2006/main">
              <a:ext uri="{FF2B5EF4-FFF2-40B4-BE49-F238E27FC236}">
                <a16:creationId xmlns:a16="http://schemas.microsoft.com/office/drawing/2014/main" id="{C8BE331F-3D7C-4324-9CE9-C7F388BA6B30}"/>
              </a:ext>
            </a:extLst>
          </p:cNvPr>
          <p:cNvSpPr>
            <a:spLocks xmlns:a="http://schemas.openxmlformats.org/drawingml/2006/main" noGrp="1"/>
          </p:cNvSpPr>
          <p:nvPr/>
        </p:nvSpPr>
        <p:spPr>
          <a:xfrm xmlns:a="http://schemas.openxmlformats.org/drawingml/2006/main">
            <a:off x="1257300" y="243840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7" name="check-1">
            <a:extLst xmlns:a="http://schemas.openxmlformats.org/drawingml/2006/main">
              <a:ext uri="{FF2B5EF4-FFF2-40B4-BE49-F238E27FC236}">
                <a16:creationId xmlns:a16="http://schemas.microsoft.com/office/drawing/2014/main" id="{F537B942-7CC6-47C0-A5B5-893118AEBFAC}"/>
              </a:ext>
            </a:extLst>
          </p:cNvPr>
          <p:cNvSpPr>
            <a:spLocks xmlns:a="http://schemas.openxmlformats.org/drawingml/2006/main" noGrp="1"/>
          </p:cNvSpPr>
          <p:nvPr/>
        </p:nvSpPr>
        <p:spPr>
          <a:xfrm xmlns:a="http://schemas.openxmlformats.org/drawingml/2006/main">
            <a:off x="1524000" y="214312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What makes a product evaluation evidence-based?</a:t>
            </a:r>
          </a:p>
        </p:txBody>
      </p:sp>
      <p:sp>
        <p:nvSpPr>
          <p:cNvPr id="8" name="check-number-2">
            <a:extLst xmlns:a="http://schemas.openxmlformats.org/drawingml/2006/main">
              <a:ext uri="{FF2B5EF4-FFF2-40B4-BE49-F238E27FC236}">
                <a16:creationId xmlns:a16="http://schemas.microsoft.com/office/drawing/2014/main" id="{4C27DE59-AB66-453A-8DC1-26973436ECA2}"/>
              </a:ext>
            </a:extLst>
          </p:cNvPr>
          <p:cNvSpPr>
            <a:spLocks xmlns:a="http://schemas.openxmlformats.org/drawingml/2006/main" noGrp="1"/>
          </p:cNvSpPr>
          <p:nvPr/>
        </p:nvSpPr>
        <p:spPr>
          <a:xfrm xmlns:a="http://schemas.openxmlformats.org/drawingml/2006/main">
            <a:off x="685800" y="320992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2</a:t>
            </a:r>
          </a:p>
        </p:txBody>
      </p:sp>
      <p:sp>
        <p:nvSpPr>
          <p:cNvPr id="9" name="check-line-2">
            <a:extLst xmlns:a="http://schemas.openxmlformats.org/drawingml/2006/main">
              <a:ext uri="{FF2B5EF4-FFF2-40B4-BE49-F238E27FC236}">
                <a16:creationId xmlns:a16="http://schemas.microsoft.com/office/drawing/2014/main" id="{7D05261E-DEC5-4CA4-9CB6-83B7EEB97594}"/>
              </a:ext>
            </a:extLst>
          </p:cNvPr>
          <p:cNvSpPr>
            <a:spLocks xmlns:a="http://schemas.openxmlformats.org/drawingml/2006/main" noGrp="1"/>
          </p:cNvSpPr>
          <p:nvPr/>
        </p:nvSpPr>
        <p:spPr>
          <a:xfrm xmlns:a="http://schemas.openxmlformats.org/drawingml/2006/main">
            <a:off x="1257300" y="340995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10" name="check-2">
            <a:extLst xmlns:a="http://schemas.openxmlformats.org/drawingml/2006/main">
              <a:ext uri="{FF2B5EF4-FFF2-40B4-BE49-F238E27FC236}">
                <a16:creationId xmlns:a16="http://schemas.microsoft.com/office/drawing/2014/main" id="{F7618F48-C46D-41E2-A191-123255A3D171}"/>
              </a:ext>
            </a:extLst>
          </p:cNvPr>
          <p:cNvSpPr>
            <a:spLocks xmlns:a="http://schemas.openxmlformats.org/drawingml/2006/main" noGrp="1"/>
          </p:cNvSpPr>
          <p:nvPr/>
        </p:nvSpPr>
        <p:spPr>
          <a:xfrm xmlns:a="http://schemas.openxmlformats.org/drawingml/2006/main">
            <a:off x="1524000" y="311467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Which question begins an ethical evaluation?</a:t>
            </a:r>
          </a:p>
        </p:txBody>
      </p:sp>
      <p:sp>
        <p:nvSpPr>
          <p:cNvPr id="11" name="check-number-3">
            <a:extLst xmlns:a="http://schemas.openxmlformats.org/drawingml/2006/main">
              <a:ext uri="{FF2B5EF4-FFF2-40B4-BE49-F238E27FC236}">
                <a16:creationId xmlns:a16="http://schemas.microsoft.com/office/drawing/2014/main" id="{32611E86-DC7D-4456-80AB-FACA6BA0E237}"/>
              </a:ext>
            </a:extLst>
          </p:cNvPr>
          <p:cNvSpPr>
            <a:spLocks xmlns:a="http://schemas.openxmlformats.org/drawingml/2006/main" noGrp="1"/>
          </p:cNvSpPr>
          <p:nvPr/>
        </p:nvSpPr>
        <p:spPr>
          <a:xfrm xmlns:a="http://schemas.openxmlformats.org/drawingml/2006/main">
            <a:off x="685800" y="418147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3</a:t>
            </a:r>
          </a:p>
        </p:txBody>
      </p:sp>
      <p:sp>
        <p:nvSpPr>
          <p:cNvPr id="12" name="check-line-3">
            <a:extLst xmlns:a="http://schemas.openxmlformats.org/drawingml/2006/main">
              <a:ext uri="{FF2B5EF4-FFF2-40B4-BE49-F238E27FC236}">
                <a16:creationId xmlns:a16="http://schemas.microsoft.com/office/drawing/2014/main" id="{62E7F3A6-A814-4138-AE35-E9D52FBFF938}"/>
              </a:ext>
            </a:extLst>
          </p:cNvPr>
          <p:cNvSpPr>
            <a:spLocks xmlns:a="http://schemas.openxmlformats.org/drawingml/2006/main" noGrp="1"/>
          </p:cNvSpPr>
          <p:nvPr/>
        </p:nvSpPr>
        <p:spPr>
          <a:xfrm xmlns:a="http://schemas.openxmlformats.org/drawingml/2006/main">
            <a:off x="1257300" y="438150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13" name="check-3">
            <a:extLst xmlns:a="http://schemas.openxmlformats.org/drawingml/2006/main">
              <a:ext uri="{FF2B5EF4-FFF2-40B4-BE49-F238E27FC236}">
                <a16:creationId xmlns:a16="http://schemas.microsoft.com/office/drawing/2014/main" id="{88138FAD-B670-42E1-9B5E-5A409933DBD2}"/>
              </a:ext>
            </a:extLst>
          </p:cNvPr>
          <p:cNvSpPr>
            <a:spLocks xmlns:a="http://schemas.openxmlformats.org/drawingml/2006/main" noGrp="1"/>
          </p:cNvSpPr>
          <p:nvPr/>
        </p:nvSpPr>
        <p:spPr>
          <a:xfrm xmlns:a="http://schemas.openxmlformats.org/drawingml/2006/main">
            <a:off x="1524000" y="408622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What makes a folio coherent?</a:t>
            </a:r>
          </a:p>
        </p:txBody>
      </p:sp>
      <p:sp>
        <p:nvSpPr>
          <p:cNvPr id="14" name="check-number-4">
            <a:extLst xmlns:a="http://schemas.openxmlformats.org/drawingml/2006/main">
              <a:ext uri="{FF2B5EF4-FFF2-40B4-BE49-F238E27FC236}">
                <a16:creationId xmlns:a16="http://schemas.microsoft.com/office/drawing/2014/main" id="{2D509122-273F-4C3D-AE72-2CAF06837206}"/>
              </a:ext>
            </a:extLst>
          </p:cNvPr>
          <p:cNvSpPr>
            <a:spLocks xmlns:a="http://schemas.openxmlformats.org/drawingml/2006/main" noGrp="1"/>
          </p:cNvSpPr>
          <p:nvPr/>
        </p:nvSpPr>
        <p:spPr>
          <a:xfrm xmlns:a="http://schemas.openxmlformats.org/drawingml/2006/main">
            <a:off x="685800" y="515302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4</a:t>
            </a:r>
          </a:p>
        </p:txBody>
      </p:sp>
      <p:sp>
        <p:nvSpPr>
          <p:cNvPr id="15" name="check-line-4">
            <a:extLst xmlns:a="http://schemas.openxmlformats.org/drawingml/2006/main">
              <a:ext uri="{FF2B5EF4-FFF2-40B4-BE49-F238E27FC236}">
                <a16:creationId xmlns:a16="http://schemas.microsoft.com/office/drawing/2014/main" id="{E89140CC-DA29-4BFA-94A8-494F88F6F84F}"/>
              </a:ext>
            </a:extLst>
          </p:cNvPr>
          <p:cNvSpPr>
            <a:spLocks xmlns:a="http://schemas.openxmlformats.org/drawingml/2006/main" noGrp="1"/>
          </p:cNvSpPr>
          <p:nvPr/>
        </p:nvSpPr>
        <p:spPr>
          <a:xfrm xmlns:a="http://schemas.openxmlformats.org/drawingml/2006/main">
            <a:off x="1257300" y="535305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16" name="check-4">
            <a:extLst xmlns:a="http://schemas.openxmlformats.org/drawingml/2006/main">
              <a:ext uri="{FF2B5EF4-FFF2-40B4-BE49-F238E27FC236}">
                <a16:creationId xmlns:a16="http://schemas.microsoft.com/office/drawing/2014/main" id="{C19802B9-6606-4A69-AE35-54DBAC08E0A0}"/>
              </a:ext>
            </a:extLst>
          </p:cNvPr>
          <p:cNvSpPr>
            <a:spLocks xmlns:a="http://schemas.openxmlformats.org/drawingml/2006/main" noGrp="1"/>
          </p:cNvSpPr>
          <p:nvPr/>
        </p:nvSpPr>
        <p:spPr>
          <a:xfrm xmlns:a="http://schemas.openxmlformats.org/drawingml/2006/main">
            <a:off x="1524000" y="505777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Which idea from this module most changes your next design or production decision?</a:t>
            </a:r>
          </a:p>
        </p:txBody>
      </p:sp>
      <p:sp>
        <p:nvSpPr>
          <p:cNvPr id="17" name="footer-module">
            <a:extLst xmlns:a="http://schemas.openxmlformats.org/drawingml/2006/main">
              <a:ext uri="{FF2B5EF4-FFF2-40B4-BE49-F238E27FC236}">
                <a16:creationId xmlns:a16="http://schemas.microsoft.com/office/drawing/2014/main" id="{7486BCAB-D1FF-4EE0-A547-E928024352D7}"/>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C8D6D2"/>
                </a:solidFill>
                <a:latin typeface="Aptos"/>
                <a:ea typeface="Aptos"/>
                <a:cs typeface="Aptos"/>
              </a:defRPr>
            </a:pPr>
            <a:r>
              <a:rPr sz="900" b="1">
                <a:solidFill>
                  <a:srgbClr val="C8D6D2"/>
                </a:solidFill>
                <a:latin typeface="Aptos"/>
                <a:ea typeface="Aptos"/>
                <a:cs typeface="Aptos"/>
              </a:rPr>
              <a:t>SEW AWESOME  •  MODULE 10</a:t>
            </a:r>
          </a:p>
        </p:txBody>
      </p:sp>
      <p:sp>
        <p:nvSpPr>
          <p:cNvPr id="18" name="footer-page">
            <a:extLst xmlns:a="http://schemas.openxmlformats.org/drawingml/2006/main">
              <a:ext uri="{FF2B5EF4-FFF2-40B4-BE49-F238E27FC236}">
                <a16:creationId xmlns:a16="http://schemas.microsoft.com/office/drawing/2014/main" id="{77235F0F-44AE-4FCA-A89F-EC6EF8D04C5F}"/>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C8D6D2"/>
                </a:solidFill>
                <a:latin typeface="Aptos"/>
                <a:ea typeface="Aptos"/>
                <a:cs typeface="Aptos"/>
              </a:defRPr>
            </a:pPr>
            <a:r>
              <a:rPr sz="900" b="1">
                <a:solidFill>
                  <a:srgbClr val="C8D6D2"/>
                </a:solidFill>
                <a:latin typeface="Aptos"/>
                <a:ea typeface="Aptos"/>
                <a:cs typeface="Aptos"/>
              </a:rPr>
              <a:t>06</a:t>
            </a:r>
          </a:p>
        </p:txBody>
      </p:sp>
    </p:spTree>
    <p:extLst>
      <p:ext uri="{BB962C8B-B14F-4D97-AF65-F5344CB8AC3E}">
        <p14:creationId xmlns:p14="http://schemas.microsoft.com/office/powerpoint/2010/main" val="281890054"/>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3" name="top-rule">
            <a:extLst xmlns:a="http://schemas.openxmlformats.org/drawingml/2006/main">
              <a:ext uri="{FF2B5EF4-FFF2-40B4-BE49-F238E27FC236}">
                <a16:creationId xmlns:a16="http://schemas.microsoft.com/office/drawing/2014/main" id="{0E482BED-7B84-4289-8C3E-5BFD75FEA9A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F4C5A"/>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A167611C-7779-4209-9E26-F66AA69E7FE5}"/>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BF4C5A"/>
                </a:solidFill>
                <a:latin typeface="Aptos"/>
                <a:ea typeface="Aptos"/>
                <a:cs typeface="Aptos"/>
              </a:defRPr>
            </a:pPr>
            <a:r>
              <a:rPr sz="1050" b="1">
                <a:solidFill>
                  <a:srgbClr val="BF4C5A"/>
                </a:solidFill>
                <a:latin typeface="Aptos"/>
                <a:ea typeface="Aptos"/>
                <a:cs typeface="Aptos"/>
              </a:rPr>
              <a:t>MODEL A LONGER RESPONSE</a:t>
            </a:r>
          </a:p>
        </p:txBody>
      </p:sp>
      <p:sp>
        <p:nvSpPr>
          <p:cNvPr id="3" name="title">
            <a:extLst xmlns:a="http://schemas.openxmlformats.org/drawingml/2006/main">
              <a:ext uri="{FF2B5EF4-FFF2-40B4-BE49-F238E27FC236}">
                <a16:creationId xmlns:a16="http://schemas.microsoft.com/office/drawing/2014/main" id="{E7A69B72-D8C3-4A67-8864-1D6FE8401487}"/>
              </a:ext>
            </a:extLst>
          </p:cNvPr>
          <p:cNvSpPr>
            <a:spLocks xmlns:a="http://schemas.openxmlformats.org/drawingml/2006/main" noGrp="1"/>
          </p:cNvSpPr>
          <p:nvPr/>
        </p:nvSpPr>
        <p:spPr>
          <a:xfrm xmlns:a="http://schemas.openxmlformats.org/drawingml/2006/main">
            <a:off x="533400" y="7239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Read → Select → Explain → Check</a:t>
            </a:r>
          </a:p>
        </p:txBody>
      </p:sp>
      <p:sp>
        <p:nvSpPr>
          <p:cNvPr id="4" name="question-surface">
            <a:extLst xmlns:a="http://schemas.openxmlformats.org/drawingml/2006/main">
              <a:ext uri="{FF2B5EF4-FFF2-40B4-BE49-F238E27FC236}">
                <a16:creationId xmlns:a16="http://schemas.microsoft.com/office/drawing/2014/main" id="{88291F39-CB34-4FFA-96DE-F2375CB69637}"/>
              </a:ext>
            </a:extLst>
          </p:cNvPr>
          <p:cNvSpPr>
            <a:spLocks xmlns:a="http://schemas.openxmlformats.org/drawingml/2006/main" noGrp="1"/>
          </p:cNvSpPr>
          <p:nvPr/>
        </p:nvSpPr>
        <p:spPr>
          <a:xfrm xmlns:a="http://schemas.openxmlformats.org/drawingml/2006/main">
            <a:off x="533400" y="1562100"/>
            <a:ext cx="11125200" cy="14859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8D6CC"/>
            </a:solidFill>
            <a:prstDash val="solid"/>
          </a:ln>
        </p:spPr>
      </p:sp>
      <p:sp>
        <p:nvSpPr>
          <p:cNvPr id="5" name="question-label">
            <a:extLst xmlns:a="http://schemas.openxmlformats.org/drawingml/2006/main">
              <a:ext uri="{FF2B5EF4-FFF2-40B4-BE49-F238E27FC236}">
                <a16:creationId xmlns:a16="http://schemas.microsoft.com/office/drawing/2014/main" id="{B76FBA2E-9DD7-4E58-BBEB-C1A38C2691CB}"/>
              </a:ext>
            </a:extLst>
          </p:cNvPr>
          <p:cNvSpPr>
            <a:spLocks xmlns:a="http://schemas.openxmlformats.org/drawingml/2006/main" noGrp="1"/>
          </p:cNvSpPr>
          <p:nvPr/>
        </p:nvSpPr>
        <p:spPr>
          <a:xfrm xmlns:a="http://schemas.openxmlformats.org/drawingml/2006/main">
            <a:off x="762000" y="177165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THE QUESTION</a:t>
            </a:r>
          </a:p>
        </p:txBody>
      </p:sp>
      <p:sp>
        <p:nvSpPr>
          <p:cNvPr id="6" name="question">
            <a:extLst xmlns:a="http://schemas.openxmlformats.org/drawingml/2006/main">
              <a:ext uri="{FF2B5EF4-FFF2-40B4-BE49-F238E27FC236}">
                <a16:creationId xmlns:a16="http://schemas.microsoft.com/office/drawing/2014/main" id="{45F2616E-C053-490F-99A7-94EDF40A6EA0}"/>
              </a:ext>
            </a:extLst>
          </p:cNvPr>
          <p:cNvSpPr>
            <a:spLocks xmlns:a="http://schemas.openxmlformats.org/drawingml/2006/main" noGrp="1"/>
          </p:cNvSpPr>
          <p:nvPr/>
        </p:nvSpPr>
        <p:spPr>
          <a:xfrm xmlns:a="http://schemas.openxmlformats.org/drawingml/2006/main">
            <a:off x="762000" y="2076450"/>
            <a:ext cx="10629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650" b="1">
                <a:solidFill>
                  <a:srgbClr val="20302E"/>
                </a:solidFill>
                <a:latin typeface="Aptos"/>
                <a:ea typeface="Aptos"/>
                <a:cs typeface="Aptos"/>
              </a:defRPr>
            </a:pPr>
            <a:r>
              <a:rPr sz="1650" b="1">
                <a:solidFill>
                  <a:srgbClr val="20302E"/>
                </a:solidFill>
                <a:latin typeface="Aptos"/>
                <a:ea typeface="Aptos"/>
                <a:cs typeface="Aptos"/>
              </a:rPr>
              <a:t>Design a coherent evidence plan that explains the journey from design decisions through production, safety, testing and evaluation without overstating its status.</a:t>
            </a:r>
          </a:p>
        </p:txBody>
      </p:sp>
      <p:sp>
        <p:nvSpPr>
          <p:cNvPr id="7" name="arrow-1">
            <a:extLst xmlns:a="http://schemas.openxmlformats.org/drawingml/2006/main">
              <a:ext uri="{FF2B5EF4-FFF2-40B4-BE49-F238E27FC236}">
                <a16:creationId xmlns:a16="http://schemas.microsoft.com/office/drawing/2014/main" id="{93FD29C8-AA46-46F5-938B-D6D5C3CC3425}"/>
              </a:ext>
            </a:extLst>
          </p:cNvPr>
          <p:cNvSpPr>
            <a:spLocks xmlns:a="http://schemas.openxmlformats.org/drawingml/2006/main" noGrp="1"/>
          </p:cNvSpPr>
          <p:nvPr/>
        </p:nvSpPr>
        <p:spPr>
          <a:xfrm xmlns:a="http://schemas.openxmlformats.org/drawingml/2006/main">
            <a:off x="2914650" y="4038600"/>
            <a:ext cx="342900" cy="323850"/>
          </a:xfrm>
          <a:prstGeom xmlns:a="http://schemas.openxmlformats.org/drawingml/2006/main" prst="rightArrow">
            <a:avLst/>
          </a:prstGeom>
          <a:solidFill xmlns:a="http://schemas.openxmlformats.org/drawingml/2006/main">
            <a:srgbClr val="146B66"/>
          </a:solidFill>
          <a:ln xmlns:a="http://schemas.openxmlformats.org/drawingml/2006/main" w="0">
            <a:noFill/>
            <a:prstDash val="solid"/>
          </a:ln>
        </p:spPr>
      </p:sp>
      <p:sp>
        <p:nvSpPr>
          <p:cNvPr id="8" name="step-label-1">
            <a:extLst xmlns:a="http://schemas.openxmlformats.org/drawingml/2006/main">
              <a:ext uri="{FF2B5EF4-FFF2-40B4-BE49-F238E27FC236}">
                <a16:creationId xmlns:a16="http://schemas.microsoft.com/office/drawing/2014/main" id="{EEB58A21-EEF4-4B3A-8113-B31BCA7F8B1B}"/>
              </a:ext>
            </a:extLst>
          </p:cNvPr>
          <p:cNvSpPr>
            <a:spLocks xmlns:a="http://schemas.openxmlformats.org/drawingml/2006/main" noGrp="1"/>
          </p:cNvSpPr>
          <p:nvPr/>
        </p:nvSpPr>
        <p:spPr>
          <a:xfrm xmlns:a="http://schemas.openxmlformats.org/drawingml/2006/main">
            <a:off x="5334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46B66"/>
                </a:solidFill>
                <a:latin typeface="Aptos"/>
                <a:ea typeface="Aptos"/>
                <a:cs typeface="Aptos"/>
              </a:defRPr>
            </a:pPr>
            <a:r>
              <a:rPr sz="1200" b="1">
                <a:solidFill>
                  <a:srgbClr val="146B66"/>
                </a:solidFill>
                <a:latin typeface="Aptos"/>
                <a:ea typeface="Aptos"/>
                <a:cs typeface="Aptos"/>
              </a:rPr>
              <a:t>1  READ</a:t>
            </a:r>
          </a:p>
        </p:txBody>
      </p:sp>
      <p:sp>
        <p:nvSpPr>
          <p:cNvPr id="9" name="step-text-1">
            <a:extLst xmlns:a="http://schemas.openxmlformats.org/drawingml/2006/main">
              <a:ext uri="{FF2B5EF4-FFF2-40B4-BE49-F238E27FC236}">
                <a16:creationId xmlns:a16="http://schemas.microsoft.com/office/drawing/2014/main" id="{DB9214F5-16CD-4CBB-916C-631BFE5909BB}"/>
              </a:ext>
            </a:extLst>
          </p:cNvPr>
          <p:cNvSpPr>
            <a:spLocks xmlns:a="http://schemas.openxmlformats.org/drawingml/2006/main" noGrp="1"/>
          </p:cNvSpPr>
          <p:nvPr/>
        </p:nvSpPr>
        <p:spPr>
          <a:xfrm xmlns:a="http://schemas.openxmlformats.org/drawingml/2006/main">
            <a:off x="5334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Select authentic records for design, process, product and evaluation stages.</a:t>
            </a:r>
          </a:p>
        </p:txBody>
      </p:sp>
      <p:sp>
        <p:nvSpPr>
          <p:cNvPr id="10" name="arrow-2">
            <a:extLst xmlns:a="http://schemas.openxmlformats.org/drawingml/2006/main">
              <a:ext uri="{FF2B5EF4-FFF2-40B4-BE49-F238E27FC236}">
                <a16:creationId xmlns:a16="http://schemas.microsoft.com/office/drawing/2014/main" id="{0B6F0EB3-D241-4E80-8D17-3C440452E17F}"/>
              </a:ext>
            </a:extLst>
          </p:cNvPr>
          <p:cNvSpPr>
            <a:spLocks xmlns:a="http://schemas.openxmlformats.org/drawingml/2006/main" noGrp="1"/>
          </p:cNvSpPr>
          <p:nvPr/>
        </p:nvSpPr>
        <p:spPr>
          <a:xfrm xmlns:a="http://schemas.openxmlformats.org/drawingml/2006/main">
            <a:off x="5695950" y="4038600"/>
            <a:ext cx="342900" cy="323850"/>
          </a:xfrm>
          <a:prstGeom xmlns:a="http://schemas.openxmlformats.org/drawingml/2006/main" prst="rightArrow">
            <a:avLst/>
          </a:prstGeom>
          <a:solidFill xmlns:a="http://schemas.openxmlformats.org/drawingml/2006/main">
            <a:srgbClr val="BF4C5A"/>
          </a:solidFill>
          <a:ln xmlns:a="http://schemas.openxmlformats.org/drawingml/2006/main" w="0">
            <a:noFill/>
            <a:prstDash val="solid"/>
          </a:ln>
        </p:spPr>
      </p:sp>
      <p:sp>
        <p:nvSpPr>
          <p:cNvPr id="11" name="step-label-2">
            <a:extLst xmlns:a="http://schemas.openxmlformats.org/drawingml/2006/main">
              <a:ext uri="{FF2B5EF4-FFF2-40B4-BE49-F238E27FC236}">
                <a16:creationId xmlns:a16="http://schemas.microsoft.com/office/drawing/2014/main" id="{12E523F6-3A95-4C2C-86ED-05332DEAC48A}"/>
              </a:ext>
            </a:extLst>
          </p:cNvPr>
          <p:cNvSpPr>
            <a:spLocks xmlns:a="http://schemas.openxmlformats.org/drawingml/2006/main" noGrp="1"/>
          </p:cNvSpPr>
          <p:nvPr/>
        </p:nvSpPr>
        <p:spPr>
          <a:xfrm xmlns:a="http://schemas.openxmlformats.org/drawingml/2006/main">
            <a:off x="33147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BF4C5A"/>
                </a:solidFill>
                <a:latin typeface="Aptos"/>
                <a:ea typeface="Aptos"/>
                <a:cs typeface="Aptos"/>
              </a:defRPr>
            </a:pPr>
            <a:r>
              <a:rPr sz="1200" b="1">
                <a:solidFill>
                  <a:srgbClr val="BF4C5A"/>
                </a:solidFill>
                <a:latin typeface="Aptos"/>
                <a:ea typeface="Aptos"/>
                <a:cs typeface="Aptos"/>
              </a:rPr>
              <a:t>2  SELECT</a:t>
            </a:r>
          </a:p>
        </p:txBody>
      </p:sp>
      <p:sp>
        <p:nvSpPr>
          <p:cNvPr id="12" name="step-text-2">
            <a:extLst xmlns:a="http://schemas.openxmlformats.org/drawingml/2006/main">
              <a:ext uri="{FF2B5EF4-FFF2-40B4-BE49-F238E27FC236}">
                <a16:creationId xmlns:a16="http://schemas.microsoft.com/office/drawing/2014/main" id="{B4317E12-5BBE-4409-A5DA-9653E0949AD5}"/>
              </a:ext>
            </a:extLst>
          </p:cNvPr>
          <p:cNvSpPr>
            <a:spLocks xmlns:a="http://schemas.openxmlformats.org/drawingml/2006/main" noGrp="1"/>
          </p:cNvSpPr>
          <p:nvPr/>
        </p:nvSpPr>
        <p:spPr>
          <a:xfrm xmlns:a="http://schemas.openxmlformats.org/drawingml/2006/main">
            <a:off x="33147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Explain what each item shows and draft a caption linking it to a decision or criterion.</a:t>
            </a:r>
          </a:p>
        </p:txBody>
      </p:sp>
      <p:sp>
        <p:nvSpPr>
          <p:cNvPr id="13" name="arrow-3">
            <a:extLst xmlns:a="http://schemas.openxmlformats.org/drawingml/2006/main">
              <a:ext uri="{FF2B5EF4-FFF2-40B4-BE49-F238E27FC236}">
                <a16:creationId xmlns:a16="http://schemas.microsoft.com/office/drawing/2014/main" id="{9F62975F-9DE9-44CA-9751-3AC3A90C25DD}"/>
              </a:ext>
            </a:extLst>
          </p:cNvPr>
          <p:cNvSpPr>
            <a:spLocks xmlns:a="http://schemas.openxmlformats.org/drawingml/2006/main" noGrp="1"/>
          </p:cNvSpPr>
          <p:nvPr/>
        </p:nvSpPr>
        <p:spPr>
          <a:xfrm xmlns:a="http://schemas.openxmlformats.org/drawingml/2006/main">
            <a:off x="8477250" y="4038600"/>
            <a:ext cx="342900" cy="323850"/>
          </a:xfrm>
          <a:prstGeom xmlns:a="http://schemas.openxmlformats.org/drawingml/2006/main" prst="rightArrow">
            <a:avLst/>
          </a:prstGeom>
          <a:solidFill xmlns:a="http://schemas.openxmlformats.org/drawingml/2006/main">
            <a:srgbClr val="D49A34"/>
          </a:solidFill>
          <a:ln xmlns:a="http://schemas.openxmlformats.org/drawingml/2006/main" w="0">
            <a:noFill/>
            <a:prstDash val="solid"/>
          </a:ln>
        </p:spPr>
      </p:sp>
      <p:sp>
        <p:nvSpPr>
          <p:cNvPr id="14" name="step-label-3">
            <a:extLst xmlns:a="http://schemas.openxmlformats.org/drawingml/2006/main">
              <a:ext uri="{FF2B5EF4-FFF2-40B4-BE49-F238E27FC236}">
                <a16:creationId xmlns:a16="http://schemas.microsoft.com/office/drawing/2014/main" id="{6C438802-9901-4B9F-A8ED-731F3D69A873}"/>
              </a:ext>
            </a:extLst>
          </p:cNvPr>
          <p:cNvSpPr>
            <a:spLocks xmlns:a="http://schemas.openxmlformats.org/drawingml/2006/main" noGrp="1"/>
          </p:cNvSpPr>
          <p:nvPr/>
        </p:nvSpPr>
        <p:spPr>
          <a:xfrm xmlns:a="http://schemas.openxmlformats.org/drawingml/2006/main">
            <a:off x="60960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D49A34"/>
                </a:solidFill>
                <a:latin typeface="Aptos"/>
                <a:ea typeface="Aptos"/>
                <a:cs typeface="Aptos"/>
              </a:defRPr>
            </a:pPr>
            <a:r>
              <a:rPr sz="1200" b="1">
                <a:solidFill>
                  <a:srgbClr val="D49A34"/>
                </a:solidFill>
                <a:latin typeface="Aptos"/>
                <a:ea typeface="Aptos"/>
                <a:cs typeface="Aptos"/>
              </a:rPr>
              <a:t>3  EXPLAIN</a:t>
            </a:r>
          </a:p>
        </p:txBody>
      </p:sp>
      <p:sp>
        <p:nvSpPr>
          <p:cNvPr id="15" name="step-text-3">
            <a:extLst xmlns:a="http://schemas.openxmlformats.org/drawingml/2006/main">
              <a:ext uri="{FF2B5EF4-FFF2-40B4-BE49-F238E27FC236}">
                <a16:creationId xmlns:a16="http://schemas.microsoft.com/office/drawing/2014/main" id="{34BE7EE5-E46F-4826-94E6-930718441045}"/>
              </a:ext>
            </a:extLst>
          </p:cNvPr>
          <p:cNvSpPr>
            <a:spLocks xmlns:a="http://schemas.openxmlformats.org/drawingml/2006/main" noGrp="1"/>
          </p:cNvSpPr>
          <p:nvPr/>
        </p:nvSpPr>
        <p:spPr>
          <a:xfrm xmlns:a="http://schemas.openxmlformats.org/drawingml/2006/main">
            <a:off x="60960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Identify privacy checks, evidence gaps and a separate backup method.</a:t>
            </a:r>
          </a:p>
        </p:txBody>
      </p:sp>
      <p:sp>
        <p:nvSpPr>
          <p:cNvPr id="16" name="step-label-4">
            <a:extLst xmlns:a="http://schemas.openxmlformats.org/drawingml/2006/main">
              <a:ext uri="{FF2B5EF4-FFF2-40B4-BE49-F238E27FC236}">
                <a16:creationId xmlns:a16="http://schemas.microsoft.com/office/drawing/2014/main" id="{3B8993EE-6533-442B-86B8-5DD95459F5A3}"/>
              </a:ext>
            </a:extLst>
          </p:cNvPr>
          <p:cNvSpPr>
            <a:spLocks xmlns:a="http://schemas.openxmlformats.org/drawingml/2006/main" noGrp="1"/>
          </p:cNvSpPr>
          <p:nvPr/>
        </p:nvSpPr>
        <p:spPr>
          <a:xfrm xmlns:a="http://schemas.openxmlformats.org/drawingml/2006/main">
            <a:off x="88773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C4E4A"/>
                </a:solidFill>
                <a:latin typeface="Aptos"/>
                <a:ea typeface="Aptos"/>
                <a:cs typeface="Aptos"/>
              </a:defRPr>
            </a:pPr>
            <a:r>
              <a:rPr sz="1200" b="1">
                <a:solidFill>
                  <a:srgbClr val="0C4E4A"/>
                </a:solidFill>
                <a:latin typeface="Aptos"/>
                <a:ea typeface="Aptos"/>
                <a:cs typeface="Aptos"/>
              </a:rPr>
              <a:t>4  CHECK</a:t>
            </a:r>
          </a:p>
        </p:txBody>
      </p:sp>
      <p:sp>
        <p:nvSpPr>
          <p:cNvPr id="17" name="step-text-4">
            <a:extLst xmlns:a="http://schemas.openxmlformats.org/drawingml/2006/main">
              <a:ext uri="{FF2B5EF4-FFF2-40B4-BE49-F238E27FC236}">
                <a16:creationId xmlns:a16="http://schemas.microsoft.com/office/drawing/2014/main" id="{48450039-B337-4A32-8B05-59BE380950EC}"/>
              </a:ext>
            </a:extLst>
          </p:cNvPr>
          <p:cNvSpPr>
            <a:spLocks xmlns:a="http://schemas.openxmlformats.org/drawingml/2006/main" noGrp="1"/>
          </p:cNvSpPr>
          <p:nvPr/>
        </p:nvSpPr>
        <p:spPr>
          <a:xfrm xmlns:a="http://schemas.openxmlformats.org/drawingml/2006/main">
            <a:off x="88773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Distinguish student records and reflections from teacher verification, formal submission and assessment decisions.</a:t>
            </a:r>
          </a:p>
        </p:txBody>
      </p:sp>
      <p:sp>
        <p:nvSpPr>
          <p:cNvPr id="18" name="starter">
            <a:extLst xmlns:a="http://schemas.openxmlformats.org/drawingml/2006/main">
              <a:ext uri="{FF2B5EF4-FFF2-40B4-BE49-F238E27FC236}">
                <a16:creationId xmlns:a16="http://schemas.microsoft.com/office/drawing/2014/main" id="{008E6DD1-D682-4589-A366-83562565934A}"/>
              </a:ext>
            </a:extLst>
          </p:cNvPr>
          <p:cNvSpPr>
            <a:spLocks xmlns:a="http://schemas.openxmlformats.org/drawingml/2006/main" noGrp="1"/>
          </p:cNvSpPr>
          <p:nvPr/>
        </p:nvSpPr>
        <p:spPr>
          <a:xfrm xmlns:a="http://schemas.openxmlformats.org/drawingml/2006/main">
            <a:off x="533400" y="5429250"/>
            <a:ext cx="11125200" cy="704850"/>
          </a:xfrm>
          <a:prstGeom xmlns:a="http://schemas.openxmlformats.org/drawingml/2006/main" prst="roundRect">
            <a:avLst>
              <a:gd name="adj" fmla="val 16216"/>
            </a:avLst>
          </a:prstGeom>
          <a:solidFill xmlns:a="http://schemas.openxmlformats.org/drawingml/2006/main">
            <a:srgbClr val="FFF4D5"/>
          </a:solidFill>
          <a:ln xmlns:a="http://schemas.openxmlformats.org/drawingml/2006/main" w="9525">
            <a:solidFill>
              <a:srgbClr val="E7C87E"/>
            </a:solidFill>
            <a:prstDash val="solid"/>
          </a:ln>
        </p:spPr>
      </p:sp>
      <p:sp>
        <p:nvSpPr>
          <p:cNvPr id="19" name="starter-label">
            <a:extLst xmlns:a="http://schemas.openxmlformats.org/drawingml/2006/main">
              <a:ext uri="{FF2B5EF4-FFF2-40B4-BE49-F238E27FC236}">
                <a16:creationId xmlns:a16="http://schemas.microsoft.com/office/drawing/2014/main" id="{82308D4C-5D9F-4AC6-8D00-E882579D53B9}"/>
              </a:ext>
            </a:extLst>
          </p:cNvPr>
          <p:cNvSpPr>
            <a:spLocks xmlns:a="http://schemas.openxmlformats.org/drawingml/2006/main" noGrp="1"/>
          </p:cNvSpPr>
          <p:nvPr/>
        </p:nvSpPr>
        <p:spPr>
          <a:xfrm xmlns:a="http://schemas.openxmlformats.org/drawingml/2006/main">
            <a:off x="742950" y="55816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SENTENCE STARTER</a:t>
            </a:r>
          </a:p>
        </p:txBody>
      </p:sp>
      <p:sp>
        <p:nvSpPr>
          <p:cNvPr id="20" name="starter-text">
            <a:extLst xmlns:a="http://schemas.openxmlformats.org/drawingml/2006/main">
              <a:ext uri="{FF2B5EF4-FFF2-40B4-BE49-F238E27FC236}">
                <a16:creationId xmlns:a16="http://schemas.microsoft.com/office/drawing/2014/main" id="{2C24C6FD-4535-4661-8B43-774CB1A96721}"/>
              </a:ext>
            </a:extLst>
          </p:cNvPr>
          <p:cNvSpPr>
            <a:spLocks xmlns:a="http://schemas.openxmlformats.org/drawingml/2006/main" noGrp="1"/>
          </p:cNvSpPr>
          <p:nvPr/>
        </p:nvSpPr>
        <p:spPr>
          <a:xfrm xmlns:a="http://schemas.openxmlformats.org/drawingml/2006/main">
            <a:off x="2381250" y="5553075"/>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The strongest evidence is … because it shows … This changes my decision by …</a:t>
            </a:r>
          </a:p>
        </p:txBody>
      </p:sp>
      <p:sp>
        <p:nvSpPr>
          <p:cNvPr id="21" name="footer-module">
            <a:extLst xmlns:a="http://schemas.openxmlformats.org/drawingml/2006/main">
              <a:ext uri="{FF2B5EF4-FFF2-40B4-BE49-F238E27FC236}">
                <a16:creationId xmlns:a16="http://schemas.microsoft.com/office/drawing/2014/main" id="{3DA5B04D-8D4E-4E01-9344-246333EBF3C1}"/>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10</a:t>
            </a:r>
          </a:p>
        </p:txBody>
      </p:sp>
      <p:sp>
        <p:nvSpPr>
          <p:cNvPr id="22" name="footer-page">
            <a:extLst xmlns:a="http://schemas.openxmlformats.org/drawingml/2006/main">
              <a:ext uri="{FF2B5EF4-FFF2-40B4-BE49-F238E27FC236}">
                <a16:creationId xmlns:a16="http://schemas.microsoft.com/office/drawing/2014/main" id="{77A2856B-5DBF-4750-9F0D-097AB85D147F}"/>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07</a:t>
            </a:r>
          </a:p>
        </p:txBody>
      </p:sp>
    </p:spTree>
    <p:extLst>
      <p:ext uri="{BB962C8B-B14F-4D97-AF65-F5344CB8AC3E}">
        <p14:creationId xmlns:p14="http://schemas.microsoft.com/office/powerpoint/2010/main" val="1491833365"/>
      </p:ext>
    </p:extLst>
  </p:cSld>
</p:sld>
</file>

<file path=ppt/slides/slide8.xml><?xml version="1.0" encoding="utf-8"?>
<p:sld xmlns:p="http://schemas.openxmlformats.org/presentationml/2006/main">
  <p:cSld>
    <p:bg>
      <p:bgPr>
        <a:solidFill xmlns:a="http://schemas.openxmlformats.org/drawingml/2006/main">
          <a:srgbClr val="BF4C5A"/>
        </a:solidFill>
      </p:bgPr>
    </p:bg>
    <p:spTree>
      <p:nvGrpSpPr>
        <p:cNvPr id="1" name=""/>
        <p:cNvGrpSpPr/>
        <p:nvPr/>
      </p:nvGrpSpPr>
      <p:grpSpPr>
        <a:xfrm xmlns:a="http://schemas.openxmlformats.org/drawingml/2006/main"/>
      </p:grpSpPr>
      <p:sp>
        <p:nvSpPr>
          <p:cNvPr id="18" name="top-rule">
            <a:extLst xmlns:a="http://schemas.openxmlformats.org/drawingml/2006/main">
              <a:ext uri="{FF2B5EF4-FFF2-40B4-BE49-F238E27FC236}">
                <a16:creationId xmlns:a16="http://schemas.microsoft.com/office/drawing/2014/main" id="{96538DF1-4AE9-4E1C-8861-CAD994FABA0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A5F97FAD-5221-4976-8DA8-8A35D6297635}"/>
              </a:ext>
            </a:extLst>
          </p:cNvPr>
          <p:cNvSpPr>
            <a:spLocks xmlns:a="http://schemas.openxmlformats.org/drawingml/2006/main" noGrp="1"/>
          </p:cNvSpPr>
          <p:nvPr/>
        </p:nvSpPr>
        <p:spPr>
          <a:xfrm xmlns:a="http://schemas.openxmlformats.org/drawingml/2006/main">
            <a:off x="533400" y="3238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F0BF"/>
                </a:solidFill>
                <a:latin typeface="Aptos"/>
                <a:ea typeface="Aptos"/>
                <a:cs typeface="Aptos"/>
              </a:defRPr>
            </a:pPr>
            <a:r>
              <a:rPr sz="1050" b="1">
                <a:solidFill>
                  <a:srgbClr val="FFF0BF"/>
                </a:solidFill>
                <a:latin typeface="Aptos"/>
                <a:ea typeface="Aptos"/>
                <a:cs typeface="Aptos"/>
              </a:rPr>
              <a:t>CLOSE THE LOOP</a:t>
            </a:r>
          </a:p>
        </p:txBody>
      </p:sp>
      <p:sp>
        <p:nvSpPr>
          <p:cNvPr id="3" name="title">
            <a:extLst xmlns:a="http://schemas.openxmlformats.org/drawingml/2006/main">
              <a:ext uri="{FF2B5EF4-FFF2-40B4-BE49-F238E27FC236}">
                <a16:creationId xmlns:a16="http://schemas.microsoft.com/office/drawing/2014/main" id="{9688BB35-0E6B-49F7-89D4-6C262309EAB2}"/>
              </a:ext>
            </a:extLst>
          </p:cNvPr>
          <p:cNvSpPr>
            <a:spLocks xmlns:a="http://schemas.openxmlformats.org/drawingml/2006/main" noGrp="1"/>
          </p:cNvSpPr>
          <p:nvPr/>
        </p:nvSpPr>
        <p:spPr>
          <a:xfrm xmlns:a="http://schemas.openxmlformats.org/drawingml/2006/main">
            <a:off x="533400" y="819150"/>
            <a:ext cx="742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Before you pack up…</a:t>
            </a:r>
          </a:p>
        </p:txBody>
      </p:sp>
      <p:sp>
        <p:nvSpPr>
          <p:cNvPr id="4" name="exit-1">
            <a:extLst xmlns:a="http://schemas.openxmlformats.org/drawingml/2006/main">
              <a:ext uri="{FF2B5EF4-FFF2-40B4-BE49-F238E27FC236}">
                <a16:creationId xmlns:a16="http://schemas.microsoft.com/office/drawing/2014/main" id="{DD5537DF-FA0A-4AD5-A4DF-574EA704208B}"/>
              </a:ext>
            </a:extLst>
          </p:cNvPr>
          <p:cNvSpPr>
            <a:spLocks xmlns:a="http://schemas.openxmlformats.org/drawingml/2006/main" noGrp="1"/>
          </p:cNvSpPr>
          <p:nvPr/>
        </p:nvSpPr>
        <p:spPr>
          <a:xfrm xmlns:a="http://schemas.openxmlformats.org/drawingml/2006/main">
            <a:off x="533400" y="1790700"/>
            <a:ext cx="8096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AC2C8"/>
            </a:solidFill>
            <a:prstDash val="solid"/>
          </a:ln>
        </p:spPr>
      </p:sp>
      <p:sp>
        <p:nvSpPr>
          <p:cNvPr id="5" name="exit-text-1">
            <a:extLst xmlns:a="http://schemas.openxmlformats.org/drawingml/2006/main">
              <a:ext uri="{FF2B5EF4-FFF2-40B4-BE49-F238E27FC236}">
                <a16:creationId xmlns:a16="http://schemas.microsoft.com/office/drawing/2014/main" id="{46A0D04E-493E-4AEB-A610-F31CC2FC8BEF}"/>
              </a:ext>
            </a:extLst>
          </p:cNvPr>
          <p:cNvSpPr>
            <a:spLocks xmlns:a="http://schemas.openxmlformats.org/drawingml/2006/main" noGrp="1"/>
          </p:cNvSpPr>
          <p:nvPr/>
        </p:nvSpPr>
        <p:spPr>
          <a:xfrm xmlns:a="http://schemas.openxmlformats.org/drawingml/2006/main">
            <a:off x="781050" y="19335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20302E"/>
                </a:solidFill>
                <a:latin typeface="Aptos"/>
                <a:ea typeface="Aptos"/>
                <a:cs typeface="Aptos"/>
              </a:defRPr>
            </a:pPr>
            <a:r>
              <a:rPr sz="1500" b="1">
                <a:solidFill>
                  <a:srgbClr val="20302E"/>
                </a:solidFill>
                <a:latin typeface="Aptos"/>
                <a:ea typeface="Aptos"/>
                <a:cs typeface="Aptos"/>
              </a:rPr>
              <a:t>1. One idea I can now explain is…</a:t>
            </a:r>
          </a:p>
        </p:txBody>
      </p:sp>
      <p:sp>
        <p:nvSpPr>
          <p:cNvPr id="6" name="exit-2">
            <a:extLst xmlns:a="http://schemas.openxmlformats.org/drawingml/2006/main">
              <a:ext uri="{FF2B5EF4-FFF2-40B4-BE49-F238E27FC236}">
                <a16:creationId xmlns:a16="http://schemas.microsoft.com/office/drawing/2014/main" id="{776AA88F-DE32-4E83-AC94-358A12A4927D}"/>
              </a:ext>
            </a:extLst>
          </p:cNvPr>
          <p:cNvSpPr>
            <a:spLocks xmlns:a="http://schemas.openxmlformats.org/drawingml/2006/main" noGrp="1"/>
          </p:cNvSpPr>
          <p:nvPr/>
        </p:nvSpPr>
        <p:spPr>
          <a:xfrm xmlns:a="http://schemas.openxmlformats.org/drawingml/2006/main">
            <a:off x="533400" y="2628900"/>
            <a:ext cx="8096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AC2C8"/>
            </a:solidFill>
            <a:prstDash val="solid"/>
          </a:ln>
        </p:spPr>
      </p:sp>
      <p:sp>
        <p:nvSpPr>
          <p:cNvPr id="7" name="exit-text-2">
            <a:extLst xmlns:a="http://schemas.openxmlformats.org/drawingml/2006/main">
              <a:ext uri="{FF2B5EF4-FFF2-40B4-BE49-F238E27FC236}">
                <a16:creationId xmlns:a16="http://schemas.microsoft.com/office/drawing/2014/main" id="{B74B495C-7D5D-4185-9290-D884BDD94701}"/>
              </a:ext>
            </a:extLst>
          </p:cNvPr>
          <p:cNvSpPr>
            <a:spLocks xmlns:a="http://schemas.openxmlformats.org/drawingml/2006/main" noGrp="1"/>
          </p:cNvSpPr>
          <p:nvPr/>
        </p:nvSpPr>
        <p:spPr>
          <a:xfrm xmlns:a="http://schemas.openxmlformats.org/drawingml/2006/main">
            <a:off x="781050" y="27717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20302E"/>
                </a:solidFill>
                <a:latin typeface="Aptos"/>
                <a:ea typeface="Aptos"/>
                <a:cs typeface="Aptos"/>
              </a:defRPr>
            </a:pPr>
            <a:r>
              <a:rPr sz="1500" b="1">
                <a:solidFill>
                  <a:srgbClr val="20302E"/>
                </a:solidFill>
                <a:latin typeface="Aptos"/>
                <a:ea typeface="Aptos"/>
                <a:cs typeface="Aptos"/>
              </a:rPr>
              <a:t>2. One decision or practical action this changes is…</a:t>
            </a:r>
          </a:p>
        </p:txBody>
      </p:sp>
      <p:sp>
        <p:nvSpPr>
          <p:cNvPr id="8" name="exit-3">
            <a:extLst xmlns:a="http://schemas.openxmlformats.org/drawingml/2006/main">
              <a:ext uri="{FF2B5EF4-FFF2-40B4-BE49-F238E27FC236}">
                <a16:creationId xmlns:a16="http://schemas.microsoft.com/office/drawing/2014/main" id="{66CE6289-4F80-4071-83AC-F9CF4A1C90A2}"/>
              </a:ext>
            </a:extLst>
          </p:cNvPr>
          <p:cNvSpPr>
            <a:spLocks xmlns:a="http://schemas.openxmlformats.org/drawingml/2006/main" noGrp="1"/>
          </p:cNvSpPr>
          <p:nvPr/>
        </p:nvSpPr>
        <p:spPr>
          <a:xfrm xmlns:a="http://schemas.openxmlformats.org/drawingml/2006/main">
            <a:off x="533400" y="3467100"/>
            <a:ext cx="8096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AC2C8"/>
            </a:solidFill>
            <a:prstDash val="solid"/>
          </a:ln>
        </p:spPr>
      </p:sp>
      <p:sp>
        <p:nvSpPr>
          <p:cNvPr id="9" name="exit-text-3">
            <a:extLst xmlns:a="http://schemas.openxmlformats.org/drawingml/2006/main">
              <a:ext uri="{FF2B5EF4-FFF2-40B4-BE49-F238E27FC236}">
                <a16:creationId xmlns:a16="http://schemas.microsoft.com/office/drawing/2014/main" id="{AFDB00AC-951A-40EF-ACF5-24C0E3ED937E}"/>
              </a:ext>
            </a:extLst>
          </p:cNvPr>
          <p:cNvSpPr>
            <a:spLocks xmlns:a="http://schemas.openxmlformats.org/drawingml/2006/main" noGrp="1"/>
          </p:cNvSpPr>
          <p:nvPr/>
        </p:nvSpPr>
        <p:spPr>
          <a:xfrm xmlns:a="http://schemas.openxmlformats.org/drawingml/2006/main">
            <a:off x="781050" y="36099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20302E"/>
                </a:solidFill>
                <a:latin typeface="Aptos"/>
                <a:ea typeface="Aptos"/>
                <a:cs typeface="Aptos"/>
              </a:defRPr>
            </a:pPr>
            <a:r>
              <a:rPr sz="1500" b="1">
                <a:solidFill>
                  <a:srgbClr val="20302E"/>
                </a:solidFill>
                <a:latin typeface="Aptos"/>
                <a:ea typeface="Aptos"/>
                <a:cs typeface="Aptos"/>
              </a:rPr>
              <a:t>3. One question I still need answered is…</a:t>
            </a:r>
          </a:p>
        </p:txBody>
      </p:sp>
      <p:sp>
        <p:nvSpPr>
          <p:cNvPr id="10" name="evidence-circle">
            <a:extLst xmlns:a="http://schemas.openxmlformats.org/drawingml/2006/main">
              <a:ext uri="{FF2B5EF4-FFF2-40B4-BE49-F238E27FC236}">
                <a16:creationId xmlns:a16="http://schemas.microsoft.com/office/drawing/2014/main" id="{66828538-6222-4262-88A7-8BDF44A95436}"/>
              </a:ext>
            </a:extLst>
          </p:cNvPr>
          <p:cNvSpPr>
            <a:spLocks xmlns:a="http://schemas.openxmlformats.org/drawingml/2006/main" noGrp="1"/>
          </p:cNvSpPr>
          <p:nvPr/>
        </p:nvSpPr>
        <p:spPr>
          <a:xfrm xmlns:a="http://schemas.openxmlformats.org/drawingml/2006/main">
            <a:off x="9277350" y="2019300"/>
            <a:ext cx="1676400" cy="1676400"/>
          </a:xfrm>
          <a:prstGeom xmlns:a="http://schemas.openxmlformats.org/drawingml/2006/main" prst="ellipse">
            <a:avLst/>
          </a:prstGeom>
          <a:solidFill xmlns:a="http://schemas.openxmlformats.org/drawingml/2006/main">
            <a:srgbClr val="D49A34"/>
          </a:solidFill>
          <a:ln xmlns:a="http://schemas.openxmlformats.org/drawingml/2006/main" w="9525">
            <a:solidFill>
              <a:srgbClr val="D49A34"/>
            </a:solidFill>
            <a:prstDash val="solid"/>
          </a:ln>
        </p:spPr>
      </p:sp>
      <p:sp>
        <p:nvSpPr>
          <p:cNvPr id="11" name="evidence-destination">
            <a:extLst xmlns:a="http://schemas.openxmlformats.org/drawingml/2006/main">
              <a:ext uri="{FF2B5EF4-FFF2-40B4-BE49-F238E27FC236}">
                <a16:creationId xmlns:a16="http://schemas.microsoft.com/office/drawing/2014/main" id="{E4CE2AF9-91CC-4570-8A31-E9E999262559}"/>
              </a:ext>
            </a:extLst>
          </p:cNvPr>
          <p:cNvSpPr>
            <a:spLocks xmlns:a="http://schemas.openxmlformats.org/drawingml/2006/main" noGrp="1"/>
          </p:cNvSpPr>
          <p:nvPr/>
        </p:nvSpPr>
        <p:spPr>
          <a:xfrm xmlns:a="http://schemas.openxmlformats.org/drawingml/2006/main">
            <a:off x="9496425" y="2362200"/>
            <a:ext cx="123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0C4E4A"/>
                </a:solidFill>
                <a:latin typeface="Aptos"/>
                <a:ea typeface="Aptos"/>
                <a:cs typeface="Aptos"/>
              </a:defRPr>
            </a:pPr>
            <a:r>
              <a:rPr sz="1500" b="1">
                <a:solidFill>
                  <a:srgbClr val="0C4E4A"/>
                </a:solidFill>
                <a:latin typeface="Aptos"/>
                <a:ea typeface="Aptos"/>
                <a:cs typeface="Aptos"/>
              </a:rPr>
              <a:t>SAVE</a:t>
            </a:r>
          </a:p>
          <a:p xmlns:a="http://schemas.openxmlformats.org/drawingml/2006/main">
            <a:pPr algn="ctr">
              <a:defRPr sz="1500" b="1">
                <a:solidFill>
                  <a:srgbClr val="0C4E4A"/>
                </a:solidFill>
                <a:latin typeface="Aptos"/>
                <a:ea typeface="Aptos"/>
                <a:cs typeface="Aptos"/>
              </a:defRPr>
            </a:pPr>
            <a:r>
              <a:rPr sz="1500" b="1">
                <a:solidFill>
                  <a:srgbClr val="0C4E4A"/>
                </a:solidFill>
                <a:latin typeface="Aptos"/>
                <a:ea typeface="Aptos"/>
                <a:cs typeface="Aptos"/>
              </a:rPr>
              <a:t>MY FOLIO</a:t>
            </a:r>
          </a:p>
          <a:p xmlns:a="http://schemas.openxmlformats.org/drawingml/2006/main">
            <a:pPr algn="ctr">
              <a:defRPr sz="1500" b="1">
                <a:solidFill>
                  <a:srgbClr val="0C4E4A"/>
                </a:solidFill>
                <a:latin typeface="Aptos"/>
                <a:ea typeface="Aptos"/>
                <a:cs typeface="Aptos"/>
              </a:defRPr>
            </a:pPr>
            <a:r>
              <a:rPr sz="1500" b="1">
                <a:solidFill>
                  <a:srgbClr val="0C4E4A"/>
                </a:solidFill>
                <a:latin typeface="Aptos"/>
                <a:ea typeface="Aptos"/>
                <a:cs typeface="Aptos"/>
              </a:rPr>
              <a:t>MODULE 10</a:t>
            </a:r>
          </a:p>
        </p:txBody>
      </p:sp>
      <p:sp>
        <p:nvSpPr>
          <p:cNvPr id="12" name="teacher-confirm">
            <a:extLst xmlns:a="http://schemas.openxmlformats.org/drawingml/2006/main">
              <a:ext uri="{FF2B5EF4-FFF2-40B4-BE49-F238E27FC236}">
                <a16:creationId xmlns:a16="http://schemas.microsoft.com/office/drawing/2014/main" id="{00608C05-1283-44A4-A3F8-F0074135ADC0}"/>
              </a:ext>
            </a:extLst>
          </p:cNvPr>
          <p:cNvSpPr>
            <a:spLocks xmlns:a="http://schemas.openxmlformats.org/drawingml/2006/main" noGrp="1"/>
          </p:cNvSpPr>
          <p:nvPr/>
        </p:nvSpPr>
        <p:spPr>
          <a:xfrm xmlns:a="http://schemas.openxmlformats.org/drawingml/2006/main">
            <a:off x="533400" y="4438650"/>
            <a:ext cx="11125200" cy="819150"/>
          </a:xfrm>
          <a:prstGeom xmlns:a="http://schemas.openxmlformats.org/drawingml/2006/main" prst="roundRect">
            <a:avLst>
              <a:gd name="adj" fmla="val 13953"/>
            </a:avLst>
          </a:prstGeom>
          <a:solidFill xmlns:a="http://schemas.openxmlformats.org/drawingml/2006/main">
            <a:srgbClr val="8F3340"/>
          </a:solidFill>
          <a:ln xmlns:a="http://schemas.openxmlformats.org/drawingml/2006/main" w="9525">
            <a:solidFill>
              <a:srgbClr val="D9828E"/>
            </a:solidFill>
            <a:prstDash val="solid"/>
          </a:ln>
        </p:spPr>
      </p:sp>
      <p:sp>
        <p:nvSpPr>
          <p:cNvPr id="13" name="teacher-confirm-text">
            <a:extLst xmlns:a="http://schemas.openxmlformats.org/drawingml/2006/main">
              <a:ext uri="{FF2B5EF4-FFF2-40B4-BE49-F238E27FC236}">
                <a16:creationId xmlns:a16="http://schemas.microsoft.com/office/drawing/2014/main" id="{5EA567D8-0AAD-4C34-953B-E3FE4DC5A3F6}"/>
              </a:ext>
            </a:extLst>
          </p:cNvPr>
          <p:cNvSpPr>
            <a:spLocks xmlns:a="http://schemas.openxmlformats.org/drawingml/2006/main" noGrp="1"/>
          </p:cNvSpPr>
          <p:nvPr/>
        </p:nvSpPr>
        <p:spPr>
          <a:xfrm xmlns:a="http://schemas.openxmlformats.org/drawingml/2006/main">
            <a:off x="742950" y="4572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275" b="1">
                <a:solidFill>
                  <a:srgbClr val="FFFFFF"/>
                </a:solidFill>
                <a:latin typeface="Aptos"/>
                <a:ea typeface="Aptos"/>
                <a:cs typeface="Aptos"/>
              </a:defRPr>
            </a:pPr>
            <a:r>
              <a:rPr sz="1275" b="1">
                <a:solidFill>
                  <a:srgbClr val="FFFFFF"/>
                </a:solidFill>
                <a:latin typeface="Aptos"/>
                <a:ea typeface="Aptos"/>
                <a:cs typeface="Aptos"/>
              </a:rPr>
              <a:t>TEACHER TO CONFIRM  •  current formal criteria and any performance descriptors; required evaluation and folio evidence format</a:t>
            </a:r>
          </a:p>
        </p:txBody>
      </p:sp>
      <p:sp>
        <p:nvSpPr>
          <p:cNvPr id="14" name="next-step-label">
            <a:extLst xmlns:a="http://schemas.openxmlformats.org/drawingml/2006/main">
              <a:ext uri="{FF2B5EF4-FFF2-40B4-BE49-F238E27FC236}">
                <a16:creationId xmlns:a16="http://schemas.microsoft.com/office/drawing/2014/main" id="{3B8A3B49-0E8A-4B97-94DB-4DDF2E32D500}"/>
              </a:ext>
            </a:extLst>
          </p:cNvPr>
          <p:cNvSpPr>
            <a:spLocks xmlns:a="http://schemas.openxmlformats.org/drawingml/2006/main" noGrp="1"/>
          </p:cNvSpPr>
          <p:nvPr/>
        </p:nvSpPr>
        <p:spPr>
          <a:xfrm xmlns:a="http://schemas.openxmlformats.org/drawingml/2006/main">
            <a:off x="533400" y="55435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0BF"/>
                </a:solidFill>
                <a:latin typeface="Aptos"/>
                <a:ea typeface="Aptos"/>
                <a:cs typeface="Aptos"/>
              </a:defRPr>
            </a:pPr>
            <a:r>
              <a:rPr sz="900" b="1">
                <a:solidFill>
                  <a:srgbClr val="FFF0BF"/>
                </a:solidFill>
                <a:latin typeface="Aptos"/>
                <a:ea typeface="Aptos"/>
                <a:cs typeface="Aptos"/>
              </a:rPr>
              <a:t>NEXT STEP</a:t>
            </a:r>
          </a:p>
        </p:txBody>
      </p:sp>
      <p:sp>
        <p:nvSpPr>
          <p:cNvPr id="15" name="next-step">
            <a:extLst xmlns:a="http://schemas.openxmlformats.org/drawingml/2006/main">
              <a:ext uri="{FF2B5EF4-FFF2-40B4-BE49-F238E27FC236}">
                <a16:creationId xmlns:a16="http://schemas.microsoft.com/office/drawing/2014/main" id="{1864C0AC-D358-48C2-9DF7-D620298CA261}"/>
              </a:ext>
            </a:extLst>
          </p:cNvPr>
          <p:cNvSpPr>
            <a:spLocks xmlns:a="http://schemas.openxmlformats.org/drawingml/2006/main" noGrp="1"/>
          </p:cNvSpPr>
          <p:nvPr/>
        </p:nvSpPr>
        <p:spPr>
          <a:xfrm xmlns:a="http://schemas.openxmlformats.org/drawingml/2006/main">
            <a:off x="1676400" y="5486400"/>
            <a:ext cx="9982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FFFFFF"/>
                </a:solidFill>
                <a:latin typeface="Aptos"/>
                <a:ea typeface="Aptos"/>
                <a:cs typeface="Aptos"/>
              </a:defRPr>
            </a:pPr>
            <a:r>
              <a:rPr sz="1350" b="1">
                <a:solidFill>
                  <a:srgbClr val="FFFFFF"/>
                </a:solidFill>
                <a:latin typeface="Aptos"/>
                <a:ea typeface="Aptos"/>
                <a:cs typeface="Aptos"/>
              </a:rPr>
              <a:t>The completed evidence set can be reviewed, backed up and prepared for the current teacher-directed process.</a:t>
            </a:r>
          </a:p>
        </p:txBody>
      </p:sp>
      <p:sp>
        <p:nvSpPr>
          <p:cNvPr id="16" name="status-boundary">
            <a:extLst xmlns:a="http://schemas.openxmlformats.org/drawingml/2006/main">
              <a:ext uri="{FF2B5EF4-FFF2-40B4-BE49-F238E27FC236}">
                <a16:creationId xmlns:a16="http://schemas.microsoft.com/office/drawing/2014/main" id="{5357DB2E-6A4D-4B97-BE31-6228CED0DFFB}"/>
              </a:ext>
            </a:extLst>
          </p:cNvPr>
          <p:cNvSpPr>
            <a:spLocks xmlns:a="http://schemas.openxmlformats.org/drawingml/2006/main" noGrp="1"/>
          </p:cNvSpPr>
          <p:nvPr/>
        </p:nvSpPr>
        <p:spPr>
          <a:xfrm xmlns:a="http://schemas.openxmlformats.org/drawingml/2006/main">
            <a:off x="533400" y="619125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a:solidFill>
                  <a:srgbClr val="FBE5E8"/>
                </a:solidFill>
                <a:latin typeface="Aptos"/>
                <a:ea typeface="Aptos"/>
                <a:cs typeface="Aptos"/>
              </a:defRPr>
            </a:pPr>
            <a:r>
              <a:rPr sz="975">
                <a:solidFill>
                  <a:srgbClr val="FBE5E8"/>
                </a:solidFill>
                <a:latin typeface="Aptos"/>
                <a:ea typeface="Aptos"/>
                <a:cs typeface="Aptos"/>
              </a:rPr>
              <a:t>Formative classroom evidence only — follow your teacher’s current submission process.</a:t>
            </a:r>
          </a:p>
        </p:txBody>
      </p:sp>
      <p:sp>
        <p:nvSpPr>
          <p:cNvPr id="17" name="page">
            <a:extLst xmlns:a="http://schemas.openxmlformats.org/drawingml/2006/main">
              <a:ext uri="{FF2B5EF4-FFF2-40B4-BE49-F238E27FC236}">
                <a16:creationId xmlns:a16="http://schemas.microsoft.com/office/drawing/2014/main" id="{B9DDB084-014A-41EA-9C82-0B3D766C2646}"/>
              </a:ext>
            </a:extLst>
          </p:cNvPr>
          <p:cNvSpPr>
            <a:spLocks xmlns:a="http://schemas.openxmlformats.org/drawingml/2006/main" noGrp="1"/>
          </p:cNvSpPr>
          <p:nvPr/>
        </p:nvSpPr>
        <p:spPr>
          <a:xfrm xmlns:a="http://schemas.openxmlformats.org/drawingml/2006/main">
            <a:off x="11182350" y="61912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FBE5E8"/>
                </a:solidFill>
                <a:latin typeface="Aptos"/>
                <a:ea typeface="Aptos"/>
                <a:cs typeface="Aptos"/>
              </a:defRPr>
            </a:pPr>
            <a:r>
              <a:rPr sz="900" b="1">
                <a:solidFill>
                  <a:srgbClr val="FBE5E8"/>
                </a:solidFill>
                <a:latin typeface="Aptos"/>
                <a:ea typeface="Aptos"/>
                <a:cs typeface="Aptos"/>
              </a:rPr>
              <a:t>08</a:t>
            </a:r>
          </a:p>
        </p:txBody>
      </p:sp>
    </p:spTree>
    <p:extLst>
      <p:ext uri="{BB962C8B-B14F-4D97-AF65-F5344CB8AC3E}">
        <p14:creationId xmlns:p14="http://schemas.microsoft.com/office/powerpoint/2010/main" val="2912828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2026-08-27T08:40:51.5480000Z</dcterms:created>
  <dcterms:modified xsi:type="dcterms:W3CDTF">2026-08-27T08:40:51.5480000Z</dcterms:modified>
</coreProperties>
</file>