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69dc80a7c46e7" /><Relationship Type="http://schemas.openxmlformats.org/officeDocument/2006/relationships/extended-properties" Target="/docProps/app.xml" Id="Rba4eacdd962d4319" /><Relationship Type="http://schemas.openxmlformats.org/officeDocument/2006/relationships/officeDocument" Target="/ppt/presentation.xml" Id="Rc3cd8fa4d147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f44d377224bbb"/>
  </p:sldMasterIdLst>
  <p:notesMasterIdLst>
    <p:notesMasterId xmlns:r="http://schemas.openxmlformats.org/officeDocument/2006/relationships" r:id="R3e37084ef2e245f7"/>
  </p:notesMasterIdLst>
  <p:sldIdLst>
    <p:sldId xmlns:r="http://schemas.openxmlformats.org/officeDocument/2006/relationships" id="256" r:id="R8700ded41be046b6"/>
    <p:sldId xmlns:r="http://schemas.openxmlformats.org/officeDocument/2006/relationships" id="257" r:id="R7b1fa0a4d4e04444"/>
    <p:sldId xmlns:r="http://schemas.openxmlformats.org/officeDocument/2006/relationships" id="258" r:id="R3257f6789957491c"/>
    <p:sldId xmlns:r="http://schemas.openxmlformats.org/officeDocument/2006/relationships" id="259" r:id="Re5886b47d14044ea"/>
    <p:sldId xmlns:r="http://schemas.openxmlformats.org/officeDocument/2006/relationships" id="260" r:id="Re6179f0b10c543f4"/>
    <p:sldId xmlns:r="http://schemas.openxmlformats.org/officeDocument/2006/relationships" id="261" r:id="R55accb63732d4661"/>
    <p:sldId xmlns:r="http://schemas.openxmlformats.org/officeDocument/2006/relationships" id="262" r:id="R1eab1ea4cfab4f9c"/>
    <p:sldId xmlns:r="http://schemas.openxmlformats.org/officeDocument/2006/relationships" id="263" r:id="R55e06c1be5394e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bb770d3244c44" /><Relationship Type="http://schemas.openxmlformats.org/officeDocument/2006/relationships/slideMaster" Target="/ppt/slideMasters/slideMaster1.xml" Id="R865f44d377224bbb" /><Relationship Type="http://schemas.openxmlformats.org/officeDocument/2006/relationships/notesMaster" Target="/ppt/notesMasters/notesMaster1.xml" Id="R3e37084ef2e245f7" /><Relationship Type="http://schemas.openxmlformats.org/officeDocument/2006/relationships/presProps" Target="/ppt/presProps.xml" Id="R6544bd928f4d4c81" /><Relationship Type="http://schemas.openxmlformats.org/officeDocument/2006/relationships/tableStyles" Target="/ppt/tableStyles.xml" Id="R30f40d95bc0646be" /><Relationship Type="http://schemas.openxmlformats.org/officeDocument/2006/relationships/slide" Target="/ppt/slides/slide1.xml" Id="R8700ded41be046b6" /><Relationship Type="http://schemas.openxmlformats.org/officeDocument/2006/relationships/slide" Target="/ppt/slides/slide2.xml" Id="R7b1fa0a4d4e04444" /><Relationship Type="http://schemas.openxmlformats.org/officeDocument/2006/relationships/slide" Target="/ppt/slides/slide3.xml" Id="R3257f6789957491c" /><Relationship Type="http://schemas.openxmlformats.org/officeDocument/2006/relationships/slide" Target="/ppt/slides/slide4.xml" Id="Re5886b47d14044ea" /><Relationship Type="http://schemas.openxmlformats.org/officeDocument/2006/relationships/slide" Target="/ppt/slides/slide5.xml" Id="Re6179f0b10c543f4" /><Relationship Type="http://schemas.openxmlformats.org/officeDocument/2006/relationships/slide" Target="/ppt/slides/slide6.xml" Id="R55accb63732d4661" /><Relationship Type="http://schemas.openxmlformats.org/officeDocument/2006/relationships/slide" Target="/ppt/slides/slide7.xml" Id="R1eab1ea4cfab4f9c" /><Relationship Type="http://schemas.openxmlformats.org/officeDocument/2006/relationships/slide" Target="/ppt/slides/slide8.xml" Id="R55e06c1be539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09973b09e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292093ac9411d" /><Relationship Type="http://schemas.openxmlformats.org/officeDocument/2006/relationships/notesMaster" Target="/ppt/notesMasters/notesMaster1.xml" Id="Raddb76f01f09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c53bc83b0847d2" /><Relationship Type="http://schemas.openxmlformats.org/officeDocument/2006/relationships/notesMaster" Target="/ppt/notesMasters/notesMaster1.xml" Id="Rb9a2b71e2abc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1488e81f24410" /><Relationship Type="http://schemas.openxmlformats.org/officeDocument/2006/relationships/notesMaster" Target="/ppt/notesMasters/notesMaster1.xml" Id="Rb838e6ba7213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34007d6694474" /><Relationship Type="http://schemas.openxmlformats.org/officeDocument/2006/relationships/notesMaster" Target="/ppt/notesMasters/notesMaster1.xml" Id="R0ee3eb2dce3b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2f84d6ac704ebc" /><Relationship Type="http://schemas.openxmlformats.org/officeDocument/2006/relationships/notesMaster" Target="/ppt/notesMasters/notesMaster1.xml" Id="R90f75b80cdfe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2354b1413411a" /><Relationship Type="http://schemas.openxmlformats.org/officeDocument/2006/relationships/notesMaster" Target="/ppt/notesMasters/notesMaster1.xml" Id="R16192ec7b82142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0a92e71b241ac" /><Relationship Type="http://schemas.openxmlformats.org/officeDocument/2006/relationships/notesMaster" Target="/ppt/notesMasters/notesMaster1.xml" Id="Rae9ca9ecde834a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0b3926a7e54ec2" /><Relationship Type="http://schemas.openxmlformats.org/officeDocument/2006/relationships/notesMaster" Target="/ppt/notesMasters/notesMaster1.xml" Id="R84248c1f2992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outcome: Turn a developed bag idea into a practical, checkable plan for materials, processes, equipment and quality.</a:t>
            </a:r>
          </a:p>
          <a:p xmlns:a="http://schemas.openxmlformats.org/drawingml/2006/main">
            <a:r>
              <a:t>Invite one student example or prediction before showing the learning map.</a:t>
            </a:r>
          </a:p>
          <a:p xmlns:a="http://schemas.openxmlformats.org/drawingml/2006/main">
            <a:r>
              <a:t>Transition: the module has three connected ideas, and each will end in a decision or evidence action.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Matched teaching visual: sew-awesome-hero.png;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ideas as one learning pathway, not three disconnected topics.</a:t>
            </a:r>
          </a:p>
          <a:p xmlns:a="http://schemas.openxmlformats.org/drawingml/2006/main">
            <a:r>
              <a:t>Warm-up prompt: A developed design identifies a user, a purpose and criteria for judging success.</a:t>
            </a:r>
          </a:p>
          <a:p xmlns:a="http://schemas.openxmlformats.org/drawingml/2006/main">
            <a:r>
              <a:t>Ask one student to connect prior knowledge to the first section, then signpost the later evidence response.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Help students justify resources by matching their properties and roles to the intended bag, user and production process.</a:t>
            </a:r>
          </a:p>
          <a:p xmlns:a="http://schemas.openxmlformats.org/drawingml/2006/main">
            <a:r>
              <a:t>Visual purpose: Support identification of resource categories and comparison of visible choices against a required property.</a:t>
            </a:r>
          </a:p>
          <a:p xmlns:a="http://schemas.openxmlformats.org/drawingml/2006/main">
            <a:r>
              <a:t>Explain only what is shown: A photo-style flat lay arranges fabrics, notions, tools and bag components for resource identification and comparison.</a:t>
            </a:r>
          </a:p>
          <a:p xmlns:a="http://schemas.openxmlformats.org/drawingml/2006/main">
            <a:r>
              <a:t>Student observation prompt: Choose one resource category and compare two visible options against a property the project needs.</a:t>
            </a:r>
          </a:p>
          <a:p xmlns:a="http://schemas.openxmlformats.org/drawingml/2006/main">
            <a:r>
              <a:t>Applied activity: Compare two possible resources for one part of a reusable carry item and make a defensible choice.</a:t>
            </a:r>
          </a:p>
          <a:p xmlns:a="http://schemas.openxmlformats.org/drawingml/2006/main">
            <a:r>
              <a:t>Transition: A resource decision becomes useful when it is placed inside a logical action plan.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Matched teaching visual: visual-m08-s1.png;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students to organise dependent production steps into a logical plan with resources, checks and evidence points.</a:t>
            </a:r>
          </a:p>
          <a:p xmlns:a="http://schemas.openxmlformats.org/drawingml/2006/main">
            <a:r>
              <a:t>Visual purpose: Show the four-stage sequence from preparation to decoration, assembly, finishing and evidence.</a:t>
            </a:r>
          </a:p>
          <a:p xmlns:a="http://schemas.openxmlformats.org/drawingml/2006/main">
            <a:r>
              <a:t>Explain only what is shown: A continuous workshop flat lay moves from prepared bag pieces to a decorated panel, partial assembly and a finished photographed product.</a:t>
            </a:r>
          </a:p>
          <a:p xmlns:a="http://schemas.openxmlformats.org/drawingml/2006/main">
            <a:r>
              <a:t>Student observation prompt: Add one dependency, one quality checkpoint and one evidence point to this four-stage sequence.</a:t>
            </a:r>
          </a:p>
          <a:p xmlns:a="http://schemas.openxmlformats.org/drawingml/2006/main">
            <a:r>
              <a:t>Applied activity: Repair a deliberately disordered production list by explaining the dependencies between its actions.</a:t>
            </a:r>
          </a:p>
          <a:p xmlns:a="http://schemas.openxmlformats.org/drawingml/2006/main">
            <a:r>
              <a:t>Transition: A draft action plan must be checked for readiness, safety and quality before production starts.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Matched teaching visual: visual-m08-s2.png;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Give students a go-or-revise routine that checks design alignment, resources, sequence, technique readiness and safety before committing product materials.</a:t>
            </a:r>
          </a:p>
          <a:p xmlns:a="http://schemas.openxmlformats.org/drawingml/2006/main">
            <a:r>
              <a:t>Visual purpose: Use four quality gates to decide whether work should proceed or return for correction.</a:t>
            </a:r>
          </a:p>
          <a:p xmlns:a="http://schemas.openxmlformats.org/drawingml/2006/main">
            <a:r>
              <a:t>Explain only what is shown: A textiles workbench shows close inspections of fabric defects, seam allowance, stitched seam quality and the final bag finish.</a:t>
            </a:r>
          </a:p>
          <a:p xmlns:a="http://schemas.openxmlformats.org/drawingml/2006/main">
            <a:r>
              <a:t>Student observation prompt: At which gate would a fault be found earliest, and where should the plan return before work continues?</a:t>
            </a:r>
          </a:p>
          <a:p xmlns:a="http://schemas.openxmlformats.org/drawingml/2006/main">
            <a:r>
              <a:t>Applied activity: Act as a careful reviewer and find one hidden weakness in a draft production plan.</a:t>
            </a:r>
          </a:p>
          <a:p xmlns:a="http://schemas.openxmlformats.org/drawingml/2006/main">
            <a:r>
              <a:t>Transition: A production-ready plan supports the approved tote or drawstring pathway in Module 9.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Matched teaching visual: visual-m08-s3.png;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silent thinking before pair talk so every student retrieves independently.</a:t>
            </a:r>
          </a:p>
          <a:p xmlns:a="http://schemas.openxmlformats.org/drawingml/2006/main">
            <a:r>
              <a:t>Ask students to justify, not merely name, one response.</a:t>
            </a:r>
          </a:p>
          <a:p xmlns:a="http://schemas.openxmlformats.org/drawingml/2006/main">
            <a:r>
              <a:t>Listen for whether students connect each answer to its module idea and evidence.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response prompt aloud: Evaluate whether a draft production plan is ready to proceed, and develop a go-or-revise decision supported by evidence.</a:t>
            </a:r>
          </a:p>
          <a:p xmlns:a="http://schemas.openxmlformats.org/drawingml/2006/main">
            <a:r>
              <a:t>Model one sentence that selects evidence and explains its significance.</a:t>
            </a:r>
          </a:p>
          <a:p xmlns:a="http://schemas.openxmlformats.org/drawingml/2006/main">
            <a:r>
              <a:t>Success criteria: Uses specific evidence rather than confidence or unsupported ticks. | Explains how planning areas connect and identifies any mismatch. | Provides a clear, actionable and justified decision.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time to write all three exit statements before discussion.</a:t>
            </a:r>
          </a:p>
          <a:p xmlns:a="http://schemas.openxmlformats.org/drawingml/2006/main">
            <a:r>
              <a:t>Evidence destination: My folio, Module 8; this is formative browser-local evidence, not proof of formal submission.</a:t>
            </a:r>
          </a:p>
          <a:p xmlns:a="http://schemas.openxmlformats.org/drawingml/2006/main">
            <a:r>
              <a:t>Next learning link: A production-ready plan supports the approved tote or drawstring pathway in Module 9.</a:t>
            </a:r>
          </a:p>
          <a:p xmlns:a="http://schemas.openxmlformats.org/drawingml/2006/main">
            <a:r>
              <a:t>Likely misconceptions: The most attractive material is automatically the best material for every bag. | A materials list only needs names and quantities, so reasons for choices do not matter.</a:t>
            </a:r>
          </a:p>
          <a:p xmlns:a="http://schemas.openxmlformats.org/drawingml/2006/main">
            <a:r>
              <a:t>Teacher to confirm: approved bag pathway and full-size pattern or cutting template; exact finished dimensions and project quantities; required fabrics, notions, decoration and optional lining or closures; local machine model, permitted settings, threading sequence and pressing checkpoints; required planning evidence format.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core-production-planning-set, core-tote-procedure, core-drawstring-procedure,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a572388fb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03ff1542f4a8e" /><Relationship Type="http://schemas.openxmlformats.org/officeDocument/2006/relationships/slideLayout" Target="/ppt/slideLayouts/slideLayout1.xml" Id="R16b88e27bd6f49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b88e27bd6f49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98616e5c4cf1" /><Relationship Type="http://schemas.openxmlformats.org/officeDocument/2006/relationships/image" Target="/ppt/media/image.png" Id="Rfe139baf82144c4a" /><Relationship Type="http://schemas.openxmlformats.org/officeDocument/2006/relationships/notesSlide" Target="/ppt/notesSlides/notesSlide1.xml" Id="R155e50c35952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113a029814b06" /><Relationship Type="http://schemas.openxmlformats.org/officeDocument/2006/relationships/notesSlide" Target="/ppt/notesSlides/notesSlide2.xml" Id="R807e1d1918be4a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c5c95d65d4546" /><Relationship Type="http://schemas.openxmlformats.org/officeDocument/2006/relationships/image" Target="/ppt/media/image2.png" Id="R77f5a195f8914140" /><Relationship Type="http://schemas.openxmlformats.org/officeDocument/2006/relationships/notesSlide" Target="/ppt/notesSlides/notesSlide3.xml" Id="R28e57c0a604a47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1184939ff403a" /><Relationship Type="http://schemas.openxmlformats.org/officeDocument/2006/relationships/image" Target="/ppt/media/image3.png" Id="R95a1839eeed94e21" /><Relationship Type="http://schemas.openxmlformats.org/officeDocument/2006/relationships/notesSlide" Target="/ppt/notesSlides/notesSlide4.xml" Id="R074567bb10d54e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b7e08ed274f5a" /><Relationship Type="http://schemas.openxmlformats.org/officeDocument/2006/relationships/image" Target="/ppt/media/image4.png" Id="Re3e015777a104c9c" /><Relationship Type="http://schemas.openxmlformats.org/officeDocument/2006/relationships/notesSlide" Target="/ppt/notesSlides/notesSlide5.xml" Id="Rc5e4a3dda709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955659eb4c77" /><Relationship Type="http://schemas.openxmlformats.org/officeDocument/2006/relationships/notesSlide" Target="/ppt/notesSlides/notesSlide6.xml" Id="Re0e2762f7f6447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49afbe0b74fc5" /><Relationship Type="http://schemas.openxmlformats.org/officeDocument/2006/relationships/notesSlide" Target="/ppt/notesSlides/notesSlide7.xml" Id="Rd67bd47929c2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c392c2efc49e4" /><Relationship Type="http://schemas.openxmlformats.org/officeDocument/2006/relationships/notesSlide" Target="/ppt/notesSlides/notesSlide8.xml" Id="R0b337f52affe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Teaching visual - Sew Awesome course identity: reusable textile carry items and sewing materi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39baf82144c4a"/>
          <a:srcRect xmlns:a="http://schemas.openxmlformats.org/drawingml/2006/main" l="26389" t="0" r="2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wash">
            <a:extLst xmlns:a="http://schemas.openxmlformats.org/drawingml/2006/main">
              <a:ext uri="{FF2B5EF4-FFF2-40B4-BE49-F238E27FC236}">
                <a16:creationId xmlns:a16="http://schemas.microsoft.com/office/drawing/2014/main" id="{FF6611C4-EB25-46D7-969D-5F7BD49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857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E4A"/>
              </a:gs>
              <a:gs pos="100000">
                <a:srgbClr val="0C4E4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E979431-7044-4C26-A47F-B649D44B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9596E33-5A5A-4064-A3A3-4604C1AC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2227E1-6255-4B13-81CD-74DB415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Planning production</a:t>
            </a:r>
          </a:p>
        </p:txBody>
      </p:sp>
      <p:sp>
        <p:nvSpPr>
          <p:cNvPr id="6" name="outcome">
            <a:extLst xmlns:a="http://schemas.openxmlformats.org/drawingml/2006/main">
              <a:ext uri="{FF2B5EF4-FFF2-40B4-BE49-F238E27FC236}">
                <a16:creationId xmlns:a16="http://schemas.microsoft.com/office/drawing/2014/main" id="{8E79BFC2-79EB-46D7-BA8C-3DEDAE8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EF6F3"/>
                </a:solidFill>
                <a:latin typeface="Aptos"/>
                <a:ea typeface="Aptos"/>
                <a:cs typeface="Aptos"/>
              </a:rPr>
              <a:t>Turn a developed bag idea into a practical, checkable plan for materials, processes, equipment and quality.</a:t>
            </a:r>
          </a:p>
        </p:txBody>
      </p:sp>
      <p:sp>
        <p:nvSpPr>
          <p:cNvPr id="7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FA35D9FB-E21F-4A82-8A46-4BFC897A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8D6D2"/>
                </a:solidFill>
                <a:latin typeface="Aptos"/>
                <a:ea typeface="Aptos"/>
                <a:cs typeface="Aptos"/>
              </a:rPr>
              <a:t>Classroom presentation  •  student copy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1BDCE1A-0CCF-41F9-9DF8-84DCE33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5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8605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27E0AD6A-F95F-4E13-A154-AEF83BFE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1D30A9-36F1-4747-BCDF-DF8368E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TODAY’S LEARNING PATH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CD30B-D644-4CE6-BA70-BA17648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build one stronger decision</a:t>
            </a:r>
          </a:p>
        </p:txBody>
      </p:sp>
      <p:sp>
        <p:nvSpPr>
          <p:cNvPr id="4" name="idea-number-1">
            <a:extLst xmlns:a="http://schemas.openxmlformats.org/drawingml/2006/main">
              <a:ext uri="{FF2B5EF4-FFF2-40B4-BE49-F238E27FC236}">
                <a16:creationId xmlns:a16="http://schemas.microsoft.com/office/drawing/2014/main" id="{31211F8F-6986-48A6-B804-B1EC940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idea-line-1">
            <a:extLst xmlns:a="http://schemas.openxmlformats.org/drawingml/2006/main">
              <a:ext uri="{FF2B5EF4-FFF2-40B4-BE49-F238E27FC236}">
                <a16:creationId xmlns:a16="http://schemas.microsoft.com/office/drawing/2014/main" id="{76D15A5A-E514-4F47-BC99-3CECF286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6" name="idea-title-1">
            <a:extLst xmlns:a="http://schemas.openxmlformats.org/drawingml/2006/main">
              <a:ext uri="{FF2B5EF4-FFF2-40B4-BE49-F238E27FC236}">
                <a16:creationId xmlns:a16="http://schemas.microsoft.com/office/drawing/2014/main" id="{50F85BFF-565C-420D-970D-F501147C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Selecting Materials, Notions and Equipment</a:t>
            </a:r>
          </a:p>
        </p:txBody>
      </p:sp>
      <p:sp>
        <p:nvSpPr>
          <p:cNvPr id="7" name="idea-number-2">
            <a:extLst xmlns:a="http://schemas.openxmlformats.org/drawingml/2006/main">
              <a:ext uri="{FF2B5EF4-FFF2-40B4-BE49-F238E27FC236}">
                <a16:creationId xmlns:a16="http://schemas.microsoft.com/office/drawing/2014/main" id="{1D7E9C76-F96D-4F92-A518-1A20B51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idea-line-2">
            <a:extLst xmlns:a="http://schemas.openxmlformats.org/drawingml/2006/main">
              <a:ext uri="{FF2B5EF4-FFF2-40B4-BE49-F238E27FC236}">
                <a16:creationId xmlns:a16="http://schemas.microsoft.com/office/drawing/2014/main" id="{2F9E4779-05D0-4A8B-884D-73F5343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4C5A"/>
            </a:solidFill>
            <a:prstDash val="solid"/>
          </a:ln>
        </p:spPr>
      </p:sp>
      <p:sp>
        <p:nvSpPr>
          <p:cNvPr id="9" name="idea-title-2">
            <a:extLst xmlns:a="http://schemas.openxmlformats.org/drawingml/2006/main">
              <a:ext uri="{FF2B5EF4-FFF2-40B4-BE49-F238E27FC236}">
                <a16:creationId xmlns:a16="http://schemas.microsoft.com/office/drawing/2014/main" id="{14F66226-CD67-4C70-8362-03B6DA6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Construction Sequence and Action Plan</a:t>
            </a:r>
          </a:p>
        </p:txBody>
      </p:sp>
      <p:sp>
        <p:nvSpPr>
          <p:cNvPr id="10" name="idea-number-3">
            <a:extLst xmlns:a="http://schemas.openxmlformats.org/drawingml/2006/main">
              <a:ext uri="{FF2B5EF4-FFF2-40B4-BE49-F238E27FC236}">
                <a16:creationId xmlns:a16="http://schemas.microsoft.com/office/drawing/2014/main" id="{2B26E9E1-3443-48C9-8BDF-40BC62AE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idea-line-3">
            <a:extLst xmlns:a="http://schemas.openxmlformats.org/drawingml/2006/main">
              <a:ext uri="{FF2B5EF4-FFF2-40B4-BE49-F238E27FC236}">
                <a16:creationId xmlns:a16="http://schemas.microsoft.com/office/drawing/2014/main" id="{1AA27DAC-9C4D-448C-A87E-CE353CC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12" name="idea-title-3">
            <a:extLst xmlns:a="http://schemas.openxmlformats.org/drawingml/2006/main">
              <a:ext uri="{FF2B5EF4-FFF2-40B4-BE49-F238E27FC236}">
                <a16:creationId xmlns:a16="http://schemas.microsoft.com/office/drawing/2014/main" id="{322C434D-ED77-4DB9-9EEB-763F9B17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Quality Checks Before Production</a:t>
            </a:r>
          </a:p>
        </p:txBody>
      </p:sp>
      <p:sp>
        <p:nvSpPr>
          <p:cNvPr id="13" name="warm-up">
            <a:extLst xmlns:a="http://schemas.openxmlformats.org/drawingml/2006/main">
              <a:ext uri="{FF2B5EF4-FFF2-40B4-BE49-F238E27FC236}">
                <a16:creationId xmlns:a16="http://schemas.microsoft.com/office/drawing/2014/main" id="{1353FC08-0840-4243-B90B-7F6AF08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910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C4E4A"/>
          </a:solidFill>
          <a:ln xmlns:a="http://schemas.openxmlformats.org/drawingml/2006/main" w="9525">
            <a:solidFill>
              <a:srgbClr val="0C4E4A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421D68C8-CEC6-4A38-B42A-F69BB27C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F401805B-59B3-4730-B308-AE68BC2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developed design identifies a user, a purpose and criteria for judging success.</a:t>
            </a:r>
          </a:p>
        </p:txBody>
      </p:sp>
      <p:sp>
        <p:nvSpPr>
          <p:cNvPr id="16" name="warm-up-instruction">
            <a:extLst xmlns:a="http://schemas.openxmlformats.org/drawingml/2006/main">
              <a:ext uri="{FF2B5EF4-FFF2-40B4-BE49-F238E27FC236}">
                <a16:creationId xmlns:a16="http://schemas.microsoft.com/office/drawing/2014/main" id="{120FAE76-0D96-42A3-ACEE-1D3792B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EF6F3"/>
                </a:solidFill>
                <a:latin typeface="Aptos"/>
                <a:ea typeface="Aptos"/>
                <a:cs typeface="Aptos"/>
              </a:rPr>
              <a:t>Think silently. Name one useful idea. Be ready to explain why it matters.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F86B968A-1DF9-466C-8B10-880C97D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048640-5EF7-48EE-AFFE-B85A6149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0267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99641E02-81FA-4369-87B4-B704835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667D7DA-7F47-4F71-9E1A-0C0EB3BB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1. SELECTING MATERIALS, NOTIONS AND EQUIPMENT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8F7AC1-3372-4D49-B8D8-F231A8E4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One resource, several consequences</a:t>
            </a:r>
          </a:p>
        </p:txBody>
      </p:sp>
      <p:pic>
        <p:nvPicPr>
          <p:cNvPr id="17" name="Teaching visual - Fabrics, notions, tools and bag components are arranged in a flat lay for comparis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a195f8914140"/>
          <a:stretch xmlns:a="http://schemas.openxmlformats.org/drawingml/2006/main"/>
        </p:blipFill>
        <p:spPr>
          <a:xfrm xmlns:a="http://schemas.openxmlformats.org/drawingml/2006/main">
            <a:off x="6657975" y="15240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67128AE7-1CC7-41F8-9466-493C400E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Production planning begins by deciding what each resource must do, not by collecting whatever happens to be nearby. Materials form the main parts of a product. Notions are smaller components that help a textile product work or come together.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12D60128-FAC2-4B9E-B2D8-33F1061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B0C5B699-835A-4983-854E-694296A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F10F77EE-DEB2-41B3-971B-972087A2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Choose one resource category and compare two visible options against a property the project needs.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65CD541F-6CD9-467F-B4C1-CA59808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3C2F8650-53BE-4447-8A69-097C66B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1731D8BA-2178-4414-B84D-C9C63E82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two possible resources for one part of a reusable carry item and make a defensible choice.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EB9EB914-0951-4001-B0F4-1D4F091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DD36B07-B38F-418A-B6CA-0B8C9A7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619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A875ED17-3F54-4D1E-A952-913A016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DD90DF4-804A-465C-9247-72BFBBF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2. CONSTRUCTION SEQUENCE AND ACTION PLAN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852FC-3125-480F-944F-A3A520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Plan for access</a:t>
            </a:r>
          </a:p>
        </p:txBody>
      </p:sp>
      <p:pic>
        <p:nvPicPr>
          <p:cNvPr id="17" name="Teaching visual - A continuous workshop flat lay moves from prepared bag pieces to a decorated panel, partial assembly and a finished photographed produc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1839eeed94e21"/>
          <a:stretch xmlns:a="http://schemas.openxmlformats.org/drawingml/2006/main"/>
        </p:blipFill>
        <p:spPr>
          <a:xfrm xmlns:a="http://schemas.openxmlformats.org/drawingml/2006/main">
            <a:off x="53340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1A95B79D-305C-4B75-A480-F6B3675C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An action plan turns a design idea into an ordered series of manageable decisions and processes. A construction sequence is more than a list of tasks. A useful action-plan step begins with a clear action verb and identifies the resources needed.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65608E82-0203-4343-B4C8-A742816E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671FA2AD-C9DE-45C2-B9CD-95B83F44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6BB53134-CE3E-49DF-ABCC-03EDA45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Add one dependency, one quality checkpoint and one evidence point to this four-stage sequence.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97C25D35-25C7-4D01-81D3-2A3C4BDA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0C16E09F-91BC-4E2B-B288-F8DB614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6C2FC4E5-4C5F-4EDE-9AA0-F745BDDC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Repair a deliberately disordered production list by explaining the dependencies between its actions.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09104FFB-2035-4709-B09E-48113C4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CD5F18-136B-425D-8B9D-8AD7234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059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B71EDA30-7E4D-4BB2-AB8F-9CBB7F3C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945EEE6-C328-4745-8238-5AF13FCD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3. QUALITY CHECKS BEFORE PRODUCTION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67F6D-0B70-42B5-BF22-978C4904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Confidence is not proof</a:t>
            </a:r>
          </a:p>
        </p:txBody>
      </p:sp>
      <p:pic>
        <p:nvPicPr>
          <p:cNvPr id="17" name="Teaching visual - A textiles workbench shows close inspections of fabric defects, seam allowance, stitched seam quality and the final bag finis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015777a104c9c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004DB85B-2B4E-406F-B72C-EF22B328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 pre-production check is the last calm opportunity to find a planning problem before it becomes a product problem. Readiness is checked against the design, not against how confident a student feels. Technique readiness can be demonstrated with small samples.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714BCEEF-526E-4FD6-A597-D48DAC4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8D3BEF1D-C71F-4BBB-8137-7747BC5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1BF15DA4-85D7-4487-8C4F-5BF481E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At which gate would a fault be found earliest, and where should the plan return before work continues?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81E793DA-DD27-4AC6-80E9-1AC54DC4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ED20D09C-AFA1-447F-BC06-660A034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09D2C44E-96D1-4E40-AA86-6E3303A7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Act as a careful reviewer and find one hidden weakness in a draft production plan.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E5BCC4EA-D78E-4243-9993-97F4E70E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EE0AC47-60E0-480D-AFFC-C206BF1D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5170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B8D29A23-5FD0-408C-975C-E28D6A1F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A63199A-B92D-4554-B5C2-44AFF87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CHECK YOUR UNDERSTANDING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37870F-CD79-4CBD-85EF-9F2B1C7A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BC81D8B1-39BA-40B7-AA90-E939DF52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6D2"/>
                </a:solidFill>
                <a:latin typeface="Aptos"/>
                <a:ea typeface="Aptos"/>
                <a:cs typeface="Aptos"/>
              </a:rPr>
              <a:t>Answer silently first. Then justify one answer with a partner.</a:t>
            </a:r>
          </a:p>
        </p:txBody>
      </p:sp>
      <p:sp>
        <p:nvSpPr>
          <p:cNvPr id="5" name="check-number-1">
            <a:extLst xmlns:a="http://schemas.openxmlformats.org/drawingml/2006/main">
              <a:ext uri="{FF2B5EF4-FFF2-40B4-BE49-F238E27FC236}">
                <a16:creationId xmlns:a16="http://schemas.microsoft.com/office/drawing/2014/main" id="{9F4E290B-6E3D-483B-9896-AE7BD01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2D832361-D532-4966-9E12-413E4A8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738FA2C5-A112-48D0-8128-CDAC1F9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starting point leads to the strongest material choice for a reusable carry item?</a:t>
            </a:r>
          </a:p>
        </p:txBody>
      </p:sp>
      <p:sp>
        <p:nvSpPr>
          <p:cNvPr id="8" name="check-number-2">
            <a:extLst xmlns:a="http://schemas.openxmlformats.org/drawingml/2006/main">
              <a:ext uri="{FF2B5EF4-FFF2-40B4-BE49-F238E27FC236}">
                <a16:creationId xmlns:a16="http://schemas.microsoft.com/office/drawing/2014/main" id="{B4AA8544-E8EC-4AD0-B5EB-9CB90015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526D0467-BF20-49A0-B39C-C3C7A0A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7D3EF0B4-A784-4F3B-9964-0B0737E9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the main purpose of a construction sequence?</a:t>
            </a:r>
          </a:p>
        </p:txBody>
      </p:sp>
      <p:sp>
        <p:nvSpPr>
          <p:cNvPr id="11" name="check-number-3">
            <a:extLst xmlns:a="http://schemas.openxmlformats.org/drawingml/2006/main">
              <a:ext uri="{FF2B5EF4-FFF2-40B4-BE49-F238E27FC236}">
                <a16:creationId xmlns:a16="http://schemas.microsoft.com/office/drawing/2014/main" id="{B19ADA99-52A5-4346-BCE5-8C7F2BD6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F4D0AF30-DD63-4F4E-B59E-2FA38C6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600D0AD2-E2D1-4EC3-8C6F-33F5958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the strongest basis for deciding that a plan is ready for production?</a:t>
            </a:r>
          </a:p>
        </p:txBody>
      </p:sp>
      <p:sp>
        <p:nvSpPr>
          <p:cNvPr id="14" name="check-number-4">
            <a:extLst xmlns:a="http://schemas.openxmlformats.org/drawingml/2006/main">
              <a:ext uri="{FF2B5EF4-FFF2-40B4-BE49-F238E27FC236}">
                <a16:creationId xmlns:a16="http://schemas.microsoft.com/office/drawing/2014/main" id="{3DA1B04B-83D4-4B0A-A72C-8753B58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08D2F88B-B4A2-453F-AFAC-03548D2E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661E4E06-F7C4-4078-A661-0BE16E8C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idea from this module most changes your next design or production decision?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D15B9247-C28C-40CF-8F77-19B0610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1AD3E9-7147-4C66-B125-413B8A0D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1945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">
            <a:extLst xmlns:a="http://schemas.openxmlformats.org/drawingml/2006/main">
              <a:ext uri="{FF2B5EF4-FFF2-40B4-BE49-F238E27FC236}">
                <a16:creationId xmlns:a16="http://schemas.microsoft.com/office/drawing/2014/main" id="{D76CC800-53E5-4370-A2E3-3FA171B3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37A84FE-BBE1-4F43-80C7-EB79060A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MODEL A LONGER RESPONSE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FFDC2B-64AE-42E6-AE0F-01E63C3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Read → Select → Explain → Check</a:t>
            </a:r>
          </a:p>
        </p:txBody>
      </p:sp>
      <p:sp>
        <p:nvSpPr>
          <p:cNvPr id="4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96570564-8CD7-4862-B272-EA7E81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7DC8916B-1969-4D41-A14E-1635FA4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D23FF86E-5F21-4B67-B0BF-B7200CA6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2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whether a draft production plan is ready to proceed, and develop a go-or-revise decision supported by evidence.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2B3ECE03-91A9-4967-BF14-DC3B81E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3595A0B-3FB9-426A-AE24-EDAA9C1C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C16655FA-1FBB-47B9-81C4-E1F88F71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Check alignment between the intended user, function, pathway, resources and sequence.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2EF2BAFE-EC5A-489B-90B4-85C184FB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E287AB6-23A0-4B78-B153-56B7B744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FA1358C3-DDDC-4CCF-A52F-F541169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labelled sample results and resource checks as evidence.</a:t>
            </a:r>
          </a:p>
        </p:txBody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6E6550AC-78C3-4A09-A03B-701F850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7428A67-63E6-4BFA-8C14-55CB681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8EC8534-6A9D-48EA-A106-AC2CDB1B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Identify at least one risk, gap or dependency that could affect quality or safety.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3166C1B3-24C9-4171-9899-0D2A34E0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17" name="step-text-4">
            <a:extLst xmlns:a="http://schemas.openxmlformats.org/drawingml/2006/main">
              <a:ext uri="{FF2B5EF4-FFF2-40B4-BE49-F238E27FC236}">
                <a16:creationId xmlns:a16="http://schemas.microsoft.com/office/drawing/2014/main" id="{A58BC73C-1AC1-4FC8-B6A2-1DF1F3B0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State a go-or-revise decision, the action needed and how the affected area will be checked again.</a:t>
            </a:r>
          </a:p>
        </p:txBody>
      </p:sp>
      <p:sp>
        <p:nvSpPr>
          <p:cNvPr id="18" name="starter">
            <a:extLst xmlns:a="http://schemas.openxmlformats.org/drawingml/2006/main">
              <a:ext uri="{FF2B5EF4-FFF2-40B4-BE49-F238E27FC236}">
                <a16:creationId xmlns:a16="http://schemas.microsoft.com/office/drawing/2014/main" id="{7B8EF597-EBF3-4149-8192-E8969D8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9525">
            <a:solidFill>
              <a:srgbClr val="E7C87E"/>
            </a:solidFill>
            <a:prstDash val="solid"/>
          </a:ln>
        </p:spPr>
      </p:sp>
      <p:sp>
        <p:nvSpPr>
          <p:cNvPr id="1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59ACC5FD-C10F-4C32-84EE-E678D13F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SENTENCE STARTER</a:t>
            </a:r>
          </a:p>
        </p:txBody>
      </p:sp>
      <p:sp>
        <p:nvSpPr>
          <p:cNvPr id="20" name="starter-text">
            <a:extLst xmlns:a="http://schemas.openxmlformats.org/drawingml/2006/main">
              <a:ext uri="{FF2B5EF4-FFF2-40B4-BE49-F238E27FC236}">
                <a16:creationId xmlns:a16="http://schemas.microsoft.com/office/drawing/2014/main" id="{78C411B0-C160-457F-99AC-4656FB1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strongest evidence is … because it shows … This changes my decision by …</a:t>
            </a:r>
          </a:p>
        </p:txBody>
      </p:sp>
      <p:sp>
        <p:nvSpPr>
          <p:cNvPr id="21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783E509C-9F4B-4F88-BE37-072CBF7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08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9CBD67-D81A-44B2-A699-93723F83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2136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F4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A33FD2C2-24F9-4A1B-BCCC-269D026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6376FC4-6614-485E-A5D3-96AFB79B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2ECF2-14AE-4392-B275-3EED8401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you pack up…</a:t>
            </a:r>
          </a:p>
        </p:txBody>
      </p:sp>
      <p:sp>
        <p:nvSpPr>
          <p:cNvPr id="4" name="exit-1">
            <a:extLst xmlns:a="http://schemas.openxmlformats.org/drawingml/2006/main">
              <a:ext uri="{FF2B5EF4-FFF2-40B4-BE49-F238E27FC236}">
                <a16:creationId xmlns:a16="http://schemas.microsoft.com/office/drawing/2014/main" id="{84882C4D-AC3B-42A4-8A06-B9271D77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5" name="exit-text-1">
            <a:extLst xmlns:a="http://schemas.openxmlformats.org/drawingml/2006/main">
              <a:ext uri="{FF2B5EF4-FFF2-40B4-BE49-F238E27FC236}">
                <a16:creationId xmlns:a16="http://schemas.microsoft.com/office/drawing/2014/main" id="{EB340991-33FF-450A-A062-DF0EF2B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1. One idea I can now explain is…</a:t>
            </a:r>
          </a:p>
        </p:txBody>
      </p:sp>
      <p:sp>
        <p:nvSpPr>
          <p:cNvPr id="6" name="exit-2">
            <a:extLst xmlns:a="http://schemas.openxmlformats.org/drawingml/2006/main">
              <a:ext uri="{FF2B5EF4-FFF2-40B4-BE49-F238E27FC236}">
                <a16:creationId xmlns:a16="http://schemas.microsoft.com/office/drawing/2014/main" id="{0E850503-4450-4788-84E1-3A0BC82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7" name="exit-text-2">
            <a:extLst xmlns:a="http://schemas.openxmlformats.org/drawingml/2006/main">
              <a:ext uri="{FF2B5EF4-FFF2-40B4-BE49-F238E27FC236}">
                <a16:creationId xmlns:a16="http://schemas.microsoft.com/office/drawing/2014/main" id="{5F62F16F-7385-4394-B3BE-F1E9FBF9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2. One decision or practical action this changes is…</a:t>
            </a:r>
          </a:p>
        </p:txBody>
      </p:sp>
      <p:sp>
        <p:nvSpPr>
          <p:cNvPr id="8" name="exit-3">
            <a:extLst xmlns:a="http://schemas.openxmlformats.org/drawingml/2006/main">
              <a:ext uri="{FF2B5EF4-FFF2-40B4-BE49-F238E27FC236}">
                <a16:creationId xmlns:a16="http://schemas.microsoft.com/office/drawing/2014/main" id="{CF3EBB4B-66AD-4FDD-A06D-9959C1B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9" name="exit-text-3">
            <a:extLst xmlns:a="http://schemas.openxmlformats.org/drawingml/2006/main">
              <a:ext uri="{FF2B5EF4-FFF2-40B4-BE49-F238E27FC236}">
                <a16:creationId xmlns:a16="http://schemas.microsoft.com/office/drawing/2014/main" id="{A4617AEE-3C35-4BC9-A251-9D37A1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3. One question I still need answered is…</a:t>
            </a:r>
          </a:p>
        </p:txBody>
      </p:sp>
      <p:sp>
        <p:nvSpPr>
          <p:cNvPr id="10" name="evidence-circle">
            <a:extLst xmlns:a="http://schemas.openxmlformats.org/drawingml/2006/main">
              <a:ext uri="{FF2B5EF4-FFF2-40B4-BE49-F238E27FC236}">
                <a16:creationId xmlns:a16="http://schemas.microsoft.com/office/drawing/2014/main" id="{14292D4E-3643-40C6-9BC1-B59AB58D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9525">
            <a:solidFill>
              <a:srgbClr val="D49A34"/>
            </a:solidFill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390DE6EF-55AF-4E63-A5C1-AFBE82F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23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SAVE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MY FOLIO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MODULE 8</a:t>
            </a:r>
          </a:p>
        </p:txBody>
      </p:sp>
      <p:sp>
        <p:nvSpPr>
          <p:cNvPr id="12" name="teacher-confirm">
            <a:extLst xmlns:a="http://schemas.openxmlformats.org/drawingml/2006/main">
              <a:ext uri="{FF2B5EF4-FFF2-40B4-BE49-F238E27FC236}">
                <a16:creationId xmlns:a16="http://schemas.microsoft.com/office/drawing/2014/main" id="{ED1251DB-0C63-45F4-B792-9B2EA99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8F3340"/>
          </a:solidFill>
          <a:ln xmlns:a="http://schemas.openxmlformats.org/drawingml/2006/main" w="9525">
            <a:solidFill>
              <a:srgbClr val="D9828E"/>
            </a:solidFill>
            <a:prstDash val="solid"/>
          </a:ln>
        </p:spPr>
      </p:sp>
      <p:sp>
        <p:nvSpPr>
          <p:cNvPr id="13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D0ED7927-F0F7-43F5-BD73-73E6021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TO CONFIRM  •  approved bag pathway and full-size pattern or cutting template; exact finished dimensions and project quantities</a:t>
            </a:r>
          </a:p>
        </p:txBody>
      </p:sp>
      <p:sp>
        <p:nvSpPr>
          <p:cNvPr id="14" name="next-step-label">
            <a:extLst xmlns:a="http://schemas.openxmlformats.org/drawingml/2006/main">
              <a:ext uri="{FF2B5EF4-FFF2-40B4-BE49-F238E27FC236}">
                <a16:creationId xmlns:a16="http://schemas.microsoft.com/office/drawing/2014/main" id="{B1F4B0D2-696D-43A3-AF47-B6DB4D05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5" name="next-step">
            <a:extLst xmlns:a="http://schemas.openxmlformats.org/drawingml/2006/main">
              <a:ext uri="{FF2B5EF4-FFF2-40B4-BE49-F238E27FC236}">
                <a16:creationId xmlns:a16="http://schemas.microsoft.com/office/drawing/2014/main" id="{FDAC6CE4-A69D-4808-A9CB-2927C60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production-ready plan supports the approved tote or drawstring pathway in Module 9.</a:t>
            </a:r>
          </a:p>
        </p:txBody>
      </p:sp>
      <p:sp>
        <p:nvSpPr>
          <p:cNvPr id="16" name="status-boundary">
            <a:extLst xmlns:a="http://schemas.openxmlformats.org/drawingml/2006/main">
              <a:ext uri="{FF2B5EF4-FFF2-40B4-BE49-F238E27FC236}">
                <a16:creationId xmlns:a16="http://schemas.microsoft.com/office/drawing/2014/main" id="{F34B42EC-6CB6-4326-A696-2505782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BE5E8"/>
                </a:solidFill>
                <a:latin typeface="Aptos"/>
                <a:ea typeface="Aptos"/>
                <a:cs typeface="Aptos"/>
              </a:rPr>
              <a:t>Formative classroom evidence only — follow your teacher’s current submission process.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016DB7C2-8B1F-4647-96DA-72F07291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E5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4581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2026-08-27T08:40:47.2790000Z</dcterms:created>
  <dcterms:modified xsi:type="dcterms:W3CDTF">2026-08-27T08:40:47.2790000Z</dcterms:modified>
</coreProperties>
</file>