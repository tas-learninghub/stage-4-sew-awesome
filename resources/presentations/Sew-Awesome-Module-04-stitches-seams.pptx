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4a5f17bd904206" /><Relationship Type="http://schemas.openxmlformats.org/officeDocument/2006/relationships/extended-properties" Target="/docProps/app.xml" Id="R1b8482b903b54dfe" /><Relationship Type="http://schemas.openxmlformats.org/officeDocument/2006/relationships/officeDocument" Target="/ppt/presentation.xml" Id="R0dcd136132f847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82318ce22426d"/>
  </p:sldMasterIdLst>
  <p:notesMasterIdLst>
    <p:notesMasterId xmlns:r="http://schemas.openxmlformats.org/officeDocument/2006/relationships" r:id="Rbc991e4ed94c4183"/>
  </p:notesMasterIdLst>
  <p:sldIdLst>
    <p:sldId xmlns:r="http://schemas.openxmlformats.org/officeDocument/2006/relationships" id="256" r:id="Ra8982bf04a8f4ca2"/>
    <p:sldId xmlns:r="http://schemas.openxmlformats.org/officeDocument/2006/relationships" id="257" r:id="R5bae82b21c6d4952"/>
    <p:sldId xmlns:r="http://schemas.openxmlformats.org/officeDocument/2006/relationships" id="258" r:id="R414d8f0a68ef4358"/>
    <p:sldId xmlns:r="http://schemas.openxmlformats.org/officeDocument/2006/relationships" id="259" r:id="Rbc2fb4e3944643bf"/>
    <p:sldId xmlns:r="http://schemas.openxmlformats.org/officeDocument/2006/relationships" id="260" r:id="R6be7fa79f52c49da"/>
    <p:sldId xmlns:r="http://schemas.openxmlformats.org/officeDocument/2006/relationships" id="261" r:id="R36817ee202c442ad"/>
    <p:sldId xmlns:r="http://schemas.openxmlformats.org/officeDocument/2006/relationships" id="262" r:id="R3aea3dca4ad14439"/>
    <p:sldId xmlns:r="http://schemas.openxmlformats.org/officeDocument/2006/relationships" id="263" r:id="R3f49600384e24a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07b50264c54dfc" /><Relationship Type="http://schemas.openxmlformats.org/officeDocument/2006/relationships/slideMaster" Target="/ppt/slideMasters/slideMaster1.xml" Id="R27f82318ce22426d" /><Relationship Type="http://schemas.openxmlformats.org/officeDocument/2006/relationships/notesMaster" Target="/ppt/notesMasters/notesMaster1.xml" Id="Rbc991e4ed94c4183" /><Relationship Type="http://schemas.openxmlformats.org/officeDocument/2006/relationships/presProps" Target="/ppt/presProps.xml" Id="R99d6a7c1129b44fb" /><Relationship Type="http://schemas.openxmlformats.org/officeDocument/2006/relationships/tableStyles" Target="/ppt/tableStyles.xml" Id="R0ad4e88b7f314de9" /><Relationship Type="http://schemas.openxmlformats.org/officeDocument/2006/relationships/slide" Target="/ppt/slides/slide1.xml" Id="Ra8982bf04a8f4ca2" /><Relationship Type="http://schemas.openxmlformats.org/officeDocument/2006/relationships/slide" Target="/ppt/slides/slide2.xml" Id="R5bae82b21c6d4952" /><Relationship Type="http://schemas.openxmlformats.org/officeDocument/2006/relationships/slide" Target="/ppt/slides/slide3.xml" Id="R414d8f0a68ef4358" /><Relationship Type="http://schemas.openxmlformats.org/officeDocument/2006/relationships/slide" Target="/ppt/slides/slide4.xml" Id="Rbc2fb4e3944643bf" /><Relationship Type="http://schemas.openxmlformats.org/officeDocument/2006/relationships/slide" Target="/ppt/slides/slide5.xml" Id="R6be7fa79f52c49da" /><Relationship Type="http://schemas.openxmlformats.org/officeDocument/2006/relationships/slide" Target="/ppt/slides/slide6.xml" Id="R36817ee202c442ad" /><Relationship Type="http://schemas.openxmlformats.org/officeDocument/2006/relationships/slide" Target="/ppt/slides/slide7.xml" Id="R3aea3dca4ad14439" /><Relationship Type="http://schemas.openxmlformats.org/officeDocument/2006/relationships/slide" Target="/ppt/slides/slide8.xml" Id="R3f49600384e24a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d486d9d1284f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32a812cc840f0" /><Relationship Type="http://schemas.openxmlformats.org/officeDocument/2006/relationships/notesMaster" Target="/ppt/notesMasters/notesMaster1.xml" Id="Rc7b1394ff27147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b8b8e47214920" /><Relationship Type="http://schemas.openxmlformats.org/officeDocument/2006/relationships/notesMaster" Target="/ppt/notesMasters/notesMaster1.xml" Id="R2e46561fb3544b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3daeb194a54d03" /><Relationship Type="http://schemas.openxmlformats.org/officeDocument/2006/relationships/notesMaster" Target="/ppt/notesMasters/notesMaster1.xml" Id="Rfda68f80fcc040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23497b99014c4c" /><Relationship Type="http://schemas.openxmlformats.org/officeDocument/2006/relationships/notesMaster" Target="/ppt/notesMasters/notesMaster1.xml" Id="R9e8e6b45b43445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206659cab14652" /><Relationship Type="http://schemas.openxmlformats.org/officeDocument/2006/relationships/notesMaster" Target="/ppt/notesMasters/notesMaster1.xml" Id="R05aa12281b064c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6988275f1c498d" /><Relationship Type="http://schemas.openxmlformats.org/officeDocument/2006/relationships/notesMaster" Target="/ppt/notesMasters/notesMaster1.xml" Id="Raeeae6b8eca745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bbb42e032c4a4d" /><Relationship Type="http://schemas.openxmlformats.org/officeDocument/2006/relationships/notesMaster" Target="/ppt/notesMasters/notesMaster1.xml" Id="R2e1cb749a4e040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b8924be5ef4107" /><Relationship Type="http://schemas.openxmlformats.org/officeDocument/2006/relationships/notesMaster" Target="/ppt/notesMasters/notesMaster1.xml" Id="R48929b832c9b41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module outcome: Students distinguish straight and zigzag stitch functions, build an accurate reinforced 1.5 cm project seam, and use comparable samples to evaluate stitch quality before production.</a:t>
            </a:r>
          </a:p>
          <a:p xmlns:a="http://schemas.openxmlformats.org/drawingml/2006/main">
            <a:r>
              <a:t>Invite one student example or prediction before showing the learning map.</a:t>
            </a:r>
          </a:p>
          <a:p xmlns:a="http://schemas.openxmlformats.org/drawingml/2006/main">
            <a:r>
              <a:t>Transition: the module has three connected ideas, and each will end in a decision or evidence action.</a:t>
            </a:r>
          </a:p>
          <a:p xmlns:a="http://schemas.openxmlformats.org/drawingml/2006/main">
            <a:r>
              <a:t>Likely misconceptions: Zigzag is a stronger replacement for every straight seam. | One remembered numeric setting will suit every machine, thread and fabric.</a:t>
            </a:r>
          </a:p>
          <a:p xmlns:a="http://schemas.openxmlformats.org/drawingml/2006/main">
            <a:r>
              <a:t>Teacher to confirm: Machine-specific stitch settings and controls; Approved stitch-sample fabric and layer combinations; Local pressing and seam-finishing checkpoints.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core-machine-safety-set, core-tote-procedure, core-drawstring-procedure.</a:t>
            </a:r>
          </a:p>
          <a:p xmlns:a="http://schemas.openxmlformats.org/drawingml/2006/main">
            <a:r>
              <a:t>- Matched teaching visual: sew-awesome-hero.png;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three ideas as one learning pathway, not three disconnected topics.</a:t>
            </a:r>
          </a:p>
          <a:p xmlns:a="http://schemas.openxmlformats.org/drawingml/2006/main">
            <a:r>
              <a:t>Warm-up prompt: Students can set up and operate the demonstrated sewing machine at a controllable speed.</a:t>
            </a:r>
          </a:p>
          <a:p xmlns:a="http://schemas.openxmlformats.org/drawingml/2006/main">
            <a:r>
              <a:t>Ask one student to connect prior knowledge to the first section, then signpost the later evidence response.</a:t>
            </a:r>
          </a:p>
          <a:p xmlns:a="http://schemas.openxmlformats.org/drawingml/2006/main">
            <a:r>
              <a:t>Likely misconceptions: Zigzag is a stronger replacement for every straight seam. | One remembered numeric setting will suit every machine, thread and fabric.</a:t>
            </a:r>
          </a:p>
          <a:p xmlns:a="http://schemas.openxmlformats.org/drawingml/2006/main">
            <a:r>
              <a:t>Teacher to confirm: Machine-specific stitch settings and controls; Approved stitch-sample fabric and layer combinations; Local pressing and seam-finishing checkpoints.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core-machine-safety-set, core-tote-procedure, core-drawstring-procedure.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Teach functional selection of straight and zigzag stitches through intended job, material response and test evidence without prescribing unsupported machine settings.</a:t>
            </a:r>
          </a:p>
          <a:p xmlns:a="http://schemas.openxmlformats.org/drawingml/2006/main">
            <a:r>
              <a:t>Visual purpose: Compare the different jobs of straight and zigzag stitches.</a:t>
            </a:r>
          </a:p>
          <a:p xmlns:a="http://schemas.openxmlformats.org/drawingml/2006/main">
            <a:r>
              <a:t>Explain only what is shown: Two realistic cotton samples compare a fine machine-sewn straight seam with a fine zigzag finish along a raw edge.</a:t>
            </a:r>
          </a:p>
          <a:p xmlns:a="http://schemas.openxmlformats.org/drawingml/2006/main">
            <a:r>
              <a:t>Student observation prompt: Which job belongs to straight stitch and which to zigzag? Confirm the actual setting on the class machine.</a:t>
            </a:r>
          </a:p>
          <a:p xmlns:a="http://schemas.openxmlformats.org/drawingml/2006/main">
            <a:r>
              <a:t>Applied activity: Sort task cards by likely straight, zigzag or teacher-check pathway, then justify each without choosing numeric settings.</a:t>
            </a:r>
          </a:p>
          <a:p xmlns:a="http://schemas.openxmlformats.org/drawingml/2006/main">
            <a:r>
              <a:t>Transition: Students will apply straight stitching, backstitching and zigzag finishing to a 1.5 cm seam.</a:t>
            </a:r>
          </a:p>
          <a:p xmlns:a="http://schemas.openxmlformats.org/drawingml/2006/main">
            <a:r>
              <a:t>Likely misconceptions: Zigzag is a stronger replacement for every straight seam. | One remembered numeric setting will suit every machine, thread and fabric.</a:t>
            </a:r>
          </a:p>
          <a:p xmlns:a="http://schemas.openxmlformats.org/drawingml/2006/main">
            <a:r>
              <a:t>Teacher to confirm: Machine-specific stitch settings and controls; Approved stitch-sample fabric and layer combinations; Local pressing and seam-finishing checkpoints.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core-machine-safety-set, core-tote-procedure, core-drawstring-procedure.</a:t>
            </a:r>
          </a:p>
          <a:p xmlns:a="http://schemas.openxmlformats.org/drawingml/2006/main">
            <a:r>
              <a:t>- Matched teaching visual: visual-m04-s1.png;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Explain the authorised seam allowance, consistent guidance, backstitch reinforcement and suitable raw-edge finishing as an integrated construction sequence.</a:t>
            </a:r>
          </a:p>
          <a:p xmlns:a="http://schemas.openxmlformats.org/drawingml/2006/main">
            <a:r>
              <a:t>Visual purpose: Sequence alignment, seam-allowance measurement, stitching, reinforcement and inspection.</a:t>
            </a:r>
          </a:p>
          <a:p xmlns:a="http://schemas.openxmlformats.org/drawingml/2006/main">
            <a:r>
              <a:t>Explain only what is shown: Four fabric samples show seam construction progressing from aligned edges through measured stitching, reinforcement and pressing.</a:t>
            </a:r>
          </a:p>
          <a:p xmlns:a="http://schemas.openxmlformats.org/drawingml/2006/main">
            <a:r>
              <a:t>Student observation prompt: Trace the four steps. Where is the seam allowance checked, and when is reinforcement added?</a:t>
            </a:r>
          </a:p>
          <a:p xmlns:a="http://schemas.openxmlformats.org/drawingml/2006/main">
            <a:r>
              <a:t>Applied activity: Rehearse edge guidance and reinforcement positions on layered paper before using fabric and power.</a:t>
            </a:r>
          </a:p>
          <a:p xmlns:a="http://schemas.openxmlformats.org/drawingml/2006/main">
            <a:r>
              <a:t>Transition: Students will test and evaluate complete stitch and seam samples before production.</a:t>
            </a:r>
          </a:p>
          <a:p xmlns:a="http://schemas.openxmlformats.org/drawingml/2006/main">
            <a:r>
              <a:t>Likely misconceptions: Zigzag is a stronger replacement for every straight seam. | One remembered numeric setting will suit every machine, thread and fabric.</a:t>
            </a:r>
          </a:p>
          <a:p xmlns:a="http://schemas.openxmlformats.org/drawingml/2006/main">
            <a:r>
              <a:t>Teacher to confirm: Machine-specific stitch settings and controls; Approved stitch-sample fabric and layer combinations; Local pressing and seam-finishing checkpoints.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core-machine-safety-set, core-tote-procedure, core-drawstring-procedure.</a:t>
            </a:r>
          </a:p>
          <a:p xmlns:a="http://schemas.openxmlformats.org/drawingml/2006/main">
            <a:r>
              <a:t>- Matched teaching visual: visual-m04-s2.png;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purpose: Use planned comparable tests and precise records to evaluate stitch and seam quality before students commit to production materials.</a:t>
            </a:r>
          </a:p>
          <a:p xmlns:a="http://schemas.openxmlformats.org/drawingml/2006/main">
            <a:r>
              <a:t>Visual purpose: Distinguish four observable stitch conditions and connect diagnosis to a one-variable retest.</a:t>
            </a:r>
          </a:p>
          <a:p xmlns:a="http://schemas.openxmlformats.org/drawingml/2006/main">
            <a:r>
              <a:t>Explain only what is shown: Four close-up seam samples show an even result, drifting allowance, lower-side thread loops and puckering for diagnosis.</a:t>
            </a:r>
          </a:p>
          <a:p xmlns:a="http://schemas.openxmlformats.org/drawingml/2006/main">
            <a:r>
              <a:t>Student observation prompt: Compare the four samples. Name the observable evidence, then choose one approved variable to retest.</a:t>
            </a:r>
          </a:p>
          <a:p xmlns:a="http://schemas.openxmlformats.org/drawingml/2006/main">
            <a:r>
              <a:t>Applied activity: Evaluate labelled samples without knowing which settings produced them, then compare the judgement with the test record.</a:t>
            </a:r>
          </a:p>
          <a:p xmlns:a="http://schemas.openxmlformats.org/drawingml/2006/main">
            <a:r>
              <a:t>Transition: Students will compare fabric-decoration techniques and produce purposeful decoration samples.</a:t>
            </a:r>
          </a:p>
          <a:p xmlns:a="http://schemas.openxmlformats.org/drawingml/2006/main">
            <a:r>
              <a:t>Likely misconceptions: Zigzag is a stronger replacement for every straight seam. | One remembered numeric setting will suit every machine, thread and fabric.</a:t>
            </a:r>
          </a:p>
          <a:p xmlns:a="http://schemas.openxmlformats.org/drawingml/2006/main">
            <a:r>
              <a:t>Teacher to confirm: Machine-specific stitch settings and controls; Approved stitch-sample fabric and layer combinations; Local pressing and seam-finishing checkpoints.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core-machine-safety-set, core-tote-procedure, core-drawstring-procedure.</a:t>
            </a:r>
          </a:p>
          <a:p xmlns:a="http://schemas.openxmlformats.org/drawingml/2006/main">
            <a:r>
              <a:t>- Matched teaching visual: visual-m04-s3.png; purpose-built, privacy-safe local asset.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silent thinking before pair talk so every student retrieves independently.</a:t>
            </a:r>
          </a:p>
          <a:p xmlns:a="http://schemas.openxmlformats.org/drawingml/2006/main">
            <a:r>
              <a:t>Ask students to justify, not merely name, one response.</a:t>
            </a:r>
          </a:p>
          <a:p xmlns:a="http://schemas.openxmlformats.org/drawingml/2006/main">
            <a:r>
              <a:t>Listen for whether students connect each answer to its module idea and evidence.</a:t>
            </a:r>
          </a:p>
          <a:p xmlns:a="http://schemas.openxmlformats.org/drawingml/2006/main">
            <a:r>
              <a:t>Likely misconceptions: Zigzag is a stronger replacement for every straight seam. | One remembered numeric setting will suit every machine, thread and fabric.</a:t>
            </a:r>
          </a:p>
          <a:p xmlns:a="http://schemas.openxmlformats.org/drawingml/2006/main">
            <a:r>
              <a:t>Teacher to confirm: Machine-specific stitch settings and controls; Approved stitch-sample fabric and layer combinations; Local pressing and seam-finishing checkpoints.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core-machine-safety-set, core-tote-procedure, core-drawstring-procedure.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response prompt aloud: Evaluate three seam samples: one with a drifting allowance, one with lower-side loops and one that is even and secure. Develop a controlled improvement plan and justify which evidence would permit production to begin.</a:t>
            </a:r>
          </a:p>
          <a:p xmlns:a="http://schemas.openxmlformats.org/drawingml/2006/main">
            <a:r>
              <a:t>Model one sentence that selects evidence and explains its significance.</a:t>
            </a:r>
          </a:p>
          <a:p xmlns:a="http://schemas.openxmlformats.org/drawingml/2006/main">
            <a:r>
              <a:t>Success criteria: Uses specific observations and fair-comparison reasoning. | Makes an evidence-based accept, refine or reject decision for each sample.</a:t>
            </a:r>
          </a:p>
          <a:p xmlns:a="http://schemas.openxmlformats.org/drawingml/2006/main">
            <a:r>
              <a:t>Likely misconceptions: Zigzag is a stronger replacement for every straight seam. | One remembered numeric setting will suit every machine, thread and fabric.</a:t>
            </a:r>
          </a:p>
          <a:p xmlns:a="http://schemas.openxmlformats.org/drawingml/2006/main">
            <a:r>
              <a:t>Teacher to confirm: Machine-specific stitch settings and controls; Approved stitch-sample fabric and layer combinations; Local pressing and seam-finishing checkpoints.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core-machine-safety-set, core-tote-procedure, core-drawstring-procedure.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time to write all three exit statements before discussion.</a:t>
            </a:r>
          </a:p>
          <a:p xmlns:a="http://schemas.openxmlformats.org/drawingml/2006/main">
            <a:r>
              <a:t>Evidence destination: My folio, Module 4; this is formative browser-local evidence, not proof of formal submission.</a:t>
            </a:r>
          </a:p>
          <a:p xmlns:a="http://schemas.openxmlformats.org/drawingml/2006/main">
            <a:r>
              <a:t>Next learning link: Students will compare fabric-decoration techniques and produce purposeful decoration samples.</a:t>
            </a:r>
          </a:p>
          <a:p xmlns:a="http://schemas.openxmlformats.org/drawingml/2006/main">
            <a:r>
              <a:t>Likely misconceptions: Zigzag is a stronger replacement for every straight seam. | One remembered numeric setting will suit every machine, thread and fabric.</a:t>
            </a:r>
          </a:p>
          <a:p xmlns:a="http://schemas.openxmlformats.org/drawingml/2006/main">
            <a:r>
              <a:t>Teacher to confirm: Machine-specific stitch settings and controls; Approved stitch-sample fabric and layer combinations; Local pressing and seam-finishing checkpoints.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Authoritative course records: core-program, core-machine-safety-set, core-tote-procedure, core-drawstring-procedure.</a:t>
            </a:r>
          </a:p>
          <a:p xmlns:a="http://schemas.openxmlformats.org/drawingml/2006/main">
            <a:r>
              <a:t>- Boundary record: outputs/sew-awesome-course-site/_project/source-map-v1.md.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c9f5e83fe4a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f4e439d6994825" /><Relationship Type="http://schemas.openxmlformats.org/officeDocument/2006/relationships/slideLayout" Target="/ppt/slideLayouts/slideLayout1.xml" Id="R1c4b2c6065e34c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4b2c6065e34c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60d89cd4b485f" /><Relationship Type="http://schemas.openxmlformats.org/officeDocument/2006/relationships/image" Target="/ppt/media/image.png" Id="Rfcbaf12c8c8f4287" /><Relationship Type="http://schemas.openxmlformats.org/officeDocument/2006/relationships/notesSlide" Target="/ppt/notesSlides/notesSlide1.xml" Id="R54934f7872564e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058d4a2ff43d8" /><Relationship Type="http://schemas.openxmlformats.org/officeDocument/2006/relationships/notesSlide" Target="/ppt/notesSlides/notesSlide2.xml" Id="R36c60bef303043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665d0225f40cb" /><Relationship Type="http://schemas.openxmlformats.org/officeDocument/2006/relationships/image" Target="/ppt/media/image2.png" Id="R08a4b1b9b2674bc0" /><Relationship Type="http://schemas.openxmlformats.org/officeDocument/2006/relationships/notesSlide" Target="/ppt/notesSlides/notesSlide3.xml" Id="Rd43ab4f2c5ce43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374fab11e4afd" /><Relationship Type="http://schemas.openxmlformats.org/officeDocument/2006/relationships/image" Target="/ppt/media/image3.png" Id="R9c81adf2bc344e88" /><Relationship Type="http://schemas.openxmlformats.org/officeDocument/2006/relationships/notesSlide" Target="/ppt/notesSlides/notesSlide4.xml" Id="R765dbb33fba1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f1910a5f5488f" /><Relationship Type="http://schemas.openxmlformats.org/officeDocument/2006/relationships/image" Target="/ppt/media/image4.png" Id="R61bfa440ae8c4057" /><Relationship Type="http://schemas.openxmlformats.org/officeDocument/2006/relationships/notesSlide" Target="/ppt/notesSlides/notesSlide5.xml" Id="R3afe40c603514e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89676ac9c48bd" /><Relationship Type="http://schemas.openxmlformats.org/officeDocument/2006/relationships/notesSlide" Target="/ppt/notesSlides/notesSlide6.xml" Id="R1e47708c759b48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3aae9227b41b8" /><Relationship Type="http://schemas.openxmlformats.org/officeDocument/2006/relationships/notesSlide" Target="/ppt/notesSlides/notesSlide7.xml" Id="R72fd35eacafa4b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c3ac099054910" /><Relationship Type="http://schemas.openxmlformats.org/officeDocument/2006/relationships/notesSlide" Target="/ppt/notesSlides/notesSlide8.xml" Id="R592710b61cb549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Teaching visual - Sew Awesome course identity: reusable textile carry items and sewing materi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af12c8c8f4287"/>
          <a:srcRect xmlns:a="http://schemas.openxmlformats.org/drawingml/2006/main" l="26389" t="0" r="26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wash">
            <a:extLst xmlns:a="http://schemas.openxmlformats.org/drawingml/2006/main">
              <a:ext uri="{FF2B5EF4-FFF2-40B4-BE49-F238E27FC236}">
                <a16:creationId xmlns:a16="http://schemas.microsoft.com/office/drawing/2014/main" id="{D932B3B5-3543-454E-85F3-593C681B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857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4E4A"/>
              </a:gs>
              <a:gs pos="100000">
                <a:srgbClr val="0C4E4A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83501D6-705A-4778-845E-02BBABD4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85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C7B1330F-C078-469B-9ADE-371D8E7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SEW AWESOME  •  MODULE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05504A-ADFD-4934-B164-9D358AD7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Stitch skills</a:t>
            </a:r>
          </a:p>
        </p:txBody>
      </p:sp>
      <p:sp>
        <p:nvSpPr>
          <p:cNvPr id="6" name="outcome">
            <a:extLst xmlns:a="http://schemas.openxmlformats.org/drawingml/2006/main">
              <a:ext uri="{FF2B5EF4-FFF2-40B4-BE49-F238E27FC236}">
                <a16:creationId xmlns:a16="http://schemas.microsoft.com/office/drawing/2014/main" id="{A969DBB9-19D4-4343-8FC1-5C869AB6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9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EEF6F3"/>
                </a:solidFill>
                <a:latin typeface="Aptos"/>
                <a:ea typeface="Aptos"/>
                <a:cs typeface="Aptos"/>
              </a:rPr>
              <a:t>Students distinguish straight and zigzag stitch functions, build an accurate reinforced 1.5 cm project seam, and use comparable samples to evaluate stitch quality before production.</a:t>
            </a:r>
          </a:p>
        </p:txBody>
      </p:sp>
      <p:sp>
        <p:nvSpPr>
          <p:cNvPr id="7" name="student-copy">
            <a:extLst xmlns:a="http://schemas.openxmlformats.org/drawingml/2006/main">
              <a:ext uri="{FF2B5EF4-FFF2-40B4-BE49-F238E27FC236}">
                <a16:creationId xmlns:a16="http://schemas.microsoft.com/office/drawing/2014/main" id="{2E36A504-5194-40C4-9124-32F9DFA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C8D6D2"/>
                </a:solidFill>
                <a:latin typeface="Aptos"/>
                <a:ea typeface="Aptos"/>
                <a:cs typeface="Aptos"/>
              </a:rPr>
              <a:t>Classroom presentation  •  student copy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5DA9EAFC-13D5-47E1-87DB-A6BC389B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57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4237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5A1D33A8-432A-463A-9465-B010C622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EC69AC6-6E63-4265-AB71-84AABE0B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TODAY’S LEARNING PATH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2AB2AF-8981-45E5-A464-D7282163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Three ideas build one stronger decision</a:t>
            </a:r>
          </a:p>
        </p:txBody>
      </p:sp>
      <p:sp>
        <p:nvSpPr>
          <p:cNvPr id="4" name="idea-number-1">
            <a:extLst xmlns:a="http://schemas.openxmlformats.org/drawingml/2006/main">
              <a:ext uri="{FF2B5EF4-FFF2-40B4-BE49-F238E27FC236}">
                <a16:creationId xmlns:a16="http://schemas.microsoft.com/office/drawing/2014/main" id="{DF2ACE0C-CD0E-473C-8270-0DBB17AE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idea-line-1">
            <a:extLst xmlns:a="http://schemas.openxmlformats.org/drawingml/2006/main">
              <a:ext uri="{FF2B5EF4-FFF2-40B4-BE49-F238E27FC236}">
                <a16:creationId xmlns:a16="http://schemas.microsoft.com/office/drawing/2014/main" id="{00A12AE9-CF36-4635-88C9-BD90A81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6" name="idea-title-1">
            <a:extLst xmlns:a="http://schemas.openxmlformats.org/drawingml/2006/main">
              <a:ext uri="{FF2B5EF4-FFF2-40B4-BE49-F238E27FC236}">
                <a16:creationId xmlns:a16="http://schemas.microsoft.com/office/drawing/2014/main" id="{7CFFC603-30EB-48AE-8459-DED96E72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Choosing Straight and Zigzag Settings</a:t>
            </a:r>
          </a:p>
        </p:txBody>
      </p:sp>
      <p:sp>
        <p:nvSpPr>
          <p:cNvPr id="7" name="idea-number-2">
            <a:extLst xmlns:a="http://schemas.openxmlformats.org/drawingml/2006/main">
              <a:ext uri="{FF2B5EF4-FFF2-40B4-BE49-F238E27FC236}">
                <a16:creationId xmlns:a16="http://schemas.microsoft.com/office/drawing/2014/main" id="{E39A9577-3A23-4656-9E74-79CE960F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idea-line-2">
            <a:extLst xmlns:a="http://schemas.openxmlformats.org/drawingml/2006/main">
              <a:ext uri="{FF2B5EF4-FFF2-40B4-BE49-F238E27FC236}">
                <a16:creationId xmlns:a16="http://schemas.microsoft.com/office/drawing/2014/main" id="{DAD8DAC9-76C2-4C86-A1F7-6EBEEACA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4C5A"/>
            </a:solidFill>
            <a:prstDash val="solid"/>
          </a:ln>
        </p:spPr>
      </p:sp>
      <p:sp>
        <p:nvSpPr>
          <p:cNvPr id="9" name="idea-title-2">
            <a:extLst xmlns:a="http://schemas.openxmlformats.org/drawingml/2006/main">
              <a:ext uri="{FF2B5EF4-FFF2-40B4-BE49-F238E27FC236}">
                <a16:creationId xmlns:a16="http://schemas.microsoft.com/office/drawing/2014/main" id="{26EBC6E2-A91F-4F1D-AC00-32A3E898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Sewing and Reinforcing a 1.5 cm Seam</a:t>
            </a:r>
          </a:p>
        </p:txBody>
      </p:sp>
      <p:sp>
        <p:nvSpPr>
          <p:cNvPr id="10" name="idea-number-3">
            <a:extLst xmlns:a="http://schemas.openxmlformats.org/drawingml/2006/main">
              <a:ext uri="{FF2B5EF4-FFF2-40B4-BE49-F238E27FC236}">
                <a16:creationId xmlns:a16="http://schemas.microsoft.com/office/drawing/2014/main" id="{C2A62C51-926F-46F7-9D4F-DFBFB28E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idea-line-3">
            <a:extLst xmlns:a="http://schemas.openxmlformats.org/drawingml/2006/main">
              <a:ext uri="{FF2B5EF4-FFF2-40B4-BE49-F238E27FC236}">
                <a16:creationId xmlns:a16="http://schemas.microsoft.com/office/drawing/2014/main" id="{D0104C93-CE8F-4BC3-BC2B-40538924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B66"/>
            </a:solidFill>
            <a:prstDash val="solid"/>
          </a:ln>
        </p:spPr>
      </p:sp>
      <p:sp>
        <p:nvSpPr>
          <p:cNvPr id="12" name="idea-title-3">
            <a:extLst xmlns:a="http://schemas.openxmlformats.org/drawingml/2006/main">
              <a:ext uri="{FF2B5EF4-FFF2-40B4-BE49-F238E27FC236}">
                <a16:creationId xmlns:a16="http://schemas.microsoft.com/office/drawing/2014/main" id="{F15B37BB-0495-416A-AC44-846BF4C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Testing and Evaluating Stitch Samples</a:t>
            </a:r>
          </a:p>
        </p:txBody>
      </p:sp>
      <p:sp>
        <p:nvSpPr>
          <p:cNvPr id="13" name="warm-up">
            <a:extLst xmlns:a="http://schemas.openxmlformats.org/drawingml/2006/main">
              <a:ext uri="{FF2B5EF4-FFF2-40B4-BE49-F238E27FC236}">
                <a16:creationId xmlns:a16="http://schemas.microsoft.com/office/drawing/2014/main" id="{966A55D7-DF35-4F13-9548-66E9951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459105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0C4E4A"/>
          </a:solidFill>
          <a:ln xmlns:a="http://schemas.openxmlformats.org/drawingml/2006/main" w="9525">
            <a:solidFill>
              <a:srgbClr val="0C4E4A"/>
            </a:solidFill>
            <a:prstDash val="solid"/>
          </a:ln>
        </p:spPr>
      </p:sp>
      <p:sp>
        <p:nvSpPr>
          <p:cNvPr id="14" name="warm-up-label">
            <a:extLst xmlns:a="http://schemas.openxmlformats.org/drawingml/2006/main">
              <a:ext uri="{FF2B5EF4-FFF2-40B4-BE49-F238E27FC236}">
                <a16:creationId xmlns:a16="http://schemas.microsoft.com/office/drawing/2014/main" id="{19500B1F-4C07-4C7D-8AE3-0EAA217E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RETRIEVAL WARM-UP</a:t>
            </a:r>
          </a:p>
        </p:txBody>
      </p:sp>
      <p:sp>
        <p:nvSpPr>
          <p:cNvPr id="15" name="warm-up-question">
            <a:extLst xmlns:a="http://schemas.openxmlformats.org/drawingml/2006/main">
              <a:ext uri="{FF2B5EF4-FFF2-40B4-BE49-F238E27FC236}">
                <a16:creationId xmlns:a16="http://schemas.microsoft.com/office/drawing/2014/main" id="{0C656AA7-D7B1-4677-8143-AA00F9E8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Students can set up and operate the demonstrated sewing machine at a controllable speed.</a:t>
            </a:r>
          </a:p>
        </p:txBody>
      </p:sp>
      <p:sp>
        <p:nvSpPr>
          <p:cNvPr id="16" name="warm-up-instruction">
            <a:extLst xmlns:a="http://schemas.openxmlformats.org/drawingml/2006/main">
              <a:ext uri="{FF2B5EF4-FFF2-40B4-BE49-F238E27FC236}">
                <a16:creationId xmlns:a16="http://schemas.microsoft.com/office/drawing/2014/main" id="{EE3550FD-1199-4E5B-8334-6EA8EB1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43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EF6F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EEF6F3"/>
                </a:solidFill>
                <a:latin typeface="Aptos"/>
                <a:ea typeface="Aptos"/>
                <a:cs typeface="Aptos"/>
              </a:rPr>
              <a:t>Think silently. Name one useful idea. Be ready to explain why it matters.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75983FCE-FBDC-486D-9A5E-CA63B64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04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DEA5B42-97AE-4789-95CE-9FCD89A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802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DFDFD589-D0FB-4576-AF44-0591FD2A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892DB59-6E10-4B83-8056-9452B5CD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1. CHOOSING STRAIGHT AND ZIGZAG SETTINGS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3E8E9F-83F2-4F36-9CF4-B8187654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Test before production</a:t>
            </a:r>
          </a:p>
        </p:txBody>
      </p:sp>
      <p:pic>
        <p:nvPicPr>
          <p:cNvPr id="17" name="Teaching visual - Two realistic cotton samples compare a fine machine-sewn straight seam with a fine zigzag finish along a raw edg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4b1b9b2674bc0"/>
          <a:stretch xmlns:a="http://schemas.openxmlformats.org/drawingml/2006/main"/>
        </p:blipFill>
        <p:spPr>
          <a:xfrm xmlns:a="http://schemas.openxmlformats.org/drawingml/2006/main">
            <a:off x="661035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D3F01E77-2579-4B63-A0B1-11CD77B1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A stitch is chosen for a job. Straight stitch and zigzag stitch create different thread paths, so the useful choice depends on whether the task is joining, reinforcing, edge finishing, decoration or a controlled sample test. A straight stitch forms a single line and is commonly used for joining stable fabric layers in a seam. A zigzag stitch moves from side to side.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A66DB5AA-7411-483B-9E93-AE7CD58E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D4F109B4-5DD2-4FE7-BB68-228AF4DC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9703F931-E770-4FEA-B1A1-471A3315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Which job belongs to straight stitch and which to zigzag? Confirm the actual setting on the class machine.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29075A0E-63B6-489C-A9B9-95D97EEC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E1341B5E-2794-4BA5-948E-09B55A20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1AD19CAA-0330-4C9B-BAB6-57C53DE0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Sort task cards by likely straight, zigzag or teacher-check pathway, then justify each without choosing numeric settings.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E57BDD3E-24B3-47C8-BF50-9B1BB1AD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04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8680B63-23A3-4E69-B265-8A590FB9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478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5FC2C17D-9527-4990-8C8B-197EFBE7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6D92A65-8811-4668-85F0-0F1CC26A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2. SEWING AND REINFORCING A 1.5 CM SEAM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1C144D-CDD5-468F-BDFA-596A576E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Guide the edge, not the needle</a:t>
            </a:r>
          </a:p>
        </p:txBody>
      </p:sp>
      <p:pic>
        <p:nvPicPr>
          <p:cNvPr id="17" name="Teaching visual - Four fabric samples show seam construction progressing from aligned edges through measured stitching, reinforcement and pressing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1adf2bc344e88"/>
          <a:stretch xmlns:a="http://schemas.openxmlformats.org/drawingml/2006/main"/>
        </p:blipFill>
        <p:spPr>
          <a:xfrm xmlns:a="http://schemas.openxmlformats.org/drawingml/2006/main">
            <a:off x="53340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1C8A2ABB-BA83-4F47-9568-2EDE42AB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The authorised Awesome Bag procedures use a 1.5 cm seam allowance for key construction seams. Accuracy matters because the distance between the raw edge and stitch line affects component size, alignment and durability. A seam joins two or more fabric layers. Begin and finish the seam using the demonstrated backstitch method.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1A8383FE-05BE-4567-868C-D3992CED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EB280315-9946-4671-89D5-9FE00AAA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5A238D1C-3978-40D2-A7FE-466FEF13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Trace the four steps. Where is the seam allowance checked, and when is reinforcement added?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34CB07C4-3243-434D-A749-C493FC74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9585F70A-5436-4B69-B2E9-0169F35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9508C40B-F51D-4A7F-BF81-93F4D1BB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Rehearse edge guidance and reinforcement positions on layered paper before using fabric and power.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46F826C1-4CE6-40B2-9CDC-8910124C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04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6D7EF7F-CF76-486D-BFFB-AD86474E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9044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">
            <a:extLst xmlns:a="http://schemas.openxmlformats.org/drawingml/2006/main">
              <a:ext uri="{FF2B5EF4-FFF2-40B4-BE49-F238E27FC236}">
                <a16:creationId xmlns:a16="http://schemas.microsoft.com/office/drawing/2014/main" id="{1E1F338B-8A36-4660-9F47-826624E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490D331-0A34-4475-AA1D-9154E903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3. TESTING AND EVALUATING STITCH SAMPLES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868AC2-797F-49D0-84EE-E8C6578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Name the evidence</a:t>
            </a:r>
          </a:p>
        </p:txBody>
      </p:sp>
      <p:pic>
        <p:nvPicPr>
          <p:cNvPr id="17" name="Teaching visual - Four close-up seam samples show an even result, drifting allowance, lower-side thread loops and puckering for diagnos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fa440ae8c4057"/>
          <a:stretch xmlns:a="http://schemas.openxmlformats.org/drawingml/2006/main"/>
        </p:blipFill>
        <p:spPr>
          <a:xfrm xmlns:a="http://schemas.openxmlformats.org/drawingml/2006/main">
            <a:off x="6610350" y="1698625"/>
            <a:ext cx="5048250" cy="3365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theory">
            <a:extLst xmlns:a="http://schemas.openxmlformats.org/drawingml/2006/main">
              <a:ext uri="{FF2B5EF4-FFF2-40B4-BE49-F238E27FC236}">
                <a16:creationId xmlns:a16="http://schemas.microsoft.com/office/drawing/2014/main" id="{C0A618CC-1735-467C-BA35-6D6529C0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63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50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302E"/>
                </a:solidFill>
                <a:latin typeface="Aptos"/>
                <a:ea typeface="Aptos"/>
                <a:cs typeface="Aptos"/>
              </a:rPr>
              <a:t>A stitch sample is a small experiment. Its purpose is to reveal how the actual machine, thread, fabric, layers and handling work together before the final product is at risk. A useful sample matches the planned construction as closely as practical: same fabric type, number of layers, thread and approved starting setup. Inspect appearance and structure.</a:t>
            </a:r>
          </a:p>
        </p:txBody>
      </p:sp>
      <p:sp>
        <p:nvSpPr>
          <p:cNvPr id="6" name="notice">
            <a:extLst xmlns:a="http://schemas.openxmlformats.org/drawingml/2006/main">
              <a:ext uri="{FF2B5EF4-FFF2-40B4-BE49-F238E27FC236}">
                <a16:creationId xmlns:a16="http://schemas.microsoft.com/office/drawing/2014/main" id="{77E3DD7C-9A07-473D-82A7-32A1EFB7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638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B9CEC7"/>
            </a:solidFill>
            <a:prstDash val="solid"/>
          </a:ln>
        </p:spPr>
      </p:sp>
      <p:sp>
        <p:nvSpPr>
          <p:cNvPr id="7" name="notice-label">
            <a:extLst xmlns:a="http://schemas.openxmlformats.org/drawingml/2006/main">
              <a:ext uri="{FF2B5EF4-FFF2-40B4-BE49-F238E27FC236}">
                <a16:creationId xmlns:a16="http://schemas.microsoft.com/office/drawing/2014/main" id="{03184D40-7B2A-48C0-B728-3893BB33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LOOK AT THE VISUAL</a:t>
            </a:r>
          </a:p>
        </p:txBody>
      </p:sp>
      <p:sp>
        <p:nvSpPr>
          <p:cNvPr id="8" name="notice-text">
            <a:extLst xmlns:a="http://schemas.openxmlformats.org/drawingml/2006/main">
              <a:ext uri="{FF2B5EF4-FFF2-40B4-BE49-F238E27FC236}">
                <a16:creationId xmlns:a16="http://schemas.microsoft.com/office/drawing/2014/main" id="{61D74CED-9D5C-4733-BFD0-F4FE080D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25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Compare the four samples. Name the observable evidence, then choose one approved variable to retest.</a:t>
            </a:r>
          </a:p>
        </p:txBody>
      </p:sp>
      <p:sp>
        <p:nvSpPr>
          <p:cNvPr id="9" name="prompt-band">
            <a:extLst xmlns:a="http://schemas.openxmlformats.org/drawingml/2006/main">
              <a:ext uri="{FF2B5EF4-FFF2-40B4-BE49-F238E27FC236}">
                <a16:creationId xmlns:a16="http://schemas.microsoft.com/office/drawing/2014/main" id="{7CEF0F3C-1367-466D-9DB4-C159CAEE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6"/>
          </a:solidFill>
          <a:ln xmlns:a="http://schemas.openxmlformats.org/drawingml/2006/main" w="9525">
            <a:solidFill>
              <a:srgbClr val="EBC2C9"/>
            </a:solidFill>
            <a:prstDash val="solid"/>
          </a:ln>
        </p:spPr>
      </p:sp>
      <p:sp>
        <p:nvSpPr>
          <p:cNvPr id="10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FA75389E-0748-459E-8055-4D4AF2EC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1" name="prompt-text">
            <a:extLst xmlns:a="http://schemas.openxmlformats.org/drawingml/2006/main">
              <a:ext uri="{FF2B5EF4-FFF2-40B4-BE49-F238E27FC236}">
                <a16:creationId xmlns:a16="http://schemas.microsoft.com/office/drawing/2014/main" id="{74101055-0D67-4090-8549-CF0C01E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81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Evaluate labelled samples without knowing which settings produced them, then compare the judgement with the test record.</a:t>
            </a:r>
          </a:p>
        </p:txBody>
      </p:sp>
      <p:sp>
        <p:nvSpPr>
          <p:cNvPr id="12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D3B0725C-BD47-4E45-BEFE-9C98E064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04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E95C0E8-0B6D-43E7-80C6-C764C186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3375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57F8E1D6-241C-4ED1-B326-67F03B5F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B388919-2B25-419C-9BF5-73B2E00A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CHECK YOUR UNDERSTANDING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3BFB1E-3983-4163-893B-B4FC9CB0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Stop. Think. Explain.</a:t>
            </a:r>
          </a:p>
        </p:txBody>
      </p:sp>
      <p:sp>
        <p:nvSpPr>
          <p:cNvPr id="4" name="instruction">
            <a:extLst xmlns:a="http://schemas.openxmlformats.org/drawingml/2006/main">
              <a:ext uri="{FF2B5EF4-FFF2-40B4-BE49-F238E27FC236}">
                <a16:creationId xmlns:a16="http://schemas.microsoft.com/office/drawing/2014/main" id="{9AA7CDB3-B7A7-435B-A4E2-DDDF805C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D6D2"/>
                </a:solidFill>
                <a:latin typeface="Aptos"/>
                <a:ea typeface="Aptos"/>
                <a:cs typeface="Aptos"/>
              </a:rPr>
              <a:t>Answer silently first. Then justify one answer with a partner.</a:t>
            </a:r>
          </a:p>
        </p:txBody>
      </p:sp>
      <p:sp>
        <p:nvSpPr>
          <p:cNvPr id="5" name="check-number-1">
            <a:extLst xmlns:a="http://schemas.openxmlformats.org/drawingml/2006/main">
              <a:ext uri="{FF2B5EF4-FFF2-40B4-BE49-F238E27FC236}">
                <a16:creationId xmlns:a16="http://schemas.microsoft.com/office/drawing/2014/main" id="{D496DDE3-7AAD-4E1A-8804-4CFD26FE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check-line-1">
            <a:extLst xmlns:a="http://schemas.openxmlformats.org/drawingml/2006/main">
              <a:ext uri="{FF2B5EF4-FFF2-40B4-BE49-F238E27FC236}">
                <a16:creationId xmlns:a16="http://schemas.microsoft.com/office/drawing/2014/main" id="{19082733-1CA7-402C-B30C-EF2F82DA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9EE1857C-E0EC-45C0-AFAE-1C8D9E9F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task most commonly suits a straight stitch on stable fabric?</a:t>
            </a:r>
          </a:p>
        </p:txBody>
      </p:sp>
      <p:sp>
        <p:nvSpPr>
          <p:cNvPr id="8" name="check-number-2">
            <a:extLst xmlns:a="http://schemas.openxmlformats.org/drawingml/2006/main">
              <a:ext uri="{FF2B5EF4-FFF2-40B4-BE49-F238E27FC236}">
                <a16:creationId xmlns:a16="http://schemas.microsoft.com/office/drawing/2014/main" id="{EC24DCE5-D735-41F1-8541-E15E0D58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check-line-2">
            <a:extLst xmlns:a="http://schemas.openxmlformats.org/drawingml/2006/main">
              <a:ext uri="{FF2B5EF4-FFF2-40B4-BE49-F238E27FC236}">
                <a16:creationId xmlns:a16="http://schemas.microsoft.com/office/drawing/2014/main" id="{969C890C-BB80-4835-BA18-88797676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9816E40D-330C-449C-AFA3-E40A041B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does the 1.5 cm seam allowance measure?</a:t>
            </a:r>
          </a:p>
        </p:txBody>
      </p:sp>
      <p:sp>
        <p:nvSpPr>
          <p:cNvPr id="11" name="check-number-3">
            <a:extLst xmlns:a="http://schemas.openxmlformats.org/drawingml/2006/main">
              <a:ext uri="{FF2B5EF4-FFF2-40B4-BE49-F238E27FC236}">
                <a16:creationId xmlns:a16="http://schemas.microsoft.com/office/drawing/2014/main" id="{482707DA-D7FF-4025-879F-063F390A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check-line-3">
            <a:extLst xmlns:a="http://schemas.openxmlformats.org/drawingml/2006/main">
              <a:ext uri="{FF2B5EF4-FFF2-40B4-BE49-F238E27FC236}">
                <a16:creationId xmlns:a16="http://schemas.microsoft.com/office/drawing/2014/main" id="{9FA7E04E-6076-425B-A78D-674EB308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3" name="check-3">
            <a:extLst xmlns:a="http://schemas.openxmlformats.org/drawingml/2006/main">
              <a:ext uri="{FF2B5EF4-FFF2-40B4-BE49-F238E27FC236}">
                <a16:creationId xmlns:a16="http://schemas.microsoft.com/office/drawing/2014/main" id="{036F1A7F-7F5B-4260-A2B2-0A525E34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8622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makes a stitch sample relevant to the planned product?</a:t>
            </a:r>
          </a:p>
        </p:txBody>
      </p:sp>
      <p:sp>
        <p:nvSpPr>
          <p:cNvPr id="14" name="check-number-4">
            <a:extLst xmlns:a="http://schemas.openxmlformats.org/drawingml/2006/main">
              <a:ext uri="{FF2B5EF4-FFF2-40B4-BE49-F238E27FC236}">
                <a16:creationId xmlns:a16="http://schemas.microsoft.com/office/drawing/2014/main" id="{6D868B52-56F1-409E-8DF6-5A766858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E4A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E4A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check-line-4">
            <a:extLst xmlns:a="http://schemas.openxmlformats.org/drawingml/2006/main">
              <a:ext uri="{FF2B5EF4-FFF2-40B4-BE49-F238E27FC236}">
                <a16:creationId xmlns:a16="http://schemas.microsoft.com/office/drawing/2014/main" id="{74A412D3-7DA3-464E-9601-50B9BBB7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E807A"/>
            </a:solidFill>
            <a:prstDash val="solid"/>
          </a:ln>
        </p:spPr>
      </p:sp>
      <p:sp>
        <p:nvSpPr>
          <p:cNvPr id="16" name="check-4">
            <a:extLst xmlns:a="http://schemas.openxmlformats.org/drawingml/2006/main">
              <a:ext uri="{FF2B5EF4-FFF2-40B4-BE49-F238E27FC236}">
                <a16:creationId xmlns:a16="http://schemas.microsoft.com/office/drawing/2014/main" id="{82229DAE-7F73-467B-8588-8D93A0EC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idea from this module most changes your next design or production decision?</a:t>
            </a:r>
          </a:p>
        </p:txBody>
      </p:sp>
      <p:sp>
        <p:nvSpPr>
          <p:cNvPr id="17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C3B4B4E2-AC78-4FCF-8926-5375018B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SEW AWESOME  •  MODULE 04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BB96C89-FEAA-49E1-8ED6-9ED5F538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D6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6D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3906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ule">
            <a:extLst xmlns:a="http://schemas.openxmlformats.org/drawingml/2006/main">
              <a:ext uri="{FF2B5EF4-FFF2-40B4-BE49-F238E27FC236}">
                <a16:creationId xmlns:a16="http://schemas.microsoft.com/office/drawing/2014/main" id="{E8DEE1F3-5479-4669-8D5E-C4D6BAA7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D3D5EF4-367E-46FB-8A4A-F26BA883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MODEL A LONGER RESPONSE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70C462-F455-4C7A-806B-4AED3C0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302E"/>
                </a:solidFill>
                <a:latin typeface="Aptos Display"/>
                <a:ea typeface="Aptos Display"/>
                <a:cs typeface="Aptos Display"/>
              </a:rPr>
              <a:t>Read → Select → Explain → Check</a:t>
            </a:r>
          </a:p>
        </p:txBody>
      </p:sp>
      <p:sp>
        <p:nvSpPr>
          <p:cNvPr id="4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10E6BDFE-EF02-45B3-AFAE-4978A2E4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5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5305A17C-6D19-4D74-95E8-FEADE04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THE QUESTION</a:t>
            </a:r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BDDE0146-8F21-4CBC-844E-60F68D7B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2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Evaluate three seam samples: one with a drifting allowance, one with lower-side loops and one that is even and secure. Develop a controlled improvement plan and justify which evidence would permit production to begin.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4DB316B5-638E-431A-8F93-895978E4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6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551B74D-EC8B-4DA2-A8CD-1D23A3F2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B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66"/>
                </a:solidFill>
                <a:latin typeface="Aptos"/>
                <a:ea typeface="Aptos"/>
                <a:cs typeface="Aptos"/>
              </a:rPr>
              <a:t>1  READ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8B9C62CA-9A3F-4689-A712-9E16A0AD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Describe each sample precisely on both sides.</a:t>
            </a:r>
          </a:p>
        </p:txBody>
      </p:sp>
      <p:sp>
        <p:nvSpPr>
          <p:cNvPr id="10" name="arrow-2">
            <a:extLst xmlns:a="http://schemas.openxmlformats.org/drawingml/2006/main">
              <a:ext uri="{FF2B5EF4-FFF2-40B4-BE49-F238E27FC236}">
                <a16:creationId xmlns:a16="http://schemas.microsoft.com/office/drawing/2014/main" id="{79540762-9AEC-4CCF-82FB-97ACAB5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4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C7FD8745-E8DC-4CEF-8D12-95C7E336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2  SELECT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F7B45FBF-4B6A-4BF9-8FF4-EBBA83AA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Relate each observation to allowance, thread formation, reinforcement, layer capture or fabric flatness.</a:t>
            </a:r>
          </a:p>
        </p:txBody>
      </p:sp>
      <p:sp>
        <p:nvSpPr>
          <p:cNvPr id="13" name="arrow-3">
            <a:extLst xmlns:a="http://schemas.openxmlformats.org/drawingml/2006/main">
              <a:ext uri="{FF2B5EF4-FFF2-40B4-BE49-F238E27FC236}">
                <a16:creationId xmlns:a16="http://schemas.microsoft.com/office/drawing/2014/main" id="{E39A8FAF-D694-469E-AB7F-544EA182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F70F3A1E-7799-4425-99B5-83062562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9A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49A34"/>
                </a:solidFill>
                <a:latin typeface="Aptos"/>
                <a:ea typeface="Aptos"/>
                <a:cs typeface="Aptos"/>
              </a:rPr>
              <a:t>3  EXPLAIN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5E82E8D1-2FB3-4EF3-A0AC-AFE2624B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Propose one teacher-approved variable or setup check at a time for rejected samples.</a:t>
            </a:r>
          </a:p>
        </p:txBody>
      </p:sp>
      <p:sp>
        <p:nvSpPr>
          <p:cNvPr id="16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180BDCFB-56CB-4B74-B29F-4BEF5CD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4  CHECK</a:t>
            </a:r>
          </a:p>
        </p:txBody>
      </p:sp>
      <p:sp>
        <p:nvSpPr>
          <p:cNvPr id="17" name="step-text-4">
            <a:extLst xmlns:a="http://schemas.openxmlformats.org/drawingml/2006/main">
              <a:ext uri="{FF2B5EF4-FFF2-40B4-BE49-F238E27FC236}">
                <a16:creationId xmlns:a16="http://schemas.microsoft.com/office/drawing/2014/main" id="{75DE2F3C-13BB-4993-8060-0B051EE6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2343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302E"/>
                </a:solidFill>
                <a:latin typeface="Aptos"/>
                <a:ea typeface="Aptos"/>
                <a:cs typeface="Aptos"/>
              </a:rPr>
              <a:t>Define the acceptance evidence and explain how records would be preserved.</a:t>
            </a:r>
          </a:p>
        </p:txBody>
      </p:sp>
      <p:sp>
        <p:nvSpPr>
          <p:cNvPr id="18" name="starter">
            <a:extLst xmlns:a="http://schemas.openxmlformats.org/drawingml/2006/main">
              <a:ext uri="{FF2B5EF4-FFF2-40B4-BE49-F238E27FC236}">
                <a16:creationId xmlns:a16="http://schemas.microsoft.com/office/drawing/2014/main" id="{34197B8E-8356-48CE-A3A5-4BD03352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4D5"/>
          </a:solidFill>
          <a:ln xmlns:a="http://schemas.openxmlformats.org/drawingml/2006/main" w="9525">
            <a:solidFill>
              <a:srgbClr val="E7C87E"/>
            </a:solidFill>
            <a:prstDash val="solid"/>
          </a:ln>
        </p:spPr>
      </p:sp>
      <p:sp>
        <p:nvSpPr>
          <p:cNvPr id="1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5B851602-1CCF-4533-A9FC-AE3B24EE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F4C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4C5A"/>
                </a:solidFill>
                <a:latin typeface="Aptos"/>
                <a:ea typeface="Aptos"/>
                <a:cs typeface="Aptos"/>
              </a:rPr>
              <a:t>SENTENCE STARTER</a:t>
            </a:r>
          </a:p>
        </p:txBody>
      </p:sp>
      <p:sp>
        <p:nvSpPr>
          <p:cNvPr id="20" name="starter-text">
            <a:extLst xmlns:a="http://schemas.openxmlformats.org/drawingml/2006/main">
              <a:ext uri="{FF2B5EF4-FFF2-40B4-BE49-F238E27FC236}">
                <a16:creationId xmlns:a16="http://schemas.microsoft.com/office/drawing/2014/main" id="{4F462F28-03A2-40BE-8638-7AA4B215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530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The strongest evidence is … because it shows … This changes my decision by …</a:t>
            </a:r>
          </a:p>
        </p:txBody>
      </p:sp>
      <p:sp>
        <p:nvSpPr>
          <p:cNvPr id="21" name="footer-module">
            <a:extLst xmlns:a="http://schemas.openxmlformats.org/drawingml/2006/main">
              <a:ext uri="{FF2B5EF4-FFF2-40B4-BE49-F238E27FC236}">
                <a16:creationId xmlns:a16="http://schemas.microsoft.com/office/drawing/2014/main" id="{74EEC325-9F1A-48E1-BCF8-905FFB1A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SEW AWESOME  •  MODULE 04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C752B6-BF13-4CAC-B1D5-E0E47CC1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6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6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9788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F4C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7EAF4939-A240-4AC7-B898-E398D8D6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3CF3D4D-C82B-499D-A32E-BD77923D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CLOSE THE LOOP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19516-3BE0-4D8C-A71E-6E9806A3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Before you pack up…</a:t>
            </a:r>
          </a:p>
        </p:txBody>
      </p:sp>
      <p:sp>
        <p:nvSpPr>
          <p:cNvPr id="4" name="exit-1">
            <a:extLst xmlns:a="http://schemas.openxmlformats.org/drawingml/2006/main">
              <a:ext uri="{FF2B5EF4-FFF2-40B4-BE49-F238E27FC236}">
                <a16:creationId xmlns:a16="http://schemas.microsoft.com/office/drawing/2014/main" id="{3D9530FC-8A1F-4DD1-A596-2D614E68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5" name="exit-text-1">
            <a:extLst xmlns:a="http://schemas.openxmlformats.org/drawingml/2006/main">
              <a:ext uri="{FF2B5EF4-FFF2-40B4-BE49-F238E27FC236}">
                <a16:creationId xmlns:a16="http://schemas.microsoft.com/office/drawing/2014/main" id="{6B9A39DC-FC23-4319-9A1E-09867BB4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1. One idea I can now explain is…</a:t>
            </a:r>
          </a:p>
        </p:txBody>
      </p:sp>
      <p:sp>
        <p:nvSpPr>
          <p:cNvPr id="6" name="exit-2">
            <a:extLst xmlns:a="http://schemas.openxmlformats.org/drawingml/2006/main">
              <a:ext uri="{FF2B5EF4-FFF2-40B4-BE49-F238E27FC236}">
                <a16:creationId xmlns:a16="http://schemas.microsoft.com/office/drawing/2014/main" id="{459A4AF9-2EB3-4DF0-9B30-405CA29A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7" name="exit-text-2">
            <a:extLst xmlns:a="http://schemas.openxmlformats.org/drawingml/2006/main">
              <a:ext uri="{FF2B5EF4-FFF2-40B4-BE49-F238E27FC236}">
                <a16:creationId xmlns:a16="http://schemas.microsoft.com/office/drawing/2014/main" id="{FF858F51-1122-4217-BAE0-C2A2CCC4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2. One decision or practical action this changes is…</a:t>
            </a:r>
          </a:p>
        </p:txBody>
      </p:sp>
      <p:sp>
        <p:nvSpPr>
          <p:cNvPr id="8" name="exit-3">
            <a:extLst xmlns:a="http://schemas.openxmlformats.org/drawingml/2006/main">
              <a:ext uri="{FF2B5EF4-FFF2-40B4-BE49-F238E27FC236}">
                <a16:creationId xmlns:a16="http://schemas.microsoft.com/office/drawing/2014/main" id="{339C2CD5-810A-48C0-883E-00BF8C8F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809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C2C8"/>
            </a:solidFill>
            <a:prstDash val="solid"/>
          </a:ln>
        </p:spPr>
      </p:sp>
      <p:sp>
        <p:nvSpPr>
          <p:cNvPr id="9" name="exit-text-3">
            <a:extLst xmlns:a="http://schemas.openxmlformats.org/drawingml/2006/main">
              <a:ext uri="{FF2B5EF4-FFF2-40B4-BE49-F238E27FC236}">
                <a16:creationId xmlns:a16="http://schemas.microsoft.com/office/drawing/2014/main" id="{FFBFAE6E-7E9E-47FD-AB42-6511247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30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302E"/>
                </a:solidFill>
                <a:latin typeface="Aptos"/>
                <a:ea typeface="Aptos"/>
                <a:cs typeface="Aptos"/>
              </a:rPr>
              <a:t>3. One question I still need answered is…</a:t>
            </a:r>
          </a:p>
        </p:txBody>
      </p:sp>
      <p:sp>
        <p:nvSpPr>
          <p:cNvPr id="10" name="evidence-circle">
            <a:extLst xmlns:a="http://schemas.openxmlformats.org/drawingml/2006/main">
              <a:ext uri="{FF2B5EF4-FFF2-40B4-BE49-F238E27FC236}">
                <a16:creationId xmlns:a16="http://schemas.microsoft.com/office/drawing/2014/main" id="{45D57800-8F72-46D0-ABF2-598BED35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9A34"/>
          </a:solidFill>
          <a:ln xmlns:a="http://schemas.openxmlformats.org/drawingml/2006/main" w="9525">
            <a:solidFill>
              <a:srgbClr val="D49A34"/>
            </a:solidFill>
            <a:prstDash val="solid"/>
          </a:ln>
        </p:spPr>
      </p:sp>
      <p:sp>
        <p:nvSpPr>
          <p:cNvPr id="11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7C101B24-35B2-4DE2-92D4-1DC8AD22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62200"/>
            <a:ext cx="123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SAVE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MY FOLIO</a:t>
            </a:r>
          </a:p>
          <a:p xmlns:a="http://schemas.openxmlformats.org/drawingml/2006/main">
            <a:pPr algn="ctr">
              <a:defRPr sz="1500" b="1">
                <a:solidFill>
                  <a:srgbClr val="0C4E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E4A"/>
                </a:solidFill>
                <a:latin typeface="Aptos"/>
                <a:ea typeface="Aptos"/>
                <a:cs typeface="Aptos"/>
              </a:rPr>
              <a:t>MODULE 4</a:t>
            </a:r>
          </a:p>
        </p:txBody>
      </p:sp>
      <p:sp>
        <p:nvSpPr>
          <p:cNvPr id="12" name="teacher-confirm">
            <a:extLst xmlns:a="http://schemas.openxmlformats.org/drawingml/2006/main">
              <a:ext uri="{FF2B5EF4-FFF2-40B4-BE49-F238E27FC236}">
                <a16:creationId xmlns:a16="http://schemas.microsoft.com/office/drawing/2014/main" id="{DE6BBDE4-9297-491C-952B-4B460884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8F3340"/>
          </a:solidFill>
          <a:ln xmlns:a="http://schemas.openxmlformats.org/drawingml/2006/main" w="9525">
            <a:solidFill>
              <a:srgbClr val="D9828E"/>
            </a:solidFill>
            <a:prstDash val="solid"/>
          </a:ln>
        </p:spPr>
      </p:sp>
      <p:sp>
        <p:nvSpPr>
          <p:cNvPr id="13" name="teacher-confirm-text">
            <a:extLst xmlns:a="http://schemas.openxmlformats.org/drawingml/2006/main">
              <a:ext uri="{FF2B5EF4-FFF2-40B4-BE49-F238E27FC236}">
                <a16:creationId xmlns:a16="http://schemas.microsoft.com/office/drawing/2014/main" id="{62D8677F-E4F4-4164-BA5A-5EB8B34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TEACHER TO CONFIRM  •  Machine-specific stitch settings and controls; Approved stitch-sample fabric and layer combinations</a:t>
            </a:r>
          </a:p>
        </p:txBody>
      </p:sp>
      <p:sp>
        <p:nvSpPr>
          <p:cNvPr id="14" name="next-step-label">
            <a:extLst xmlns:a="http://schemas.openxmlformats.org/drawingml/2006/main">
              <a:ext uri="{FF2B5EF4-FFF2-40B4-BE49-F238E27FC236}">
                <a16:creationId xmlns:a16="http://schemas.microsoft.com/office/drawing/2014/main" id="{982384D1-A69E-4051-A70D-4499B9B3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0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0B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5" name="next-step">
            <a:extLst xmlns:a="http://schemas.openxmlformats.org/drawingml/2006/main">
              <a:ext uri="{FF2B5EF4-FFF2-40B4-BE49-F238E27FC236}">
                <a16:creationId xmlns:a16="http://schemas.microsoft.com/office/drawing/2014/main" id="{6832E837-DF88-4622-A0C1-C5479696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Students will compare fabric-decoration techniques and produce purposeful decoration samples.</a:t>
            </a:r>
          </a:p>
        </p:txBody>
      </p:sp>
      <p:sp>
        <p:nvSpPr>
          <p:cNvPr id="16" name="status-boundary">
            <a:extLst xmlns:a="http://schemas.openxmlformats.org/drawingml/2006/main">
              <a:ext uri="{FF2B5EF4-FFF2-40B4-BE49-F238E27FC236}">
                <a16:creationId xmlns:a16="http://schemas.microsoft.com/office/drawing/2014/main" id="{CAC1E922-2817-4717-9EC1-C18D9575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FBE5E8"/>
                </a:solidFill>
                <a:latin typeface="Aptos"/>
                <a:ea typeface="Aptos"/>
                <a:cs typeface="Aptos"/>
              </a:rPr>
              <a:t>Formative classroom evidence only — follow your teacher’s current submission process.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CD1209AD-B0F0-4FA4-A3F0-30258DA2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912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BE5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E5E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66187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2026-08-27T08:40:38.4130000Z</dcterms:created>
  <dcterms:modified xsi:type="dcterms:W3CDTF">2026-08-27T08:40:38.4130000Z</dcterms:modified>
</coreProperties>
</file>